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e8eccb0f414044" /><Relationship Type="http://schemas.openxmlformats.org/officeDocument/2006/relationships/extended-properties" Target="/docProps/app.xml" Id="Rd33452ca44994a0e" /><Relationship Type="http://schemas.openxmlformats.org/officeDocument/2006/relationships/officeDocument" Target="/ppt/presentation.xml" Id="R478432f57e924600" /></Relationships>
</file>

<file path=ppt/presentation.xml><?xml version="1.0" encoding="utf-8"?>
<p:presentation xmlns:p="http://schemas.openxmlformats.org/presentationml/2006/main">
  <p:sldMasterIdLst>
    <p:sldMasterId xmlns:r="http://schemas.openxmlformats.org/officeDocument/2006/relationships" id="2147483648" r:id="R848c3a8c42774dc8"/>
  </p:sldMasterIdLst>
  <p:notesMasterIdLst>
    <p:notesMasterId xmlns:r="http://schemas.openxmlformats.org/officeDocument/2006/relationships" r:id="R2f2f3d0e2ba34df3"/>
  </p:notesMasterIdLst>
  <p:sldIdLst>
    <p:sldId xmlns:r="http://schemas.openxmlformats.org/officeDocument/2006/relationships" id="256" r:id="R88f3fdfdd0b644dd"/>
    <p:sldId xmlns:r="http://schemas.openxmlformats.org/officeDocument/2006/relationships" id="257" r:id="R9105bfedaefc4c77"/>
    <p:sldId xmlns:r="http://schemas.openxmlformats.org/officeDocument/2006/relationships" id="258" r:id="R94fb813b1a024f62"/>
    <p:sldId xmlns:r="http://schemas.openxmlformats.org/officeDocument/2006/relationships" id="259" r:id="R64cb23167fea4016"/>
    <p:sldId xmlns:r="http://schemas.openxmlformats.org/officeDocument/2006/relationships" id="260" r:id="Raef43c3ad07e435e"/>
    <p:sldId xmlns:r="http://schemas.openxmlformats.org/officeDocument/2006/relationships" id="261" r:id="R53917491401843fa"/>
    <p:sldId xmlns:r="http://schemas.openxmlformats.org/officeDocument/2006/relationships" id="262" r:id="R6af9ab5b873d4553"/>
    <p:sldId xmlns:r="http://schemas.openxmlformats.org/officeDocument/2006/relationships" id="263" r:id="R793cec4680e447e7"/>
    <p:sldId xmlns:r="http://schemas.openxmlformats.org/officeDocument/2006/relationships" id="264" r:id="Rae9ce560ba0748a5"/>
    <p:sldId xmlns:r="http://schemas.openxmlformats.org/officeDocument/2006/relationships" id="265" r:id="Rd6f4f3d3ac7b47c7"/>
    <p:sldId xmlns:r="http://schemas.openxmlformats.org/officeDocument/2006/relationships" id="266" r:id="R953f5bd66ea34365"/>
    <p:sldId xmlns:r="http://schemas.openxmlformats.org/officeDocument/2006/relationships" id="267" r:id="R50b56e22cb884c38"/>
    <p:sldId xmlns:r="http://schemas.openxmlformats.org/officeDocument/2006/relationships" id="268" r:id="R0944513a26bf4f47"/>
    <p:sldId xmlns:r="http://schemas.openxmlformats.org/officeDocument/2006/relationships" id="269" r:id="Rb57d30670268452d"/>
    <p:sldId xmlns:r="http://schemas.openxmlformats.org/officeDocument/2006/relationships" id="270" r:id="R06ee7a91b8be46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1cf9acf5254da8" /><Relationship Type="http://schemas.openxmlformats.org/officeDocument/2006/relationships/slideMaster" Target="/ppt/slideMasters/slideMaster1.xml" Id="R848c3a8c42774dc8" /><Relationship Type="http://schemas.openxmlformats.org/officeDocument/2006/relationships/notesMaster" Target="/ppt/notesMasters/notesMaster1.xml" Id="R2f2f3d0e2ba34df3" /><Relationship Type="http://schemas.openxmlformats.org/officeDocument/2006/relationships/presProps" Target="/ppt/presProps.xml" Id="R3aee3294a6eb4adf" /><Relationship Type="http://schemas.openxmlformats.org/officeDocument/2006/relationships/tableStyles" Target="/ppt/tableStyles.xml" Id="R5efd916ef1cb4f1d" /><Relationship Type="http://schemas.openxmlformats.org/officeDocument/2006/relationships/slide" Target="/ppt/slides/slide1.xml" Id="R88f3fdfdd0b644dd" /><Relationship Type="http://schemas.openxmlformats.org/officeDocument/2006/relationships/slide" Target="/ppt/slides/slide2.xml" Id="R9105bfedaefc4c77" /><Relationship Type="http://schemas.openxmlformats.org/officeDocument/2006/relationships/slide" Target="/ppt/slides/slide3.xml" Id="R94fb813b1a024f62" /><Relationship Type="http://schemas.openxmlformats.org/officeDocument/2006/relationships/slide" Target="/ppt/slides/slide4.xml" Id="R64cb23167fea4016" /><Relationship Type="http://schemas.openxmlformats.org/officeDocument/2006/relationships/slide" Target="/ppt/slides/slide5.xml" Id="Raef43c3ad07e435e" /><Relationship Type="http://schemas.openxmlformats.org/officeDocument/2006/relationships/slide" Target="/ppt/slides/slide6.xml" Id="R53917491401843fa" /><Relationship Type="http://schemas.openxmlformats.org/officeDocument/2006/relationships/slide" Target="/ppt/slides/slide7.xml" Id="R6af9ab5b873d4553" /><Relationship Type="http://schemas.openxmlformats.org/officeDocument/2006/relationships/slide" Target="/ppt/slides/slide8.xml" Id="R793cec4680e447e7" /><Relationship Type="http://schemas.openxmlformats.org/officeDocument/2006/relationships/slide" Target="/ppt/slides/slide9.xml" Id="Rae9ce560ba0748a5" /><Relationship Type="http://schemas.openxmlformats.org/officeDocument/2006/relationships/slide" Target="/ppt/slides/slide10.xml" Id="Rd6f4f3d3ac7b47c7" /><Relationship Type="http://schemas.openxmlformats.org/officeDocument/2006/relationships/slide" Target="/ppt/slides/slide11.xml" Id="R953f5bd66ea34365" /><Relationship Type="http://schemas.openxmlformats.org/officeDocument/2006/relationships/slide" Target="/ppt/slides/slide12.xml" Id="R50b56e22cb884c38" /><Relationship Type="http://schemas.openxmlformats.org/officeDocument/2006/relationships/slide" Target="/ppt/slides/slide13.xml" Id="R0944513a26bf4f47" /><Relationship Type="http://schemas.openxmlformats.org/officeDocument/2006/relationships/slide" Target="/ppt/slides/slide14.xml" Id="Rb57d30670268452d" /><Relationship Type="http://schemas.openxmlformats.org/officeDocument/2006/relationships/slide" Target="/ppt/slides/slide15.xml" Id="R06ee7a91b8be46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2f56a4f8b845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28476f79994758" /><Relationship Type="http://schemas.openxmlformats.org/officeDocument/2006/relationships/notesMaster" Target="/ppt/notesMasters/notesMaster1.xml" Id="R90f1cab3e03049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64f9dc93424d6d" /><Relationship Type="http://schemas.openxmlformats.org/officeDocument/2006/relationships/notesMaster" Target="/ppt/notesMasters/notesMaster1.xml" Id="R60cb014cf1eb4d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79cf1272b940ac" /><Relationship Type="http://schemas.openxmlformats.org/officeDocument/2006/relationships/notesMaster" Target="/ppt/notesMasters/notesMaster1.xml" Id="R4b29007c1cd746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4fcd41af2d48d6" /><Relationship Type="http://schemas.openxmlformats.org/officeDocument/2006/relationships/notesMaster" Target="/ppt/notesMasters/notesMaster1.xml" Id="R83cb3c8bf97d40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a8f8e790514fbe" /><Relationship Type="http://schemas.openxmlformats.org/officeDocument/2006/relationships/notesMaster" Target="/ppt/notesMasters/notesMaster1.xml" Id="R41c942c1bc4649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21a61c64e74500" /><Relationship Type="http://schemas.openxmlformats.org/officeDocument/2006/relationships/notesMaster" Target="/ppt/notesMasters/notesMaster1.xml" Id="R923a829eb55541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4899ac183e4f44" /><Relationship Type="http://schemas.openxmlformats.org/officeDocument/2006/relationships/notesMaster" Target="/ppt/notesMasters/notesMaster1.xml" Id="R0bc41701afc248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2a0be7aef24b6e" /><Relationship Type="http://schemas.openxmlformats.org/officeDocument/2006/relationships/notesMaster" Target="/ppt/notesMasters/notesMaster1.xml" Id="Rc71f97b3ed8a45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713a1606ad48f0" /><Relationship Type="http://schemas.openxmlformats.org/officeDocument/2006/relationships/notesMaster" Target="/ppt/notesMasters/notesMaster1.xml" Id="R17f91e09628c41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b87f153ef74fdb" /><Relationship Type="http://schemas.openxmlformats.org/officeDocument/2006/relationships/notesMaster" Target="/ppt/notesMasters/notesMaster1.xml" Id="Rd3457f7b00664d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c29bd30e104331" /><Relationship Type="http://schemas.openxmlformats.org/officeDocument/2006/relationships/notesMaster" Target="/ppt/notesMasters/notesMaster1.xml" Id="Rfbe18b87262b4a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69907cd23246a4" /><Relationship Type="http://schemas.openxmlformats.org/officeDocument/2006/relationships/notesMaster" Target="/ppt/notesMasters/notesMaster1.xml" Id="R31e897215fb547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f914dd58f54c5e" /><Relationship Type="http://schemas.openxmlformats.org/officeDocument/2006/relationships/notesMaster" Target="/ppt/notesMasters/notesMaster1.xml" Id="Rdf2e0bd339e745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bce8237ad84e9f" /><Relationship Type="http://schemas.openxmlformats.org/officeDocument/2006/relationships/notesMaster" Target="/ppt/notesMasters/notesMaster1.xml" Id="R0dcb2930e53c4e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4cdc5cfb9e462f" /><Relationship Type="http://schemas.openxmlformats.org/officeDocument/2006/relationships/notesMaster" Target="/ppt/notesMasters/notesMaster1.xml" Id="R4bf939de34a040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 to 00:20 (20 seconds)</a:t>
            </a:r>
          </a:p>
          <a:p xmlns:a="http://schemas.openxmlformats.org/drawingml/2006/main">
            <a:r>
              <a:t/>
            </a:r>
          </a:p>
          <a:p xmlns:a="http://schemas.openxmlformats.org/drawingml/2006/main">
            <a:r>
              <a:t>We are SKLab, and this is Fluxora, our cash-flow decision workspace for small businesses. It connects deterministic financial calculations with traceable evidence and an agent that prepares work for owner review. We will show one synthetic business case for Topic E, SME Finance Copilot.</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https://github.com/ShahadatTest/fluxora/blob/22d3e6279d06d2e7691f122ed7a4232259739098/README.md</a:t>
            </a:r>
          </a:p>
          <a:p xmlns:a="http://schemas.openxmlformats.org/drawingml/2006/main">
            <a:r>
              <a:t>Existing project-generated mark and planning illustration. https://github.com/ShahadatTest/fluxora/blob/22d3e6279d06d2e7691f122ed7a4232259739098/docs/BRAND-ASSETS-0.20.1.md</a:t>
            </a:r>
          </a:p>
          <a:p xmlns:a="http://schemas.openxmlformats.org/drawingml/2006/main">
            <a:r>
              <a:t>Official guidance, freshly fetched 20 October 2026, SHA-256 9005e42629435a1e129a8367c8d3d5e3714b6ea0bbab30713cd6be2f2bdd0c5a: https://drive.scmc.cmu.ac.th/s/2jKErkTJpFmcxYF/download. Presentation deck appears in the submission checklist. Final presentation maximum 10 minutes. Demo video maximum 5 minutes. One checklist item calls video optional while the execution-evidence item mentions demo video for non-on-chain topics.</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 to 01:00 (40 seconds)</a:t>
            </a:r>
          </a:p>
          <a:p xmlns:a="http://schemas.openxmlformats.org/drawingml/2006/main">
            <a:r>
              <a:t/>
            </a:r>
          </a:p>
          <a:p xmlns:a="http://schemas.openxmlformats.org/drawingml/2006/main">
            <a:r>
              <a:t>A business can look profitable and still run short of cash before payroll. Our Atlas example starts with ten thousand US dollars and one thousand euros. Those balances stay separate. The owner needs to know whether the next collection arrives before obligations fall due, and which assumptions support that answer. An unpaid invoice contributes to a conditional projection, but it does not establish an observed receipt. This case uses invented records from the bundled fixture, rather than the finances of a real company.</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https://github.com/ShahadatTest/fluxora/blob/22d3e6279d06d2e7691f122ed7a4232259739098/cashflow_copilot/data/fixture_v1.json</a:t>
            </a:r>
          </a:p>
          <a:p xmlns:a="http://schemas.openxmlformats.org/drawingml/2006/main">
            <a:r>
              <a:t>https://github.com/ShahadatTest/fluxora/blob/22d3e6279d06d2e7691f122ed7a4232259739098/cashflow_copilot/forecast.py</a:t>
            </a:r>
          </a:p>
          <a:p xmlns:a="http://schemas.openxmlformats.org/drawingml/2006/main">
            <a:r>
              <a:t>Fresh deterministic output in work/slide261/deck-data.json. No ledger mutation.</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 to 01:35 (35 seconds)</a:t>
            </a:r>
          </a:p>
          <a:p xmlns:a="http://schemas.openxmlformats.org/drawingml/2006/main">
            <a:r>
              <a:t/>
            </a:r>
          </a:p>
          <a:p xmlns:a="http://schemas.openxmlformats.org/drawingml/2006/main">
            <a:r>
              <a:t>The workspace groups tasks around the owner’s day. Evidence and Ledger holds source records. Forecast and Scenarios examine cash timing. The approval queue and action history keep preparation separate from a decision. These are dedicated pages, with documentation and a guided start for someone seeing the product for the first time. The public judge demo provides an expiring synthetic workspace for each visitor. A private local installation keeps the selected SQLite database across restarts. The financial reports work without a model key.</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https://github.com/ShahadatTest/fluxora/blob/22d3e6279d06d2e7691f122ed7a4232259739098/docs/media/README.md</a:t>
            </a:r>
          </a:p>
          <a:p xmlns:a="http://schemas.openxmlformats.org/drawingml/2006/main">
            <a:r>
              <a:t>https://github.com/ShahadatTest/fluxora/blob/22d3e6279d06d2e7691f122ed7a4232259739098/docs/LOCAL-SETUP.md</a:t>
            </a:r>
          </a:p>
          <a:p xmlns:a="http://schemas.openxmlformats.org/drawingml/2006/main">
            <a:r>
              <a:t>https://github.com/ShahadatTest/fluxora/blob/22d3e6279d06d2e7691f122ed7a4232259739098/cashflow_copilot/workspace_ui.py</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 to 02:20 (45 seconds)</a:t>
            </a:r>
          </a:p>
          <a:p xmlns:a="http://schemas.openxmlformats.org/drawingml/2006/main">
            <a:r>
              <a:t/>
            </a:r>
          </a:p>
          <a:p xmlns:a="http://schemas.openxmlformats.org/drawingml/2006/main">
            <a:r>
              <a:t>This is an actual forecast report from the local application. The baseline reaches a minimum of six thousand US dollars on October twenty-eighth, above the recorded three-thousand-dollar floor. The report exposes assumptions and provides links to source records. Unknown intraday timing uses outflows before inflows on the same day, so a closing balance cannot hide that ordering risk. The euro forecast stays separate. These results come from integer minor-unit calculations in Python. They remain conditional on the dates and amounts supplied to the ledger.</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https://github.com/ShahadatTest/fluxora/blob/22d3e6279d06d2e7691f122ed7a4232259739098/docs/media/forecast.jpg</a:t>
            </a:r>
          </a:p>
          <a:p xmlns:a="http://schemas.openxmlformats.org/drawingml/2006/main">
            <a:r>
              <a:t>https://github.com/ShahadatTest/fluxora/blob/22d3e6279d06d2e7691f122ed7a4232259739098/cashflow_copilot/forecast.py</a:t>
            </a:r>
          </a:p>
          <a:p xmlns:a="http://schemas.openxmlformats.org/drawingml/2006/main">
            <a:r>
              <a:t>https://github.com/ShahadatTest/fluxora/blob/22d3e6279d06d2e7691f122ed7a4232259739098/cashflow_copilot/data/fixture_v1.json</a:t>
            </a:r>
          </a:p>
          <a:p xmlns:a="http://schemas.openxmlformats.org/drawingml/2006/main">
            <a:r>
              <a:t>Fresh baseline data: work/slide261/deck-data.json. Screenshot crops preserve the report values. Assumptions are restated visibly.</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 to 03:25 (65 seconds)</a:t>
            </a:r>
          </a:p>
          <a:p xmlns:a="http://schemas.openxmlformats.org/drawingml/2006/main">
            <a:r>
              <a:t/>
            </a:r>
          </a:p>
          <a:p xmlns:a="http://schemas.openxmlformats.org/drawingml/2006/main">
            <a:r>
              <a:t>The scenario delays invoice inv-client-001 by seven days while preserving the other recorded assumptions. The green line shows the baseline and the red line shows the delayed collection. The dashed line is the owner’s three-thousand-dollar floor. The delayed minimum becomes negative five hundred dollars, leaving a worst shortfall of three thousand five hundred dollars against that floor. This chart is editable and uses values freshly computed by the same deterministic engine. A scenario lets the owner compare timing before changing any record. It does not record a receipt or establish counterparty consent. The application protects payroll, checks feasibility, and can report that no allowed plan meets the constraints. The euro balance cannot fill this dollar gap through a display exchange rate.</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https://github.com/ShahadatTest/fluxora/blob/22d3e6279d06d2e7691f122ed7a4232259739098/cashflow_copilot/planning.py</a:t>
            </a:r>
          </a:p>
          <a:p xmlns:a="http://schemas.openxmlformats.org/drawingml/2006/main">
            <a:r>
              <a:t>https://github.com/ShahadatTest/fluxora/blob/22d3e6279d06d2e7691f122ed7a4232259739098/cashflow_copilot/forecast.py</a:t>
            </a:r>
          </a:p>
          <a:p xmlns:a="http://schemas.openxmlformats.org/drawingml/2006/main">
            <a:r>
              <a:t>https://github.com/ShahadatTest/fluxora/blob/22d3e6279d06d2e7691f122ed7a4232259739098/cashflow_copilot/data/fixture_v1.json</a:t>
            </a:r>
          </a:p>
          <a:p xmlns:a="http://schemas.openxmlformats.org/drawingml/2006/main">
            <a:r>
              <a:t>Fresh data: work/slide261/deck-data.json. Values equal integer USD minor units / 100. Native editable chart with a materialized data workbook. No formulas or observed business outcome are invented.</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03:25 to 04:20 (55 seconds)</a:t>
            </a:r>
          </a:p>
          <a:p xmlns:a="http://schemas.openxmlformats.org/drawingml/2006/main">
            <a:r>
              <a:t/>
            </a:r>
          </a:p>
          <a:p xmlns:a="http://schemas.openxmlformats.org/drawingml/2006/main">
            <a:r>
              <a:t>The optional model interprets an explicit instruction. Here the user supplies an invoice, amount, currency and date. The current interface uses one Send action. Local code validates the selected task and prepares a report, a DRAFT, or pending work. It displays the selected task and exact terms. Preview before sending remains available in Options. Final owner approval stays separate. The archived screenshot shows the earlier disconnected local interface, rather than a new live completion. Separate live qualification passed eight model interpretation cases and five local safety guards. These finite tests do not prove unrestricted language accuracy.</a:t>
            </a:r>
          </a:p>
          <a:p xmlns:a="http://schemas.openxmlformats.org/drawingml/2006/main">
            <a:r>
              <a:t/>
            </a:r>
          </a:p>
          <a:p xmlns:a="http://schemas.openxmlformats.org/drawingml/2006/main">
            <a:r>
              <a:t>Sources</a:t>
            </a:r>
          </a:p>
          <a:p xmlns:a="http://schemas.openxmlformats.org/drawingml/2006/main">
            <a:r>
              <a:t>https://github.com/ShahadatTest/fluxora/blob/main/docs/AUTOPILOT.md</a:t>
            </a:r>
          </a:p>
          <a:p xmlns:a="http://schemas.openxmlformats.org/drawingml/2006/main">
            <a:r>
              <a:t>https://github.com/ShahadatTest/fluxora/blob/main/docs/VALIDATION.md</a:t>
            </a:r>
          </a:p>
          <a:p xmlns:a="http://schemas.openxmlformats.org/drawingml/2006/main">
            <a:r>
              <a:t>Screenshot: archived local synthetic UI 0.25.9. Current Send flow: https://github.com/ShahadatTest/fluxora/blob/main/cashflow_copilot/agent_web.py</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04:20 to 05:10 (50 seconds)</a:t>
            </a:r>
          </a:p>
          <a:p xmlns:a="http://schemas.openxmlformats.org/drawingml/2006/main">
            <a:r>
              <a:t/>
            </a:r>
          </a:p>
          <a:p xmlns:a="http://schemas.openxmlformats.org/drawingml/2006/main">
            <a:r>
              <a:t>Approval is a separate authority boundary. The agent can read supported reports and prepare DRAFT or pending work. It cannot approve itself. The owner decides on the exact reviewed local scope, and a separate executor applies only that scope. Counterparty acceptance still needs its own supported event. Observed receipts or payments need the source and explicit confirmation required by the domain rules. Reconciliation then performs a separate match. This distinction matters because approval cannot prove that a customer agreed or that money arrived. Source documents provide evidence, and never grant an agent authority to act.</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https://github.com/ShahadatTest/fluxora/blob/22d3e6279d06d2e7691f122ed7a4232259739098/cashflow_copilot/authz.py</a:t>
            </a:r>
          </a:p>
          <a:p xmlns:a="http://schemas.openxmlformats.org/drawingml/2006/main">
            <a:r>
              <a:t>https://github.com/ShahadatTest/fluxora/blob/22d3e6279d06d2e7691f122ed7a4232259739098/cashflow_copilot/agent_workflows.py</a:t>
            </a:r>
          </a:p>
          <a:p xmlns:a="http://schemas.openxmlformats.org/drawingml/2006/main">
            <a:r>
              <a:t>https://github.com/ShahadatTest/fluxora/blob/22d3e6279d06d2e7691f122ed7a4232259739098/cashflow_copilot/actions.py</a:t>
            </a:r>
          </a:p>
          <a:p xmlns:a="http://schemas.openxmlformats.org/drawingml/2006/main">
            <a:r>
              <a:t>https://github.com/ShahadatTest/fluxora/blob/22d3e6279d06d2e7691f122ed7a4232259739098/cashflow_copilot/settlement.py</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05:10 to 05:50 (40 seconds)</a:t>
            </a:r>
          </a:p>
          <a:p xmlns:a="http://schemas.openxmlformats.org/drawingml/2006/main">
            <a:r>
              <a:t/>
            </a:r>
          </a:p>
          <a:p xmlns:a="http://schemas.openxmlformats.org/drawingml/2006/main">
            <a:r>
              <a:t>The evidence workflow connects a forecast assumption or proposed action to its source. Import staging gives the owner a chance to inspect records before accepting them. Settlement observations, corrections and reconciliation keep their own audit history. The illustration represents this review boundary rather than a real document or payment. A useful audit trail helps someone inspect a decision, but it does not authenticate every uploaded source or guarantee that an owner’s attestation is true. That limitation remains part of the product’s threat boundary.</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https://github.com/ShahadatTest/fluxora/blob/22d3e6279d06d2e7691f122ed7a4232259739098/cashflow_copilot/ledger.py</a:t>
            </a:r>
          </a:p>
          <a:p xmlns:a="http://schemas.openxmlformats.org/drawingml/2006/main">
            <a:r>
              <a:t>https://github.com/ShahadatTest/fluxora/blob/22d3e6279d06d2e7691f122ed7a4232259739098/cashflow_copilot/settlement.py</a:t>
            </a:r>
          </a:p>
          <a:p xmlns:a="http://schemas.openxmlformats.org/drawingml/2006/main">
            <a:r>
              <a:t>https://github.com/ShahadatTest/fluxora/blob/22d3e6279d06d2e7691f122ed7a4232259739098/docs/SECURITY.md</a:t>
            </a:r>
          </a:p>
          <a:p xmlns:a="http://schemas.openxmlformats.org/drawingml/2006/main">
            <a:r>
              <a:t>Existing project-generated evidence illustration: https://github.com/ShahadatTest/fluxora/blob/22d3e6279d06d2e7691f122ed7a4232259739098/docs/BRAND-ASSETS-0.20.1.md</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05:50 to 06:35 (45 seconds)</a:t>
            </a:r>
          </a:p>
          <a:p xmlns:a="http://schemas.openxmlformats.org/drawingml/2006/main">
            <a:r>
              <a:t/>
            </a:r>
          </a:p>
          <a:p xmlns:a="http://schemas.openxmlformats.org/drawingml/2006/main">
            <a:r>
              <a:t>Judges can inspect Telegram behavior in the browser without joining our private bot. The lesson uses separate synthetic data and clearly labels simulated transport. It supports forecast, a sample DRAFT and a separately reviewed snapshot. In a private deployment, Autopilot can queue updates and exact Approve DRAFT or Reject buttons for the paired owner. Real Telegram API acknowledgments confirm delivery requests succeeded. Callback approval and rejection passed against a simulated transport, including restart and stale-button checks. These are different types of evidence. Approving a DRAFT does not send a counterparty message or record a payment.</a:t>
            </a:r>
          </a:p>
          <a:p xmlns:a="http://schemas.openxmlformats.org/drawingml/2006/main">
            <a:r>
              <a:t/>
            </a:r>
          </a:p>
          <a:p xmlns:a="http://schemas.openxmlformats.org/drawingml/2006/main">
            <a:r>
              <a:t>Sources</a:t>
            </a:r>
          </a:p>
          <a:p xmlns:a="http://schemas.openxmlformats.org/drawingml/2006/main">
            <a:r>
              <a:t>https://github.com/ShahadatTest/fluxora/blob/main/docs/TELEGRAM-INTERACTIVE-DEMO.md</a:t>
            </a:r>
          </a:p>
          <a:p xmlns:a="http://schemas.openxmlformats.org/drawingml/2006/main">
            <a:r>
              <a:t>https://github.com/ShahadatTest/fluxora/blob/main/docs/AUTOPILOT.md</a:t>
            </a:r>
          </a:p>
          <a:p xmlns:a="http://schemas.openxmlformats.org/drawingml/2006/main">
            <a:r>
              <a:t>https://github.com/ShahadatTest/fluxora/blob/main/docs/VALIDATION.md</a:t>
            </a:r>
          </a:p>
          <a:p xmlns:a="http://schemas.openxmlformats.org/drawingml/2006/main">
            <a:r>
              <a:t>Screenshot: archived simulated browser lesson, deterministic /forecast, zero real delivery.</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06:35 to 07:15 (40 seconds)</a:t>
            </a:r>
          </a:p>
          <a:p xmlns:a="http://schemas.openxmlformats.org/drawingml/2006/main">
            <a:r>
              <a:t/>
            </a:r>
          </a:p>
          <a:p xmlns:a="http://schemas.openxmlformats.org/drawingml/2006/main">
            <a:r>
              <a:t>Autopilot runs on Python and SQLite. The enabled private workspace checks every five minutes. Changed recorded financial inputs trigger deterministic analysis. The selected strategy can prepare only an eligible DRAFT batch within the owner limits and a separately approved pending snapshot. Unchanged data produces a timed digest. Scheduled checks make zero AI calls. The model interprets explicitly submitted language tasks. It does not independently reason about new situations in the background. Hosted execution runs on the VPS. Local installation runs on the owner’s machine, and Telegram needs internet access. Persisted policies and effect identities survive restart.</a:t>
            </a:r>
          </a:p>
          <a:p xmlns:a="http://schemas.openxmlformats.org/drawingml/2006/main">
            <a:r>
              <a:t/>
            </a:r>
          </a:p>
          <a:p xmlns:a="http://schemas.openxmlformats.org/drawingml/2006/main">
            <a:r>
              <a:t>Sources</a:t>
            </a:r>
          </a:p>
          <a:p xmlns:a="http://schemas.openxmlformats.org/drawingml/2006/main">
            <a:r>
              <a:t>https://github.com/ShahadatTest/fluxora/blob/main/docs/AUTOPILOT.md</a:t>
            </a:r>
          </a:p>
          <a:p xmlns:a="http://schemas.openxmlformats.org/drawingml/2006/main">
            <a:r>
              <a:t>https://github.com/ShahadatTest/fluxora/blob/main/cashflow_copilot/autopilot.py</a:t>
            </a:r>
          </a:p>
          <a:p xmlns:a="http://schemas.openxmlformats.org/drawingml/2006/main">
            <a:r>
              <a:t>https://github.com/ShahadatTest/fluxora/blob/main/cashflow_copilot/telegram_bridge.py</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07:15 to 08:00 (45 seconds)</a:t>
            </a:r>
          </a:p>
          <a:p xmlns:a="http://schemas.openxmlformats.org/drawingml/2006/main">
            <a:r>
              <a:t/>
            </a:r>
          </a:p>
          <a:p xmlns:a="http://schemas.openxmlformats.org/drawingml/2006/main">
            <a:r>
              <a:t>The fresh complete local suite passed two thousand two hundred eleven tests. It uses synthetic records, local HTTP stubs and mocked providers. The disposable VPS canary ran the actual scheduler, prepared two DRAFTs, saved a separately approved snapshot and handled exact synthetic approval and rejection. An actual container restart preserved the results without duplicate DRAFTs. Earlier live qualification passed eight real model cases and five local guards. A fresh public forecast and replay also passed. The user reports that a fresh person completed the walkthrough without finding problems. We have no detailed study log. New rendered mobile checks remain blocked because the browser tool is disabled. Broad language accuracy and real-business security review remain open.</a:t>
            </a:r>
          </a:p>
          <a:p xmlns:a="http://schemas.openxmlformats.org/drawingml/2006/main">
            <a:r>
              <a:t/>
            </a:r>
          </a:p>
          <a:p xmlns:a="http://schemas.openxmlformats.org/drawingml/2006/main">
            <a:r>
              <a:t>Sources</a:t>
            </a:r>
          </a:p>
          <a:p xmlns:a="http://schemas.openxmlformats.org/drawingml/2006/main">
            <a:r>
              <a:t>https://github.com/ShahadatTest/fluxora/blob/main/docs/FINAL-REVIEW-2026-10-20.md</a:t>
            </a:r>
          </a:p>
          <a:p xmlns:a="http://schemas.openxmlformats.org/drawingml/2006/main">
            <a:r>
              <a:t>https://github.com/ShahadatTest/fluxora/blob/main/docs/VALIDATION.md</a:t>
            </a:r>
          </a:p>
          <a:p xmlns:a="http://schemas.openxmlformats.org/drawingml/2006/main">
            <a:r>
              <a:t>User-reported fresh-user result from this conversation. No participant identities, measured timings or device coverage supplied.</a:t>
            </a:r>
          </a:p>
          <a:p xmlns:a="http://schemas.openxmlformats.org/drawingml/2006/main">
            <a:r>
              <a:t>Earlier actual qualification belongs to source 0.26.0. This review made one new public model task call. Scheduler and replay made zero extra calls.</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08:00 to 08:30 (30 seconds)</a:t>
            </a:r>
          </a:p>
          <a:p xmlns:a="http://schemas.openxmlformats.org/drawingml/2006/main">
            <a:r>
              <a:t/>
            </a:r>
          </a:p>
          <a:p xmlns:a="http://schemas.openxmlformats.org/drawingml/2006/main">
            <a:r>
              <a:t>Fluxora connects cash timing with inspectable evidence and constrained preparation of the next action. Deterministic tools supply financial results. Autopilot handles scheduled checks and prepares work within recorded limits. The owner retains approval authority. Judges can start with the guided demo and the simulated Telegram lesson, or run the complete source locally. Broader language evaluation and a real-business security review will guide further work. Thank you.</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https://github.com/ShahadatTest/fluxora/blob/22d3e6279d06d2e7691f122ed7a4232259739098/README.md</a:t>
            </a:r>
          </a:p>
          <a:p xmlns:a="http://schemas.openxmlformats.org/drawingml/2006/main">
            <a:r>
              <a:t>https://fluxora.sklab.cc/start</a:t>
            </a:r>
          </a:p>
          <a:p xmlns:a="http://schemas.openxmlformats.org/drawingml/2006/main">
            <a:r>
              <a:t>Team name SKLab is user-confirmed. Two team members are planned, but their names and affiliations have not been supplied. No personal identities or eligibility claims are invented.</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planned pitch</a:t>
            </a:r>
          </a:p>
          <a:p xmlns:a="http://schemas.openxmlformats.org/drawingml/2006/main">
            <a:r>
              <a:t/>
            </a:r>
          </a:p>
          <a:p xmlns:a="http://schemas.openxmlformats.org/drawingml/2006/main">
            <a:r>
              <a:t>The application groups supported work into owner workflows. Autopilot adds persisted monitoring and bounded preparation. Model interpretation applies only to explicit supported tasks. A feature count does not prove a model understands every instruction.</a:t>
            </a:r>
          </a:p>
          <a:p xmlns:a="http://schemas.openxmlformats.org/drawingml/2006/main">
            <a:r>
              <a:t/>
            </a:r>
          </a:p>
          <a:p xmlns:a="http://schemas.openxmlformats.org/drawingml/2006/main">
            <a:r>
              <a:t>Sources</a:t>
            </a:r>
          </a:p>
          <a:p xmlns:a="http://schemas.openxmlformats.org/drawingml/2006/main">
            <a:r>
              <a:t>https://github.com/ShahadatTest/fluxora/blob/main/docs/AUTOPILOT.md</a:t>
            </a:r>
          </a:p>
          <a:p xmlns:a="http://schemas.openxmlformats.org/drawingml/2006/main">
            <a:r>
              <a:t>https://github.com/ShahadatTest/fluxora/blob/main/README.md</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planned pitch</a:t>
            </a:r>
          </a:p>
          <a:p xmlns:a="http://schemas.openxmlformats.org/drawingml/2006/main">
            <a:r>
              <a:t/>
            </a:r>
          </a:p>
          <a:p xmlns:a="http://schemas.openxmlformats.org/drawingml/2006/main">
            <a:r>
              <a:t>The model cannot approve, send counterparty messages or move money. Autopilot uses explicit limits and rejects stale or late work before committing. Owner approval, counterparty acceptance and observed payment stay distinct. Real private Telegram notifications need an existing paired owner. Public demo visitors have isolated, expiring synthetic workspaces. Local storage and operating-system administrators remain trusted. Automated checks and user feedback do not constitute a production security certification.</a:t>
            </a:r>
          </a:p>
          <a:p xmlns:a="http://schemas.openxmlformats.org/drawingml/2006/main">
            <a:r>
              <a:t/>
            </a:r>
          </a:p>
          <a:p xmlns:a="http://schemas.openxmlformats.org/drawingml/2006/main">
            <a:r>
              <a:t>Sources</a:t>
            </a:r>
          </a:p>
          <a:p xmlns:a="http://schemas.openxmlformats.org/drawingml/2006/main">
            <a:r>
              <a:t>https://github.com/ShahadatTest/fluxora/blob/main/docs/SECURITY.md</a:t>
            </a:r>
          </a:p>
          <a:p xmlns:a="http://schemas.openxmlformats.org/drawingml/2006/main">
            <a:r>
              <a:t>https://github.com/ShahadatTest/fluxora/blob/main/docs/AUTOPILOT.md</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outside planned pitch</a:t>
            </a:r>
          </a:p>
          <a:p xmlns:a="http://schemas.openxmlformats.org/drawingml/2006/main">
            <a:r>
              <a:t/>
            </a:r>
          </a:p>
          <a:p xmlns:a="http://schemas.openxmlformats.org/drawingml/2006/main">
            <a:r>
              <a:t>These are the judge-facing entry points. Direct financial reports and the simulated Telegram lesson need no provider key or Telegram account. For local setup, use the short writable folder described in the repository. The repository includes the full test commands, documentation and known limitations. The linked official guidance distinguishes a maximum ten-minute final presentation from a maximum five-minute demo video. Do not concatenate a separate demo video with the complete spoken deck inside a ten-minute presentation slot.</a:t>
            </a:r>
          </a:p>
          <a:p xmlns:a="http://schemas.openxmlformats.org/drawingml/2006/main">
            <a:r>
              <a:t/>
            </a:r>
          </a:p>
          <a:p xmlns:a="http://schemas.openxmlformats.org/drawingml/2006/main">
            <a:r>
              <a:t>Sources</a:t>
            </a:r>
          </a:p>
          <a:p xmlns:a="http://schemas.openxmlformats.org/drawingml/2006/main">
            <a:r>
              <a:t>https://github.com/ShahadatTest/fluxora/blob/22d3e6279d06d2e7691f122ed7a4232259739098/docs/JUDGE-QUICKSTART.md</a:t>
            </a:r>
          </a:p>
          <a:p xmlns:a="http://schemas.openxmlformats.org/drawingml/2006/main">
            <a:r>
              <a:t>https://github.com/ShahadatTest/fluxora/blob/22d3e6279d06d2e7691f122ed7a4232259739098/docs/LOCAL-SETUP.md</a:t>
            </a:r>
          </a:p>
          <a:p xmlns:a="http://schemas.openxmlformats.org/drawingml/2006/main">
            <a:r>
              <a:t>Official guidance, freshly fetched 20 October 2026, SHA-256 9005e42629435a1e129a8367c8d3d5e3714b6ea0bbab30713cd6be2f2bdd0c5a: https://drive.scmc.cmu.ac.th/s/2jKErkTJpFmcxYF/download. Presentation deck appears in the submission checklist. Final presentation maximum 10 minutes. Demo video maximum 5 minutes. One checklist item calls video optional while the execution-evidence item mentions demo video for non-on-chain topics.</a:t>
            </a:r>
          </a:p>
          <a:p xmlns:a="http://schemas.openxmlformats.org/drawingml/2006/main">
            <a:r>
              <a:t/>
            </a:r>
          </a:p>
          <a:p xmlns:a="http://schemas.openxmlformats.org/drawingml/2006/main">
            <a:r>
              <a:t>Synthetic data. Financial results depend on recorded assumptions. Concept illustrations and archived UI are labelled. Planned timing requires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5be5010a4e46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c599a5f99948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2942e0739a40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bcfa4602f64e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406e3ccf1a46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81c980448845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10CBF9-A158-4545-95B5-80FADFBBF22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3B4CE7-698C-4430-B813-00917E3377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B9208D-43A0-4A93-873C-9DCBF803D4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6AEDAB-FEED-4273-B674-904F67F3E3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AEF54F-32B0-45EA-828A-571098B31D6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44585E-2F92-4631-9648-20A6A43C7A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D98A80-49F9-46A0-96D8-59E530454D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4968C0-4D4B-44E1-8EEF-E5F19E7050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A86148-B7D0-4A20-80FD-89FB8F207F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B36777-4EA6-418B-A43E-1928905C6D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4e16bdc8aa468e" /><Relationship Type="http://schemas.openxmlformats.org/officeDocument/2006/relationships/slideLayout" Target="/ppt/slideLayouts/slideLayout1.xml" Id="R04bc4e8b1c6a4d5d" /><Relationship Type="http://schemas.openxmlformats.org/officeDocument/2006/relationships/slideLayout" Target="/ppt/slideLayouts/slideLayout2.xml" Id="R566aed7eceac473c" /><Relationship Type="http://schemas.openxmlformats.org/officeDocument/2006/relationships/slideLayout" Target="/ppt/slideLayouts/slideLayout3.xml" Id="R8b7c9ef671ed4e9f" /><Relationship Type="http://schemas.openxmlformats.org/officeDocument/2006/relationships/slideLayout" Target="/ppt/slideLayouts/slideLayout4.xml" Id="R120ae6284f7945f4" /><Relationship Type="http://schemas.openxmlformats.org/officeDocument/2006/relationships/slideLayout" Target="/ppt/slideLayouts/slideLayout5.xml" Id="Rf29df19a1d264c31" /><Relationship Type="http://schemas.openxmlformats.org/officeDocument/2006/relationships/slideLayout" Target="/ppt/slideLayouts/slideLayout6.xml" Id="R62a0326880e943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bc4e8b1c6a4d5d"/>
    <p:sldLayoutId xmlns:r="http://schemas.openxmlformats.org/officeDocument/2006/relationships" id="2147483650" r:id="R566aed7eceac473c"/>
    <p:sldLayoutId xmlns:r="http://schemas.openxmlformats.org/officeDocument/2006/relationships" id="2147483651" r:id="R8b7c9ef671ed4e9f"/>
    <p:sldLayoutId xmlns:r="http://schemas.openxmlformats.org/officeDocument/2006/relationships" id="2147483652" r:id="R120ae6284f7945f4"/>
    <p:sldLayoutId xmlns:r="http://schemas.openxmlformats.org/officeDocument/2006/relationships" id="2147483653" r:id="Rf29df19a1d264c31"/>
    <p:sldLayoutId xmlns:r="http://schemas.openxmlformats.org/officeDocument/2006/relationships" id="2147483654" r:id="R62a0326880e943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2368275f884dbe" /><Relationship Type="http://schemas.openxmlformats.org/officeDocument/2006/relationships/image" Target="/ppt/media/image.png" Id="R8210fcfeef794778" /><Relationship Type="http://schemas.openxmlformats.org/officeDocument/2006/relationships/image" Target="/ppt/media/image2.png" Id="R0adbd190ee2e4383" /><Relationship Type="http://schemas.openxmlformats.org/officeDocument/2006/relationships/notesSlide" Target="/ppt/notesSlides/notesSlide1.xml" Id="R674a298f343a44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a22288a07e460e" /><Relationship Type="http://schemas.openxmlformats.org/officeDocument/2006/relationships/notesSlide" Target="/ppt/notesSlides/notesSlide2.xml" Id="Rbd40b1f20f6641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7ae862f20a4b54" /><Relationship Type="http://schemas.openxmlformats.org/officeDocument/2006/relationships/image" Target="/ppt/media/image.jpeg" Id="R41bd936884074bd1" /><Relationship Type="http://schemas.openxmlformats.org/officeDocument/2006/relationships/notesSlide" Target="/ppt/notesSlides/notesSlide3.xml" Id="R8f84210584524c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2e3581b54c400b" /><Relationship Type="http://schemas.openxmlformats.org/officeDocument/2006/relationships/image" Target="/ppt/media/image2.jpeg" Id="R3102e4fb9dcb4812" /><Relationship Type="http://schemas.openxmlformats.org/officeDocument/2006/relationships/notesSlide" Target="/ppt/notesSlides/notesSlide4.xml" Id="Rc15b5effdb484b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223edf4bd041b9" /><Relationship Type="http://schemas.openxmlformats.org/officeDocument/2006/relationships/chart" Target="/ppt/slides/charts/chart1.xml" Id="R2d8b0817a76b45c3" /><Relationship Type="http://schemas.openxmlformats.org/officeDocument/2006/relationships/notesSlide" Target="/ppt/notesSlides/notesSlide5.xml" Id="Rbe0fa06b2ba7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0ef3b2c521475b" /><Relationship Type="http://schemas.openxmlformats.org/officeDocument/2006/relationships/image" Target="/ppt/media/image3.jpeg" Id="R91bf14531e044771" /><Relationship Type="http://schemas.openxmlformats.org/officeDocument/2006/relationships/notesSlide" Target="/ppt/notesSlides/notesSlide6.xml" Id="R1b9c545f7113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22bf3592994cc8" /><Relationship Type="http://schemas.openxmlformats.org/officeDocument/2006/relationships/notesSlide" Target="/ppt/notesSlides/notesSlide7.xml" Id="Rfdc8c3dc71914a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b631e952a04298" /><Relationship Type="http://schemas.openxmlformats.org/officeDocument/2006/relationships/image" Target="/ppt/media/image3.png" Id="Red49b678d68a4b51" /><Relationship Type="http://schemas.openxmlformats.org/officeDocument/2006/relationships/notesSlide" Target="/ppt/notesSlides/notesSlide8.xml" Id="R506deaf33a8b45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e8404a832347ed" /><Relationship Type="http://schemas.openxmlformats.org/officeDocument/2006/relationships/image" Target="/ppt/media/image4.jpeg" Id="Rbfb8f7c36caa40d3" /><Relationship Type="http://schemas.openxmlformats.org/officeDocument/2006/relationships/notesSlide" Target="/ppt/notesSlides/notesSlide9.xml" Id="R0fad954c50774c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e62af6892443b0" /><Relationship Type="http://schemas.openxmlformats.org/officeDocument/2006/relationships/notesSlide" Target="/ppt/notesSlides/notesSlide10.xml" Id="Rddd0d13e22534a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5255a66fe24531" /><Relationship Type="http://schemas.openxmlformats.org/officeDocument/2006/relationships/notesSlide" Target="/ppt/notesSlides/notesSlide11.xml" Id="R8ecf58724f634d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e10af49b66c4c25" /><Relationship Type="http://schemas.openxmlformats.org/officeDocument/2006/relationships/notesSlide" Target="/ppt/notesSlides/notesSlide12.xml" Id="R81020f87a74248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65dc527106c4ef6" /><Relationship Type="http://schemas.openxmlformats.org/officeDocument/2006/relationships/notesSlide" Target="/ppt/notesSlides/notesSlide13.xml" Id="R7b46e2f056ca43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4092b811884dc8" /><Relationship Type="http://schemas.openxmlformats.org/officeDocument/2006/relationships/notesSlide" Target="/ppt/notesSlides/notesSlide14.xml" Id="R8dc1b6b8cc234a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a88b255d3c54c38" /><Relationship Type="http://schemas.openxmlformats.org/officeDocument/2006/relationships/notesSlide" Target="/ppt/notesSlides/notesSlide15.xml" Id="R08ebb5609743488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Recorded timing</c:v>
          </c:tx>
          <c:spPr>
            <a:ln xmlns:a="http://schemas.openxmlformats.org/drawingml/2006/main" w="28575">
              <a:solidFill>
                <a:srgbClr val="116754"/>
              </a:solidFill>
              <a:prstDash val="solid"/>
            </a:ln>
          </c:spPr>
          <c:marker>
            <c:symbol val="none"/>
          </c:marker>
          <c:cat>
            <c:strRef>
              <c:f>'Chart Data'!$A$2:$A$31</c:f>
              <c:strCache>
                <c:ptCount val="30"/>
                <c:pt idx="0">
                  <c:v>10-16</c:v>
                </c:pt>
                <c:pt idx="1">
                  <c:v>10-17</c:v>
                </c:pt>
                <c:pt idx="2">
                  <c:v>10-18</c:v>
                </c:pt>
                <c:pt idx="3">
                  <c:v>10-19</c:v>
                </c:pt>
                <c:pt idx="4">
                  <c:v>10-20</c:v>
                </c:pt>
                <c:pt idx="5">
                  <c:v>10-21</c:v>
                </c:pt>
                <c:pt idx="6">
                  <c:v>10-22</c:v>
                </c:pt>
                <c:pt idx="7">
                  <c:v>10-23</c:v>
                </c:pt>
                <c:pt idx="8">
                  <c:v>10-24</c:v>
                </c:pt>
                <c:pt idx="9">
                  <c:v>10-25</c:v>
                </c:pt>
                <c:pt idx="10">
                  <c:v>10-26</c:v>
                </c:pt>
                <c:pt idx="11">
                  <c:v>10-27</c:v>
                </c:pt>
                <c:pt idx="12">
                  <c:v>10-28</c:v>
                </c:pt>
                <c:pt idx="13">
                  <c:v>10-29</c:v>
                </c:pt>
                <c:pt idx="14">
                  <c:v>10-30</c:v>
                </c:pt>
                <c:pt idx="15">
                  <c:v>10-31</c:v>
                </c:pt>
                <c:pt idx="16">
                  <c:v>11-01</c:v>
                </c:pt>
                <c:pt idx="17">
                  <c:v>11-02</c:v>
                </c:pt>
                <c:pt idx="18">
                  <c:v>11-03</c:v>
                </c:pt>
                <c:pt idx="19">
                  <c:v>11-04</c:v>
                </c:pt>
                <c:pt idx="20">
                  <c:v>11-05</c:v>
                </c:pt>
                <c:pt idx="21">
                  <c:v>11-06</c:v>
                </c:pt>
                <c:pt idx="22">
                  <c:v>11-07</c:v>
                </c:pt>
                <c:pt idx="23">
                  <c:v>11-08</c:v>
                </c:pt>
                <c:pt idx="24">
                  <c:v>11-09</c:v>
                </c:pt>
                <c:pt idx="25">
                  <c:v>11-10</c:v>
                </c:pt>
                <c:pt idx="26">
                  <c:v>11-11</c:v>
                </c:pt>
                <c:pt idx="27">
                  <c:v>11-12</c:v>
                </c:pt>
                <c:pt idx="28">
                  <c:v>11-13</c:v>
                </c:pt>
                <c:pt idx="29">
                  <c:v>11-14</c:v>
                </c:pt>
              </c:strCache>
            </c:strRef>
          </c:cat>
          <c:val>
            <c:numRef>
              <c:f>'Chart Data'!$B$2:$B$31</c:f>
              <c:numCache>
                <c:formatCode>#,##0;[Red]-#,##0</c:formatCode>
                <c:ptCount val="30"/>
                <c:pt idx="0">
                  <c:v>10000</c:v>
                </c:pt>
                <c:pt idx="1">
                  <c:v>10000</c:v>
                </c:pt>
                <c:pt idx="2">
                  <c:v>10000</c:v>
                </c:pt>
                <c:pt idx="3">
                  <c:v>10000</c:v>
                </c:pt>
                <c:pt idx="4">
                  <c:v>10000</c:v>
                </c:pt>
                <c:pt idx="5">
                  <c:v>18000</c:v>
                </c:pt>
                <c:pt idx="6">
                  <c:v>18000</c:v>
                </c:pt>
                <c:pt idx="7">
                  <c:v>12000</c:v>
                </c:pt>
                <c:pt idx="8">
                  <c:v>12000</c:v>
                </c:pt>
                <c:pt idx="9">
                  <c:v>7500</c:v>
                </c:pt>
                <c:pt idx="10">
                  <c:v>7500</c:v>
                </c:pt>
                <c:pt idx="11">
                  <c:v>7500</c:v>
                </c:pt>
                <c:pt idx="12">
                  <c:v>6000</c:v>
                </c:pt>
                <c:pt idx="13">
                  <c:v>6000</c:v>
                </c:pt>
                <c:pt idx="14">
                  <c:v>6000</c:v>
                </c:pt>
                <c:pt idx="15">
                  <c:v>6000</c:v>
                </c:pt>
                <c:pt idx="16">
                  <c:v>6000</c:v>
                </c:pt>
                <c:pt idx="17">
                  <c:v>6000</c:v>
                </c:pt>
                <c:pt idx="18">
                  <c:v>6000</c:v>
                </c:pt>
                <c:pt idx="19">
                  <c:v>6000</c:v>
                </c:pt>
                <c:pt idx="20">
                  <c:v>6000</c:v>
                </c:pt>
                <c:pt idx="21">
                  <c:v>6000</c:v>
                </c:pt>
                <c:pt idx="22">
                  <c:v>6000</c:v>
                </c:pt>
                <c:pt idx="23">
                  <c:v>6000</c:v>
                </c:pt>
                <c:pt idx="24">
                  <c:v>6000</c:v>
                </c:pt>
                <c:pt idx="25">
                  <c:v>6000</c:v>
                </c:pt>
                <c:pt idx="26">
                  <c:v>6000</c:v>
                </c:pt>
                <c:pt idx="27">
                  <c:v>6000</c:v>
                </c:pt>
                <c:pt idx="28">
                  <c:v>6000</c:v>
                </c:pt>
                <c:pt idx="29">
                  <c:v>6000</c:v>
                </c:pt>
              </c:numCache>
            </c:numRef>
          </c:val>
          <c:smooth val="0"/>
        </c:ser>
        <c:ser>
          <c:idx val="1"/>
          <c:order val="1"/>
          <c:tx>
            <c:v>Collection delayed 7 days</c:v>
          </c:tx>
          <c:spPr>
            <a:ln xmlns:a="http://schemas.openxmlformats.org/drawingml/2006/main" w="28575">
              <a:solidFill>
                <a:srgbClr val="A04737"/>
              </a:solidFill>
              <a:prstDash val="solid"/>
            </a:ln>
          </c:spPr>
          <c:marker>
            <c:symbol val="none"/>
          </c:marker>
          <c:cat>
            <c:strRef>
              <c:f>'Chart Data'!$C$2:$C$31</c:f>
              <c:strCache>
                <c:ptCount val="30"/>
                <c:pt idx="0">
                  <c:v>10-16</c:v>
                </c:pt>
                <c:pt idx="1">
                  <c:v>10-17</c:v>
                </c:pt>
                <c:pt idx="2">
                  <c:v>10-18</c:v>
                </c:pt>
                <c:pt idx="3">
                  <c:v>10-19</c:v>
                </c:pt>
                <c:pt idx="4">
                  <c:v>10-20</c:v>
                </c:pt>
                <c:pt idx="5">
                  <c:v>10-21</c:v>
                </c:pt>
                <c:pt idx="6">
                  <c:v>10-22</c:v>
                </c:pt>
                <c:pt idx="7">
                  <c:v>10-23</c:v>
                </c:pt>
                <c:pt idx="8">
                  <c:v>10-24</c:v>
                </c:pt>
                <c:pt idx="9">
                  <c:v>10-25</c:v>
                </c:pt>
                <c:pt idx="10">
                  <c:v>10-26</c:v>
                </c:pt>
                <c:pt idx="11">
                  <c:v>10-27</c:v>
                </c:pt>
                <c:pt idx="12">
                  <c:v>10-28</c:v>
                </c:pt>
                <c:pt idx="13">
                  <c:v>10-29</c:v>
                </c:pt>
                <c:pt idx="14">
                  <c:v>10-30</c:v>
                </c:pt>
                <c:pt idx="15">
                  <c:v>10-31</c:v>
                </c:pt>
                <c:pt idx="16">
                  <c:v>11-01</c:v>
                </c:pt>
                <c:pt idx="17">
                  <c:v>11-02</c:v>
                </c:pt>
                <c:pt idx="18">
                  <c:v>11-03</c:v>
                </c:pt>
                <c:pt idx="19">
                  <c:v>11-04</c:v>
                </c:pt>
                <c:pt idx="20">
                  <c:v>11-05</c:v>
                </c:pt>
                <c:pt idx="21">
                  <c:v>11-06</c:v>
                </c:pt>
                <c:pt idx="22">
                  <c:v>11-07</c:v>
                </c:pt>
                <c:pt idx="23">
                  <c:v>11-08</c:v>
                </c:pt>
                <c:pt idx="24">
                  <c:v>11-09</c:v>
                </c:pt>
                <c:pt idx="25">
                  <c:v>11-10</c:v>
                </c:pt>
                <c:pt idx="26">
                  <c:v>11-11</c:v>
                </c:pt>
                <c:pt idx="27">
                  <c:v>11-12</c:v>
                </c:pt>
                <c:pt idx="28">
                  <c:v>11-13</c:v>
                </c:pt>
                <c:pt idx="29">
                  <c:v>11-14</c:v>
                </c:pt>
              </c:strCache>
            </c:strRef>
          </c:cat>
          <c:val>
            <c:numRef>
              <c:f>'Chart Data'!$D$2:$D$31</c:f>
              <c:numCache>
                <c:formatCode>#,##0;[Red]-#,##0</c:formatCode>
                <c:ptCount val="30"/>
                <c:pt idx="0">
                  <c:v>10000</c:v>
                </c:pt>
                <c:pt idx="1">
                  <c:v>10000</c:v>
                </c:pt>
                <c:pt idx="2">
                  <c:v>10000</c:v>
                </c:pt>
                <c:pt idx="3">
                  <c:v>10000</c:v>
                </c:pt>
                <c:pt idx="4">
                  <c:v>10000</c:v>
                </c:pt>
                <c:pt idx="5">
                  <c:v>10000</c:v>
                </c:pt>
                <c:pt idx="6">
                  <c:v>10000</c:v>
                </c:pt>
                <c:pt idx="7">
                  <c:v>4000</c:v>
                </c:pt>
                <c:pt idx="8">
                  <c:v>4000</c:v>
                </c:pt>
                <c:pt idx="9">
                  <c:v>-500</c:v>
                </c:pt>
                <c:pt idx="10">
                  <c:v>-500</c:v>
                </c:pt>
                <c:pt idx="11">
                  <c:v>-500</c:v>
                </c:pt>
                <c:pt idx="12">
                  <c:v>6000</c:v>
                </c:pt>
                <c:pt idx="13">
                  <c:v>6000</c:v>
                </c:pt>
                <c:pt idx="14">
                  <c:v>6000</c:v>
                </c:pt>
                <c:pt idx="15">
                  <c:v>6000</c:v>
                </c:pt>
                <c:pt idx="16">
                  <c:v>6000</c:v>
                </c:pt>
                <c:pt idx="17">
                  <c:v>6000</c:v>
                </c:pt>
                <c:pt idx="18">
                  <c:v>6000</c:v>
                </c:pt>
                <c:pt idx="19">
                  <c:v>6000</c:v>
                </c:pt>
                <c:pt idx="20">
                  <c:v>6000</c:v>
                </c:pt>
                <c:pt idx="21">
                  <c:v>6000</c:v>
                </c:pt>
                <c:pt idx="22">
                  <c:v>6000</c:v>
                </c:pt>
                <c:pt idx="23">
                  <c:v>6000</c:v>
                </c:pt>
                <c:pt idx="24">
                  <c:v>6000</c:v>
                </c:pt>
                <c:pt idx="25">
                  <c:v>6000</c:v>
                </c:pt>
                <c:pt idx="26">
                  <c:v>6000</c:v>
                </c:pt>
                <c:pt idx="27">
                  <c:v>6000</c:v>
                </c:pt>
                <c:pt idx="28">
                  <c:v>6000</c:v>
                </c:pt>
                <c:pt idx="29">
                  <c:v>6000</c:v>
                </c:pt>
              </c:numCache>
            </c:numRef>
          </c:val>
          <c:smooth val="0"/>
        </c:ser>
        <c:ser>
          <c:idx val="2"/>
          <c:order val="2"/>
          <c:tx>
            <c:v>USD cash floor</c:v>
          </c:tx>
          <c:spPr>
            <a:ln xmlns:a="http://schemas.openxmlformats.org/drawingml/2006/main" w="19050">
              <a:solidFill>
                <a:srgbClr val="52696A"/>
              </a:solidFill>
              <a:prstDash val="dash"/>
            </a:ln>
          </c:spPr>
          <c:marker>
            <c:symbol val="none"/>
          </c:marker>
          <c:cat>
            <c:strRef>
              <c:f>'Chart Data'!$E$2:$E$31</c:f>
              <c:strCache>
                <c:ptCount val="30"/>
                <c:pt idx="0">
                  <c:v>10-16</c:v>
                </c:pt>
                <c:pt idx="1">
                  <c:v>10-17</c:v>
                </c:pt>
                <c:pt idx="2">
                  <c:v>10-18</c:v>
                </c:pt>
                <c:pt idx="3">
                  <c:v>10-19</c:v>
                </c:pt>
                <c:pt idx="4">
                  <c:v>10-20</c:v>
                </c:pt>
                <c:pt idx="5">
                  <c:v>10-21</c:v>
                </c:pt>
                <c:pt idx="6">
                  <c:v>10-22</c:v>
                </c:pt>
                <c:pt idx="7">
                  <c:v>10-23</c:v>
                </c:pt>
                <c:pt idx="8">
                  <c:v>10-24</c:v>
                </c:pt>
                <c:pt idx="9">
                  <c:v>10-25</c:v>
                </c:pt>
                <c:pt idx="10">
                  <c:v>10-26</c:v>
                </c:pt>
                <c:pt idx="11">
                  <c:v>10-27</c:v>
                </c:pt>
                <c:pt idx="12">
                  <c:v>10-28</c:v>
                </c:pt>
                <c:pt idx="13">
                  <c:v>10-29</c:v>
                </c:pt>
                <c:pt idx="14">
                  <c:v>10-30</c:v>
                </c:pt>
                <c:pt idx="15">
                  <c:v>10-31</c:v>
                </c:pt>
                <c:pt idx="16">
                  <c:v>11-01</c:v>
                </c:pt>
                <c:pt idx="17">
                  <c:v>11-02</c:v>
                </c:pt>
                <c:pt idx="18">
                  <c:v>11-03</c:v>
                </c:pt>
                <c:pt idx="19">
                  <c:v>11-04</c:v>
                </c:pt>
                <c:pt idx="20">
                  <c:v>11-05</c:v>
                </c:pt>
                <c:pt idx="21">
                  <c:v>11-06</c:v>
                </c:pt>
                <c:pt idx="22">
                  <c:v>11-07</c:v>
                </c:pt>
                <c:pt idx="23">
                  <c:v>11-08</c:v>
                </c:pt>
                <c:pt idx="24">
                  <c:v>11-09</c:v>
                </c:pt>
                <c:pt idx="25">
                  <c:v>11-10</c:v>
                </c:pt>
                <c:pt idx="26">
                  <c:v>11-11</c:v>
                </c:pt>
                <c:pt idx="27">
                  <c:v>11-12</c:v>
                </c:pt>
                <c:pt idx="28">
                  <c:v>11-13</c:v>
                </c:pt>
                <c:pt idx="29">
                  <c:v>11-14</c:v>
                </c:pt>
              </c:strCache>
            </c:strRef>
          </c:cat>
          <c:val>
            <c:numRef>
              <c:f>'Chart Data'!$F$2:$F$31</c:f>
              <c:numCache>
                <c:formatCode>#,##0;[Red]-#,##0</c:formatCode>
                <c:ptCount val="30"/>
                <c:pt idx="0">
                  <c:v>3000</c:v>
                </c:pt>
                <c:pt idx="1">
                  <c:v>3000</c:v>
                </c:pt>
                <c:pt idx="2">
                  <c:v>3000</c:v>
                </c:pt>
                <c:pt idx="3">
                  <c:v>3000</c:v>
                </c:pt>
                <c:pt idx="4">
                  <c:v>3000</c:v>
                </c:pt>
                <c:pt idx="5">
                  <c:v>3000</c:v>
                </c:pt>
                <c:pt idx="6">
                  <c:v>3000</c:v>
                </c:pt>
                <c:pt idx="7">
                  <c:v>3000</c:v>
                </c:pt>
                <c:pt idx="8">
                  <c:v>3000</c:v>
                </c:pt>
                <c:pt idx="9">
                  <c:v>3000</c:v>
                </c:pt>
                <c:pt idx="10">
                  <c:v>3000</c:v>
                </c:pt>
                <c:pt idx="11">
                  <c:v>3000</c:v>
                </c:pt>
                <c:pt idx="12">
                  <c:v>3000</c:v>
                </c:pt>
                <c:pt idx="13">
                  <c:v>3000</c:v>
                </c:pt>
                <c:pt idx="14">
                  <c:v>3000</c:v>
                </c:pt>
                <c:pt idx="15">
                  <c:v>3000</c:v>
                </c:pt>
                <c:pt idx="16">
                  <c:v>3000</c:v>
                </c:pt>
                <c:pt idx="17">
                  <c:v>3000</c:v>
                </c:pt>
                <c:pt idx="18">
                  <c:v>3000</c:v>
                </c:pt>
                <c:pt idx="19">
                  <c:v>3000</c:v>
                </c:pt>
                <c:pt idx="20">
                  <c:v>3000</c:v>
                </c:pt>
                <c:pt idx="21">
                  <c:v>3000</c:v>
                </c:pt>
                <c:pt idx="22">
                  <c:v>3000</c:v>
                </c:pt>
                <c:pt idx="23">
                  <c:v>3000</c:v>
                </c:pt>
                <c:pt idx="24">
                  <c:v>3000</c:v>
                </c:pt>
                <c:pt idx="25">
                  <c:v>3000</c:v>
                </c:pt>
                <c:pt idx="26">
                  <c:v>3000</c:v>
                </c:pt>
                <c:pt idx="27">
                  <c:v>3000</c:v>
                </c:pt>
                <c:pt idx="28">
                  <c:v>3000</c:v>
                </c:pt>
                <c:pt idx="29">
                  <c:v>3000</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2026 dates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CE5DF"/>
            </a:solidFill>
          </a:ln>
        </c:spPr>
        <c:txPr>
          <a:bodyPr xmlns:a="http://schemas.openxmlformats.org/drawingml/2006/main" anchorCtr="1"/>
          <a:lstStyle xmlns:a="http://schemas.openxmlformats.org/drawingml/2006/main"/>
          <a:p xmlns:a="http://schemas.openxmlformats.org/drawingml/2006/main">
            <a:pPr>
              <a:defRPr sz="1050">
                <a:solidFill>
                  <a:srgbClr val="52696A"/>
                </a:solidFill>
                <a:latin typeface="Arial"/>
                <a:ea typeface="Arial"/>
                <a:cs typeface="Arial"/>
              </a:defRPr>
            </a:pPr>
          </a:p>
        </c:txPr>
        <c:crossAx val="48672768"/>
      </c:catAx>
      <c:valAx>
        <c:axId val="48672768"/>
        <c:scaling>
          <c:orientation val="minMax"/>
          <c:max val="20000"/>
          <c:min val="-5000"/>
        </c:scaling>
        <c:delete val="0"/>
        <c:axPos val="l"/>
        <c:majorGridlines>
          <c:spPr>
            <a:ln xmlns:a="http://schemas.openxmlformats.org/drawingml/2006/main" w="9525">
              <a:solidFill>
                <a:srgbClr val="DCE5DF"/>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USD intraday low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R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96A"/>
                </a:solidFill>
                <a:latin typeface="Arial"/>
                <a:ea typeface="Arial"/>
                <a:cs typeface="Arial"/>
              </a:defRPr>
            </a:pPr>
          </a:p>
        </c:txPr>
        <c:crossAx val="48650112"/>
        <c:crossBetween val="between"/>
        <c:majorUnit val="500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B3034"/>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A0490F5-0269-4A74-8A24-4C4B1FEEC34B}"/>
              </a:ext>
            </a:extLst>
          </p:cNvPr>
          <p:cNvSpPr>
            <a:spLocks xmlns:a="http://schemas.openxmlformats.org/drawingml/2006/main" noGrp="1"/>
          </p:cNvSpPr>
          <p:nvPr/>
        </p:nvSpPr>
        <p:spPr>
          <a:xfrm xmlns:a="http://schemas.openxmlformats.org/drawingml/2006/main">
            <a:off x="685800" y="19812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1B3034"/>
                </a:solidFill>
                <a:latin typeface="Arial"/>
                <a:ea typeface="Arial"/>
                <a:cs typeface="Arial"/>
              </a:defRPr>
            </a:defPPr>
            <a:lvl1pPr>
              <a:buNone/>
              <a:defRPr sz="6600" b="1">
                <a:solidFill>
                  <a:srgbClr val="1B3034"/>
                </a:solidFill>
                <a:latin typeface="Arial"/>
                <a:ea typeface="Arial"/>
                <a:cs typeface="Arial"/>
              </a:defRPr>
            </a:lvl1pPr>
            <a:lvl2pPr>
              <a:buNone/>
              <a:defRPr sz="6600" b="1">
                <a:solidFill>
                  <a:srgbClr val="1B3034"/>
                </a:solidFill>
                <a:latin typeface="Arial"/>
                <a:ea typeface="Arial"/>
                <a:cs typeface="Arial"/>
              </a:defRPr>
            </a:lvl2pPr>
            <a:lvl3pPr>
              <a:buNone/>
              <a:defRPr sz="6600" b="1">
                <a:solidFill>
                  <a:srgbClr val="1B3034"/>
                </a:solidFill>
                <a:latin typeface="Arial"/>
                <a:ea typeface="Arial"/>
                <a:cs typeface="Arial"/>
              </a:defRPr>
            </a:lvl3pPr>
            <a:lvl4pPr>
              <a:buNone/>
              <a:defRPr sz="6600" b="1">
                <a:solidFill>
                  <a:srgbClr val="1B3034"/>
                </a:solidFill>
                <a:latin typeface="Arial"/>
                <a:ea typeface="Arial"/>
                <a:cs typeface="Arial"/>
              </a:defRPr>
            </a:lvl4pPr>
            <a:lvl5pPr>
              <a:buNone/>
              <a:defRPr sz="6600" b="1">
                <a:solidFill>
                  <a:srgbClr val="1B3034"/>
                </a:solidFill>
                <a:latin typeface="Arial"/>
                <a:ea typeface="Arial"/>
                <a:cs typeface="Arial"/>
              </a:defRPr>
            </a:lvl5pPr>
            <a:lvl6pPr>
              <a:buNone/>
              <a:defRPr sz="6600" b="1">
                <a:solidFill>
                  <a:srgbClr val="1B3034"/>
                </a:solidFill>
                <a:latin typeface="Arial"/>
                <a:ea typeface="Arial"/>
                <a:cs typeface="Arial"/>
              </a:defRPr>
            </a:lvl6pPr>
            <a:lvl7pPr>
              <a:buNone/>
              <a:defRPr sz="6600" b="1">
                <a:solidFill>
                  <a:srgbClr val="1B3034"/>
                </a:solidFill>
                <a:latin typeface="Arial"/>
                <a:ea typeface="Arial"/>
                <a:cs typeface="Arial"/>
              </a:defRPr>
            </a:lvl7pPr>
            <a:lvl8pPr>
              <a:buNone/>
              <a:defRPr sz="6600" b="1">
                <a:solidFill>
                  <a:srgbClr val="1B3034"/>
                </a:solidFill>
                <a:latin typeface="Arial"/>
                <a:ea typeface="Arial"/>
                <a:cs typeface="Arial"/>
              </a:defRPr>
            </a:lvl8pPr>
            <a:lvl9pPr>
              <a:buNone/>
              <a:defRPr sz="6600" b="1">
                <a:solidFill>
                  <a:srgbClr val="1B3034"/>
                </a:solidFill>
                <a:latin typeface="Arial"/>
                <a:ea typeface="Arial"/>
                <a:cs typeface="Arial"/>
              </a:defRPr>
            </a:lvl9pPr>
          </a:lstStyle>
          <a:p xmlns:a="http://schemas.openxmlformats.org/drawingml/2006/main">
            <a:pPr>
              <a:buNone/>
              <a:defRPr sz="6600" b="1">
                <a:solidFill>
                  <a:srgbClr val="1B3034"/>
                </a:solidFill>
                <a:latin typeface="Arial"/>
                <a:ea typeface="Arial"/>
                <a:cs typeface="Arial"/>
              </a:defRPr>
            </a:pPr>
            <a:r>
              <a:rPr sz="6600" b="1">
                <a:solidFill>
                  <a:srgbClr val="1B3034"/>
                </a:solidFill>
                <a:latin typeface="Arial"/>
                <a:ea typeface="Arial"/>
                <a:cs typeface="Arial"/>
              </a:rPr>
              <a:t>Fluxora</a:t>
            </a:r>
          </a:p>
        </p:txBody>
      </p:sp>
      <p:sp>
        <p:nvSpPr>
          <p:cNvPr id="2" name="page-number">
            <a:extLst xmlns:a="http://schemas.openxmlformats.org/drawingml/2006/main">
              <a:ext uri="{FF2B5EF4-FFF2-40B4-BE49-F238E27FC236}">
                <a16:creationId xmlns:a16="http://schemas.microsoft.com/office/drawing/2014/main" id="{14AE22A1-97BA-4469-A7F4-37928E4C80F9}"/>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2A2E0CFD-060D-4180-BAE6-22D2C6BB0D27}"/>
              </a:ext>
            </a:extLst>
          </p:cNvPr>
          <p:cNvPicPr>
            <a:picLocks xmlns:a="http://schemas.openxmlformats.org/drawingml/2006/main" noChangeAspect="1"/>
          </p:cNvPicPr>
          <p:nvPr/>
        </p:nvPicPr>
        <p:blipFill>
          <a:blip xmlns:r="http://schemas.openxmlformats.org/officeDocument/2006/relationships" xmlns:a="http://schemas.openxmlformats.org/drawingml/2006/main" r:embed="R8210fcfeef794778"/>
          <a:stretch xmlns:a="http://schemas.openxmlformats.org/drawingml/2006/main"/>
        </p:blipFill>
        <p:spPr>
          <a:xfrm xmlns:a="http://schemas.openxmlformats.org/drawingml/2006/main">
            <a:off x="685800" y="628650"/>
            <a:ext cx="647700" cy="647700"/>
          </a:xfrm>
          <a:prstGeom xmlns:a="http://schemas.openxmlformats.org/drawingml/2006/main" prst="rect">
            <a:avLst/>
          </a:prstGeom>
        </p:spPr>
      </p:pic>
      <p:sp>
        <p:nvSpPr>
          <p:cNvPr id="4" name="cover-subtitle">
            <a:extLst xmlns:a="http://schemas.openxmlformats.org/drawingml/2006/main">
              <a:ext uri="{FF2B5EF4-FFF2-40B4-BE49-F238E27FC236}">
                <a16:creationId xmlns:a16="http://schemas.microsoft.com/office/drawing/2014/main" id="{24893B81-13D2-4ACD-9E8A-9F4E317CD75F}"/>
              </a:ext>
            </a:extLst>
          </p:cNvPr>
          <p:cNvSpPr>
            <a:spLocks xmlns:a="http://schemas.openxmlformats.org/drawingml/2006/main" noGrp="1"/>
          </p:cNvSpPr>
          <p:nvPr/>
        </p:nvSpPr>
        <p:spPr>
          <a:xfrm xmlns:a="http://schemas.openxmlformats.org/drawingml/2006/main">
            <a:off x="685800" y="3143250"/>
            <a:ext cx="5381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16754"/>
                </a:solidFill>
                <a:latin typeface="Arial"/>
                <a:ea typeface="Arial"/>
                <a:cs typeface="Arial"/>
              </a:defRPr>
            </a:defPPr>
            <a:lvl1pPr>
              <a:buNone/>
              <a:defRPr sz="3000" b="1">
                <a:solidFill>
                  <a:srgbClr val="116754"/>
                </a:solidFill>
                <a:latin typeface="Arial"/>
                <a:ea typeface="Arial"/>
                <a:cs typeface="Arial"/>
              </a:defRPr>
            </a:lvl1pPr>
            <a:lvl2pPr>
              <a:buNone/>
              <a:defRPr sz="3000" b="1">
                <a:solidFill>
                  <a:srgbClr val="116754"/>
                </a:solidFill>
                <a:latin typeface="Arial"/>
                <a:ea typeface="Arial"/>
                <a:cs typeface="Arial"/>
              </a:defRPr>
            </a:lvl2pPr>
            <a:lvl3pPr>
              <a:buNone/>
              <a:defRPr sz="3000" b="1">
                <a:solidFill>
                  <a:srgbClr val="116754"/>
                </a:solidFill>
                <a:latin typeface="Arial"/>
                <a:ea typeface="Arial"/>
                <a:cs typeface="Arial"/>
              </a:defRPr>
            </a:lvl3pPr>
            <a:lvl4pPr>
              <a:buNone/>
              <a:defRPr sz="3000" b="1">
                <a:solidFill>
                  <a:srgbClr val="116754"/>
                </a:solidFill>
                <a:latin typeface="Arial"/>
                <a:ea typeface="Arial"/>
                <a:cs typeface="Arial"/>
              </a:defRPr>
            </a:lvl4pPr>
            <a:lvl5pPr>
              <a:buNone/>
              <a:defRPr sz="3000" b="1">
                <a:solidFill>
                  <a:srgbClr val="116754"/>
                </a:solidFill>
                <a:latin typeface="Arial"/>
                <a:ea typeface="Arial"/>
                <a:cs typeface="Arial"/>
              </a:defRPr>
            </a:lvl5pPr>
            <a:lvl6pPr>
              <a:buNone/>
              <a:defRPr sz="3000" b="1">
                <a:solidFill>
                  <a:srgbClr val="116754"/>
                </a:solidFill>
                <a:latin typeface="Arial"/>
                <a:ea typeface="Arial"/>
                <a:cs typeface="Arial"/>
              </a:defRPr>
            </a:lvl6pPr>
            <a:lvl7pPr>
              <a:buNone/>
              <a:defRPr sz="3000" b="1">
                <a:solidFill>
                  <a:srgbClr val="116754"/>
                </a:solidFill>
                <a:latin typeface="Arial"/>
                <a:ea typeface="Arial"/>
                <a:cs typeface="Arial"/>
              </a:defRPr>
            </a:lvl7pPr>
            <a:lvl8pPr>
              <a:buNone/>
              <a:defRPr sz="3000" b="1">
                <a:solidFill>
                  <a:srgbClr val="116754"/>
                </a:solidFill>
                <a:latin typeface="Arial"/>
                <a:ea typeface="Arial"/>
                <a:cs typeface="Arial"/>
              </a:defRPr>
            </a:lvl8pPr>
            <a:lvl9pPr>
              <a:buNone/>
              <a:defRPr sz="3000" b="1">
                <a:solidFill>
                  <a:srgbClr val="116754"/>
                </a:solidFill>
                <a:latin typeface="Arial"/>
                <a:ea typeface="Arial"/>
                <a:cs typeface="Arial"/>
              </a:defRPr>
            </a:lvl9pPr>
          </a:lstStyle>
          <a:p xmlns:a="http://schemas.openxmlformats.org/drawingml/2006/main">
            <a:pPr>
              <a:buNone/>
              <a:defRPr sz="3000" b="1">
                <a:solidFill>
                  <a:srgbClr val="116754"/>
                </a:solidFill>
                <a:latin typeface="Arial"/>
                <a:ea typeface="Arial"/>
                <a:cs typeface="Arial"/>
              </a:defRPr>
            </a:pPr>
            <a:r>
              <a:rPr sz="3000" b="1">
                <a:solidFill>
                  <a:srgbClr val="116754"/>
                </a:solidFill>
                <a:latin typeface="Arial"/>
                <a:ea typeface="Arial"/>
                <a:cs typeface="Arial"/>
              </a:rPr>
              <a:t>Cash-flow decisions</a:t>
            </a:r>
          </a:p>
          <a:p xmlns:a="http://schemas.openxmlformats.org/drawingml/2006/main">
            <a:pPr>
              <a:buNone/>
              <a:defRPr sz="3000" b="1">
                <a:solidFill>
                  <a:srgbClr val="116754"/>
                </a:solidFill>
                <a:latin typeface="Arial"/>
                <a:ea typeface="Arial"/>
                <a:cs typeface="Arial"/>
              </a:defRPr>
            </a:pPr>
            <a:r>
              <a:rPr sz="3000" b="1">
                <a:solidFill>
                  <a:srgbClr val="116754"/>
                </a:solidFill>
                <a:latin typeface="Arial"/>
                <a:ea typeface="Arial"/>
                <a:cs typeface="Arial"/>
              </a:rPr>
              <a:t>for small businesses</a:t>
            </a:r>
          </a:p>
        </p:txBody>
      </p:sp>
      <p:sp>
        <p:nvSpPr>
          <p:cNvPr id="5" name="cover-team">
            <a:extLst xmlns:a="http://schemas.openxmlformats.org/drawingml/2006/main">
              <a:ext uri="{FF2B5EF4-FFF2-40B4-BE49-F238E27FC236}">
                <a16:creationId xmlns:a16="http://schemas.microsoft.com/office/drawing/2014/main" id="{CA8B35E7-5997-41FB-B620-F82B0919DD91}"/>
              </a:ext>
            </a:extLst>
          </p:cNvPr>
          <p:cNvSpPr>
            <a:spLocks xmlns:a="http://schemas.openxmlformats.org/drawingml/2006/main" noGrp="1"/>
          </p:cNvSpPr>
          <p:nvPr/>
        </p:nvSpPr>
        <p:spPr>
          <a:xfrm xmlns:a="http://schemas.openxmlformats.org/drawingml/2006/main">
            <a:off x="685800" y="483870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B3034"/>
                </a:solidFill>
                <a:latin typeface="Arial"/>
                <a:ea typeface="Arial"/>
                <a:cs typeface="Arial"/>
              </a:defRPr>
            </a:defPPr>
            <a:lvl1pPr>
              <a:buNone/>
              <a:defRPr sz="2175" b="1">
                <a:solidFill>
                  <a:srgbClr val="1B3034"/>
                </a:solidFill>
                <a:latin typeface="Arial"/>
                <a:ea typeface="Arial"/>
                <a:cs typeface="Arial"/>
              </a:defRPr>
            </a:lvl1pPr>
            <a:lvl2pPr>
              <a:buNone/>
              <a:defRPr sz="2175" b="1">
                <a:solidFill>
                  <a:srgbClr val="1B3034"/>
                </a:solidFill>
                <a:latin typeface="Arial"/>
                <a:ea typeface="Arial"/>
                <a:cs typeface="Arial"/>
              </a:defRPr>
            </a:lvl2pPr>
            <a:lvl3pPr>
              <a:buNone/>
              <a:defRPr sz="2175" b="1">
                <a:solidFill>
                  <a:srgbClr val="1B3034"/>
                </a:solidFill>
                <a:latin typeface="Arial"/>
                <a:ea typeface="Arial"/>
                <a:cs typeface="Arial"/>
              </a:defRPr>
            </a:lvl3pPr>
            <a:lvl4pPr>
              <a:buNone/>
              <a:defRPr sz="2175" b="1">
                <a:solidFill>
                  <a:srgbClr val="1B3034"/>
                </a:solidFill>
                <a:latin typeface="Arial"/>
                <a:ea typeface="Arial"/>
                <a:cs typeface="Arial"/>
              </a:defRPr>
            </a:lvl4pPr>
            <a:lvl5pPr>
              <a:buNone/>
              <a:defRPr sz="2175" b="1">
                <a:solidFill>
                  <a:srgbClr val="1B3034"/>
                </a:solidFill>
                <a:latin typeface="Arial"/>
                <a:ea typeface="Arial"/>
                <a:cs typeface="Arial"/>
              </a:defRPr>
            </a:lvl5pPr>
            <a:lvl6pPr>
              <a:buNone/>
              <a:defRPr sz="2175" b="1">
                <a:solidFill>
                  <a:srgbClr val="1B3034"/>
                </a:solidFill>
                <a:latin typeface="Arial"/>
                <a:ea typeface="Arial"/>
                <a:cs typeface="Arial"/>
              </a:defRPr>
            </a:lvl6pPr>
            <a:lvl7pPr>
              <a:buNone/>
              <a:defRPr sz="2175" b="1">
                <a:solidFill>
                  <a:srgbClr val="1B3034"/>
                </a:solidFill>
                <a:latin typeface="Arial"/>
                <a:ea typeface="Arial"/>
                <a:cs typeface="Arial"/>
              </a:defRPr>
            </a:lvl7pPr>
            <a:lvl8pPr>
              <a:buNone/>
              <a:defRPr sz="2175" b="1">
                <a:solidFill>
                  <a:srgbClr val="1B3034"/>
                </a:solidFill>
                <a:latin typeface="Arial"/>
                <a:ea typeface="Arial"/>
                <a:cs typeface="Arial"/>
              </a:defRPr>
            </a:lvl8pPr>
            <a:lvl9pPr>
              <a:buNone/>
              <a:defRPr sz="2175" b="1">
                <a:solidFill>
                  <a:srgbClr val="1B3034"/>
                </a:solidFill>
                <a:latin typeface="Arial"/>
                <a:ea typeface="Arial"/>
                <a:cs typeface="Arial"/>
              </a:defRPr>
            </a:lvl9pPr>
          </a:lstStyle>
          <a:p xmlns:a="http://schemas.openxmlformats.org/drawingml/2006/main">
            <a:pPr>
              <a:buNone/>
              <a:defRPr sz="2175" b="1">
                <a:solidFill>
                  <a:srgbClr val="1B3034"/>
                </a:solidFill>
                <a:latin typeface="Arial"/>
                <a:ea typeface="Arial"/>
                <a:cs typeface="Arial"/>
              </a:defRPr>
            </a:pPr>
            <a:r>
              <a:rPr sz="2175" b="1">
                <a:solidFill>
                  <a:srgbClr val="1B3034"/>
                </a:solidFill>
                <a:latin typeface="Arial"/>
                <a:ea typeface="Arial"/>
                <a:cs typeface="Arial"/>
              </a:rPr>
              <a:t>SKLab</a:t>
            </a:r>
          </a:p>
        </p:txBody>
      </p:sp>
      <p:sp>
        <p:nvSpPr>
          <p:cNvPr id="6" name="cover-context">
            <a:extLst xmlns:a="http://schemas.openxmlformats.org/drawingml/2006/main">
              <a:ext uri="{FF2B5EF4-FFF2-40B4-BE49-F238E27FC236}">
                <a16:creationId xmlns:a16="http://schemas.microsoft.com/office/drawing/2014/main" id="{9BA5AB4E-E127-428B-8CF1-3312AA233A42}"/>
              </a:ext>
            </a:extLst>
          </p:cNvPr>
          <p:cNvSpPr>
            <a:spLocks xmlns:a="http://schemas.openxmlformats.org/drawingml/2006/main" noGrp="1"/>
          </p:cNvSpPr>
          <p:nvPr/>
        </p:nvSpPr>
        <p:spPr>
          <a:xfrm xmlns:a="http://schemas.openxmlformats.org/drawingml/2006/main">
            <a:off x="685800" y="536257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96A"/>
                </a:solidFill>
                <a:latin typeface="Arial"/>
                <a:ea typeface="Arial"/>
                <a:cs typeface="Arial"/>
              </a:defRPr>
            </a:defPPr>
            <a:lvl1pPr>
              <a:buNone/>
              <a:defRPr sz="1575" b="0">
                <a:solidFill>
                  <a:srgbClr val="52696A"/>
                </a:solidFill>
                <a:latin typeface="Arial"/>
                <a:ea typeface="Arial"/>
                <a:cs typeface="Arial"/>
              </a:defRPr>
            </a:lvl1pPr>
            <a:lvl2pPr>
              <a:buNone/>
              <a:defRPr sz="1575" b="0">
                <a:solidFill>
                  <a:srgbClr val="52696A"/>
                </a:solidFill>
                <a:latin typeface="Arial"/>
                <a:ea typeface="Arial"/>
                <a:cs typeface="Arial"/>
              </a:defRPr>
            </a:lvl2pPr>
            <a:lvl3pPr>
              <a:buNone/>
              <a:defRPr sz="1575" b="0">
                <a:solidFill>
                  <a:srgbClr val="52696A"/>
                </a:solidFill>
                <a:latin typeface="Arial"/>
                <a:ea typeface="Arial"/>
                <a:cs typeface="Arial"/>
              </a:defRPr>
            </a:lvl3pPr>
            <a:lvl4pPr>
              <a:buNone/>
              <a:defRPr sz="1575" b="0">
                <a:solidFill>
                  <a:srgbClr val="52696A"/>
                </a:solidFill>
                <a:latin typeface="Arial"/>
                <a:ea typeface="Arial"/>
                <a:cs typeface="Arial"/>
              </a:defRPr>
            </a:lvl4pPr>
            <a:lvl5pPr>
              <a:buNone/>
              <a:defRPr sz="1575" b="0">
                <a:solidFill>
                  <a:srgbClr val="52696A"/>
                </a:solidFill>
                <a:latin typeface="Arial"/>
                <a:ea typeface="Arial"/>
                <a:cs typeface="Arial"/>
              </a:defRPr>
            </a:lvl5pPr>
            <a:lvl6pPr>
              <a:buNone/>
              <a:defRPr sz="1575" b="0">
                <a:solidFill>
                  <a:srgbClr val="52696A"/>
                </a:solidFill>
                <a:latin typeface="Arial"/>
                <a:ea typeface="Arial"/>
                <a:cs typeface="Arial"/>
              </a:defRPr>
            </a:lvl6pPr>
            <a:lvl7pPr>
              <a:buNone/>
              <a:defRPr sz="1575" b="0">
                <a:solidFill>
                  <a:srgbClr val="52696A"/>
                </a:solidFill>
                <a:latin typeface="Arial"/>
                <a:ea typeface="Arial"/>
                <a:cs typeface="Arial"/>
              </a:defRPr>
            </a:lvl7pPr>
            <a:lvl8pPr>
              <a:buNone/>
              <a:defRPr sz="1575" b="0">
                <a:solidFill>
                  <a:srgbClr val="52696A"/>
                </a:solidFill>
                <a:latin typeface="Arial"/>
                <a:ea typeface="Arial"/>
                <a:cs typeface="Arial"/>
              </a:defRPr>
            </a:lvl8pPr>
            <a:lvl9pPr>
              <a:buNone/>
              <a:defRPr sz="1575" b="0">
                <a:solidFill>
                  <a:srgbClr val="52696A"/>
                </a:solidFill>
                <a:latin typeface="Arial"/>
                <a:ea typeface="Arial"/>
                <a:cs typeface="Arial"/>
              </a:defRPr>
            </a:lvl9pPr>
          </a:lstStyle>
          <a:p xmlns:a="http://schemas.openxmlformats.org/drawingml/2006/main">
            <a:pPr>
              <a:buNone/>
              <a:defRPr sz="1575" b="0">
                <a:solidFill>
                  <a:srgbClr val="52696A"/>
                </a:solidFill>
                <a:latin typeface="Arial"/>
                <a:ea typeface="Arial"/>
                <a:cs typeface="Arial"/>
              </a:defRPr>
            </a:pPr>
            <a:r>
              <a:rPr sz="1575" b="0">
                <a:solidFill>
                  <a:srgbClr val="52696A"/>
                </a:solidFill>
                <a:latin typeface="Arial"/>
                <a:ea typeface="Arial"/>
                <a:cs typeface="Arial"/>
              </a:rPr>
              <a:t>Topic E  /  SME Finance Copilot</a:t>
            </a:r>
          </a:p>
          <a:p xmlns:a="http://schemas.openxmlformats.org/drawingml/2006/main">
            <a:pPr>
              <a:buNone/>
              <a:defRPr sz="1575" b="0">
                <a:solidFill>
                  <a:srgbClr val="52696A"/>
                </a:solidFill>
                <a:latin typeface="Arial"/>
                <a:ea typeface="Arial"/>
                <a:cs typeface="Arial"/>
              </a:defRPr>
            </a:pPr>
            <a:r>
              <a:rPr sz="1575" b="0">
                <a:solidFill>
                  <a:srgbClr val="52696A"/>
                </a:solidFill>
                <a:latin typeface="Arial"/>
                <a:ea typeface="Arial"/>
                <a:cs typeface="Arial"/>
              </a:rPr>
              <a:t>2026 Shenzhen International FinTech Competition</a:t>
            </a:r>
          </a:p>
        </p:txBody>
      </p:sp>
      <p:pic>
        <p:nvPicPr>
          <p:cNvPr id="7" name="">
            <a:extLst xmlns:a="http://schemas.openxmlformats.org/drawingml/2006/main">
              <a:ext uri="{FF2B5EF4-FFF2-40B4-BE49-F238E27FC236}">
                <a16:creationId xmlns:a16="http://schemas.microsoft.com/office/drawing/2014/main" id="{94EC8FC3-4E04-42DC-B389-2B40A43D59B1}"/>
              </a:ext>
            </a:extLst>
          </p:cNvPr>
          <p:cNvPicPr>
            <a:picLocks xmlns:a="http://schemas.openxmlformats.org/drawingml/2006/main" noChangeAspect="1"/>
          </p:cNvPicPr>
          <p:nvPr/>
        </p:nvPicPr>
        <p:blipFill>
          <a:blip xmlns:r="http://schemas.openxmlformats.org/officeDocument/2006/relationships" xmlns:a="http://schemas.openxmlformats.org/drawingml/2006/main" r:embed="R0adbd190ee2e4383"/>
          <a:stretch xmlns:a="http://schemas.openxmlformats.org/drawingml/2006/main"/>
        </p:blipFill>
        <p:spPr>
          <a:xfrm xmlns:a="http://schemas.openxmlformats.org/drawingml/2006/main">
            <a:off x="6191250" y="1746250"/>
            <a:ext cx="5334000" cy="3556000"/>
          </a:xfrm>
          <a:prstGeom xmlns:a="http://schemas.openxmlformats.org/drawingml/2006/main" prst="rect">
            <a:avLst/>
          </a:prstGeom>
        </p:spPr>
      </p:pic>
      <p:sp>
        <p:nvSpPr>
          <p:cNvPr id="8" name="caption">
            <a:extLst xmlns:a="http://schemas.openxmlformats.org/drawingml/2006/main">
              <a:ext uri="{FF2B5EF4-FFF2-40B4-BE49-F238E27FC236}">
                <a16:creationId xmlns:a16="http://schemas.microsoft.com/office/drawing/2014/main" id="{65B2A529-4C7B-468A-96E7-8ACA0736C437}"/>
              </a:ext>
            </a:extLst>
          </p:cNvPr>
          <p:cNvSpPr>
            <a:spLocks xmlns:a="http://schemas.openxmlformats.org/drawingml/2006/main" noGrp="1"/>
          </p:cNvSpPr>
          <p:nvPr/>
        </p:nvSpPr>
        <p:spPr>
          <a:xfrm xmlns:a="http://schemas.openxmlformats.org/drawingml/2006/main">
            <a:off x="7715250" y="5676900"/>
            <a:ext cx="3143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Concept illustration</a:t>
            </a:r>
          </a:p>
        </p:txBody>
      </p:sp>
    </p:spTree>
    <p:extLst>
      <p:ext uri="{BB962C8B-B14F-4D97-AF65-F5344CB8AC3E}">
        <p14:creationId xmlns:p14="http://schemas.microsoft.com/office/powerpoint/2010/main" val="1280779236"/>
      </p:ext>
    </p:extLst>
  </p:cSld>
</p:sld>
</file>

<file path=ppt/slides/slide2.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9F26900-752C-4EE0-82C7-C9B2D0CEB3BF}"/>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The cash timing problem</a:t>
            </a:r>
          </a:p>
        </p:txBody>
      </p:sp>
      <p:sp>
        <p:nvSpPr>
          <p:cNvPr id="2" name="page-number">
            <a:extLst xmlns:a="http://schemas.openxmlformats.org/drawingml/2006/main">
              <a:ext uri="{FF2B5EF4-FFF2-40B4-BE49-F238E27FC236}">
                <a16:creationId xmlns:a16="http://schemas.microsoft.com/office/drawing/2014/main" id="{1FFA8BDF-0E46-4EB3-97C7-08BCB69935D0}"/>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02</a:t>
            </a:r>
          </a:p>
        </p:txBody>
      </p:sp>
      <p:sp>
        <p:nvSpPr>
          <p:cNvPr id="3" name="problem">
            <a:extLst xmlns:a="http://schemas.openxmlformats.org/drawingml/2006/main">
              <a:ext uri="{FF2B5EF4-FFF2-40B4-BE49-F238E27FC236}">
                <a16:creationId xmlns:a16="http://schemas.microsoft.com/office/drawing/2014/main" id="{CD917822-01D3-4EA7-9E4C-52F2D44BDDDE}"/>
              </a:ext>
            </a:extLst>
          </p:cNvPr>
          <p:cNvSpPr>
            <a:spLocks xmlns:a="http://schemas.openxmlformats.org/drawingml/2006/main" noGrp="1"/>
          </p:cNvSpPr>
          <p:nvPr/>
        </p:nvSpPr>
        <p:spPr>
          <a:xfrm xmlns:a="http://schemas.openxmlformats.org/drawingml/2006/main">
            <a:off x="685800" y="1724025"/>
            <a:ext cx="1028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B3034"/>
                </a:solidFill>
                <a:latin typeface="Arial"/>
                <a:ea typeface="Arial"/>
                <a:cs typeface="Arial"/>
              </a:defRPr>
            </a:defPPr>
            <a:lvl1pPr>
              <a:buNone/>
              <a:defRPr sz="3150" b="1">
                <a:solidFill>
                  <a:srgbClr val="1B3034"/>
                </a:solidFill>
                <a:latin typeface="Arial"/>
                <a:ea typeface="Arial"/>
                <a:cs typeface="Arial"/>
              </a:defRPr>
            </a:lvl1pPr>
            <a:lvl2pPr>
              <a:buNone/>
              <a:defRPr sz="3150" b="1">
                <a:solidFill>
                  <a:srgbClr val="1B3034"/>
                </a:solidFill>
                <a:latin typeface="Arial"/>
                <a:ea typeface="Arial"/>
                <a:cs typeface="Arial"/>
              </a:defRPr>
            </a:lvl2pPr>
            <a:lvl3pPr>
              <a:buNone/>
              <a:defRPr sz="3150" b="1">
                <a:solidFill>
                  <a:srgbClr val="1B3034"/>
                </a:solidFill>
                <a:latin typeface="Arial"/>
                <a:ea typeface="Arial"/>
                <a:cs typeface="Arial"/>
              </a:defRPr>
            </a:lvl3pPr>
            <a:lvl4pPr>
              <a:buNone/>
              <a:defRPr sz="3150" b="1">
                <a:solidFill>
                  <a:srgbClr val="1B3034"/>
                </a:solidFill>
                <a:latin typeface="Arial"/>
                <a:ea typeface="Arial"/>
                <a:cs typeface="Arial"/>
              </a:defRPr>
            </a:lvl4pPr>
            <a:lvl5pPr>
              <a:buNone/>
              <a:defRPr sz="3150" b="1">
                <a:solidFill>
                  <a:srgbClr val="1B3034"/>
                </a:solidFill>
                <a:latin typeface="Arial"/>
                <a:ea typeface="Arial"/>
                <a:cs typeface="Arial"/>
              </a:defRPr>
            </a:lvl5pPr>
            <a:lvl6pPr>
              <a:buNone/>
              <a:defRPr sz="3150" b="1">
                <a:solidFill>
                  <a:srgbClr val="1B3034"/>
                </a:solidFill>
                <a:latin typeface="Arial"/>
                <a:ea typeface="Arial"/>
                <a:cs typeface="Arial"/>
              </a:defRPr>
            </a:lvl6pPr>
            <a:lvl7pPr>
              <a:buNone/>
              <a:defRPr sz="3150" b="1">
                <a:solidFill>
                  <a:srgbClr val="1B3034"/>
                </a:solidFill>
                <a:latin typeface="Arial"/>
                <a:ea typeface="Arial"/>
                <a:cs typeface="Arial"/>
              </a:defRPr>
            </a:lvl7pPr>
            <a:lvl8pPr>
              <a:buNone/>
              <a:defRPr sz="3150" b="1">
                <a:solidFill>
                  <a:srgbClr val="1B3034"/>
                </a:solidFill>
                <a:latin typeface="Arial"/>
                <a:ea typeface="Arial"/>
                <a:cs typeface="Arial"/>
              </a:defRPr>
            </a:lvl8pPr>
            <a:lvl9pPr>
              <a:buNone/>
              <a:defRPr sz="3150" b="1">
                <a:solidFill>
                  <a:srgbClr val="1B3034"/>
                </a:solidFill>
                <a:latin typeface="Arial"/>
                <a:ea typeface="Arial"/>
                <a:cs typeface="Arial"/>
              </a:defRPr>
            </a:lvl9pPr>
          </a:lstStyle>
          <a:p xmlns:a="http://schemas.openxmlformats.org/drawingml/2006/main">
            <a:pPr>
              <a:buNone/>
              <a:defRPr sz="3150" b="1">
                <a:solidFill>
                  <a:srgbClr val="1B3034"/>
                </a:solidFill>
                <a:latin typeface="Arial"/>
                <a:ea typeface="Arial"/>
                <a:cs typeface="Arial"/>
              </a:defRPr>
            </a:pPr>
            <a:r>
              <a:rPr sz="3150" b="1">
                <a:solidFill>
                  <a:srgbClr val="1B3034"/>
                </a:solidFill>
                <a:latin typeface="Arial"/>
                <a:ea typeface="Arial"/>
                <a:cs typeface="Arial"/>
              </a:rPr>
              <a:t>An invoice can arrive after payroll is due</a:t>
            </a:r>
          </a:p>
        </p:txBody>
      </p:sp>
      <p:sp>
        <p:nvSpPr>
          <p:cNvPr id="4" name="usd-value">
            <a:extLst xmlns:a="http://schemas.openxmlformats.org/drawingml/2006/main">
              <a:ext uri="{FF2B5EF4-FFF2-40B4-BE49-F238E27FC236}">
                <a16:creationId xmlns:a16="http://schemas.microsoft.com/office/drawing/2014/main" id="{027B965D-690A-4277-910E-B01DF716866D}"/>
              </a:ext>
            </a:extLst>
          </p:cNvPr>
          <p:cNvSpPr>
            <a:spLocks xmlns:a="http://schemas.openxmlformats.org/drawingml/2006/main" noGrp="1"/>
          </p:cNvSpPr>
          <p:nvPr/>
        </p:nvSpPr>
        <p:spPr>
          <a:xfrm xmlns:a="http://schemas.openxmlformats.org/drawingml/2006/main">
            <a:off x="685800" y="31432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116754"/>
                </a:solidFill>
                <a:latin typeface="Arial"/>
                <a:ea typeface="Arial"/>
                <a:cs typeface="Arial"/>
              </a:defRPr>
            </a:defPPr>
            <a:lvl1pPr>
              <a:buNone/>
              <a:defRPr sz="4650" b="1">
                <a:solidFill>
                  <a:srgbClr val="116754"/>
                </a:solidFill>
                <a:latin typeface="Arial"/>
                <a:ea typeface="Arial"/>
                <a:cs typeface="Arial"/>
              </a:defRPr>
            </a:lvl1pPr>
            <a:lvl2pPr>
              <a:buNone/>
              <a:defRPr sz="4650" b="1">
                <a:solidFill>
                  <a:srgbClr val="116754"/>
                </a:solidFill>
                <a:latin typeface="Arial"/>
                <a:ea typeface="Arial"/>
                <a:cs typeface="Arial"/>
              </a:defRPr>
            </a:lvl2pPr>
            <a:lvl3pPr>
              <a:buNone/>
              <a:defRPr sz="4650" b="1">
                <a:solidFill>
                  <a:srgbClr val="116754"/>
                </a:solidFill>
                <a:latin typeface="Arial"/>
                <a:ea typeface="Arial"/>
                <a:cs typeface="Arial"/>
              </a:defRPr>
            </a:lvl3pPr>
            <a:lvl4pPr>
              <a:buNone/>
              <a:defRPr sz="4650" b="1">
                <a:solidFill>
                  <a:srgbClr val="116754"/>
                </a:solidFill>
                <a:latin typeface="Arial"/>
                <a:ea typeface="Arial"/>
                <a:cs typeface="Arial"/>
              </a:defRPr>
            </a:lvl4pPr>
            <a:lvl5pPr>
              <a:buNone/>
              <a:defRPr sz="4650" b="1">
                <a:solidFill>
                  <a:srgbClr val="116754"/>
                </a:solidFill>
                <a:latin typeface="Arial"/>
                <a:ea typeface="Arial"/>
                <a:cs typeface="Arial"/>
              </a:defRPr>
            </a:lvl5pPr>
            <a:lvl6pPr>
              <a:buNone/>
              <a:defRPr sz="4650" b="1">
                <a:solidFill>
                  <a:srgbClr val="116754"/>
                </a:solidFill>
                <a:latin typeface="Arial"/>
                <a:ea typeface="Arial"/>
                <a:cs typeface="Arial"/>
              </a:defRPr>
            </a:lvl6pPr>
            <a:lvl7pPr>
              <a:buNone/>
              <a:defRPr sz="4650" b="1">
                <a:solidFill>
                  <a:srgbClr val="116754"/>
                </a:solidFill>
                <a:latin typeface="Arial"/>
                <a:ea typeface="Arial"/>
                <a:cs typeface="Arial"/>
              </a:defRPr>
            </a:lvl7pPr>
            <a:lvl8pPr>
              <a:buNone/>
              <a:defRPr sz="4650" b="1">
                <a:solidFill>
                  <a:srgbClr val="116754"/>
                </a:solidFill>
                <a:latin typeface="Arial"/>
                <a:ea typeface="Arial"/>
                <a:cs typeface="Arial"/>
              </a:defRPr>
            </a:lvl8pPr>
            <a:lvl9pPr>
              <a:buNone/>
              <a:defRPr sz="4650" b="1">
                <a:solidFill>
                  <a:srgbClr val="116754"/>
                </a:solidFill>
                <a:latin typeface="Arial"/>
                <a:ea typeface="Arial"/>
                <a:cs typeface="Arial"/>
              </a:defRPr>
            </a:lvl9pPr>
          </a:lstStyle>
          <a:p xmlns:a="http://schemas.openxmlformats.org/drawingml/2006/main">
            <a:pPr>
              <a:buNone/>
              <a:defRPr sz="4650" b="1">
                <a:solidFill>
                  <a:srgbClr val="116754"/>
                </a:solidFill>
                <a:latin typeface="Arial"/>
                <a:ea typeface="Arial"/>
                <a:cs typeface="Arial"/>
              </a:defRPr>
            </a:pPr>
            <a:r>
              <a:rPr sz="4650" b="1">
                <a:solidFill>
                  <a:srgbClr val="116754"/>
                </a:solidFill>
                <a:latin typeface="Arial"/>
                <a:ea typeface="Arial"/>
                <a:cs typeface="Arial"/>
              </a:rPr>
              <a:t>USD 10,000</a:t>
            </a:r>
          </a:p>
        </p:txBody>
      </p:sp>
      <p:sp>
        <p:nvSpPr>
          <p:cNvPr id="5" name="usd-label">
            <a:extLst xmlns:a="http://schemas.openxmlformats.org/drawingml/2006/main">
              <a:ext uri="{FF2B5EF4-FFF2-40B4-BE49-F238E27FC236}">
                <a16:creationId xmlns:a16="http://schemas.microsoft.com/office/drawing/2014/main" id="{4F804496-EA3C-4694-AC9E-7DFA7D706EE2}"/>
              </a:ext>
            </a:extLst>
          </p:cNvPr>
          <p:cNvSpPr>
            <a:spLocks xmlns:a="http://schemas.openxmlformats.org/drawingml/2006/main" noGrp="1"/>
          </p:cNvSpPr>
          <p:nvPr/>
        </p:nvSpPr>
        <p:spPr>
          <a:xfrm xmlns:a="http://schemas.openxmlformats.org/drawingml/2006/main">
            <a:off x="685800" y="40195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96A"/>
                </a:solidFill>
                <a:latin typeface="Arial"/>
                <a:ea typeface="Arial"/>
                <a:cs typeface="Arial"/>
              </a:defRPr>
            </a:defPPr>
            <a:lvl1pPr>
              <a:buNone/>
              <a:defRPr sz="1950" b="0">
                <a:solidFill>
                  <a:srgbClr val="52696A"/>
                </a:solidFill>
                <a:latin typeface="Arial"/>
                <a:ea typeface="Arial"/>
                <a:cs typeface="Arial"/>
              </a:defRPr>
            </a:lvl1pPr>
            <a:lvl2pPr>
              <a:buNone/>
              <a:defRPr sz="1950" b="0">
                <a:solidFill>
                  <a:srgbClr val="52696A"/>
                </a:solidFill>
                <a:latin typeface="Arial"/>
                <a:ea typeface="Arial"/>
                <a:cs typeface="Arial"/>
              </a:defRPr>
            </a:lvl2pPr>
            <a:lvl3pPr>
              <a:buNone/>
              <a:defRPr sz="1950" b="0">
                <a:solidFill>
                  <a:srgbClr val="52696A"/>
                </a:solidFill>
                <a:latin typeface="Arial"/>
                <a:ea typeface="Arial"/>
                <a:cs typeface="Arial"/>
              </a:defRPr>
            </a:lvl3pPr>
            <a:lvl4pPr>
              <a:buNone/>
              <a:defRPr sz="1950" b="0">
                <a:solidFill>
                  <a:srgbClr val="52696A"/>
                </a:solidFill>
                <a:latin typeface="Arial"/>
                <a:ea typeface="Arial"/>
                <a:cs typeface="Arial"/>
              </a:defRPr>
            </a:lvl4pPr>
            <a:lvl5pPr>
              <a:buNone/>
              <a:defRPr sz="1950" b="0">
                <a:solidFill>
                  <a:srgbClr val="52696A"/>
                </a:solidFill>
                <a:latin typeface="Arial"/>
                <a:ea typeface="Arial"/>
                <a:cs typeface="Arial"/>
              </a:defRPr>
            </a:lvl5pPr>
            <a:lvl6pPr>
              <a:buNone/>
              <a:defRPr sz="1950" b="0">
                <a:solidFill>
                  <a:srgbClr val="52696A"/>
                </a:solidFill>
                <a:latin typeface="Arial"/>
                <a:ea typeface="Arial"/>
                <a:cs typeface="Arial"/>
              </a:defRPr>
            </a:lvl6pPr>
            <a:lvl7pPr>
              <a:buNone/>
              <a:defRPr sz="1950" b="0">
                <a:solidFill>
                  <a:srgbClr val="52696A"/>
                </a:solidFill>
                <a:latin typeface="Arial"/>
                <a:ea typeface="Arial"/>
                <a:cs typeface="Arial"/>
              </a:defRPr>
            </a:lvl7pPr>
            <a:lvl8pPr>
              <a:buNone/>
              <a:defRPr sz="1950" b="0">
                <a:solidFill>
                  <a:srgbClr val="52696A"/>
                </a:solidFill>
                <a:latin typeface="Arial"/>
                <a:ea typeface="Arial"/>
                <a:cs typeface="Arial"/>
              </a:defRPr>
            </a:lvl8pPr>
            <a:lvl9pPr>
              <a:buNone/>
              <a:defRPr sz="1950" b="0">
                <a:solidFill>
                  <a:srgbClr val="52696A"/>
                </a:solidFill>
                <a:latin typeface="Arial"/>
                <a:ea typeface="Arial"/>
                <a:cs typeface="Arial"/>
              </a:defRPr>
            </a:lvl9pPr>
          </a:lstStyle>
          <a:p xmlns:a="http://schemas.openxmlformats.org/drawingml/2006/main">
            <a:pPr>
              <a:buNone/>
              <a:defRPr sz="1950" b="0">
                <a:solidFill>
                  <a:srgbClr val="52696A"/>
                </a:solidFill>
                <a:latin typeface="Arial"/>
                <a:ea typeface="Arial"/>
                <a:cs typeface="Arial"/>
              </a:defRPr>
            </a:pPr>
            <a:r>
              <a:rPr sz="1950" b="0">
                <a:solidFill>
                  <a:srgbClr val="52696A"/>
                </a:solidFill>
                <a:latin typeface="Arial"/>
                <a:ea typeface="Arial"/>
                <a:cs typeface="Arial"/>
              </a:rPr>
              <a:t>Recorded USD cash</a:t>
            </a:r>
          </a:p>
        </p:txBody>
      </p:sp>
      <p:sp>
        <p:nvSpPr>
          <p:cNvPr id="6" name="eur-value">
            <a:extLst xmlns:a="http://schemas.openxmlformats.org/drawingml/2006/main">
              <a:ext uri="{FF2B5EF4-FFF2-40B4-BE49-F238E27FC236}">
                <a16:creationId xmlns:a16="http://schemas.microsoft.com/office/drawing/2014/main" id="{D9AA6236-7DC7-49B6-A04A-DF28713EEB75}"/>
              </a:ext>
            </a:extLst>
          </p:cNvPr>
          <p:cNvSpPr>
            <a:spLocks xmlns:a="http://schemas.openxmlformats.org/drawingml/2006/main" noGrp="1"/>
          </p:cNvSpPr>
          <p:nvPr/>
        </p:nvSpPr>
        <p:spPr>
          <a:xfrm xmlns:a="http://schemas.openxmlformats.org/drawingml/2006/main">
            <a:off x="6819900" y="3143250"/>
            <a:ext cx="468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1B3034"/>
                </a:solidFill>
                <a:latin typeface="Arial"/>
                <a:ea typeface="Arial"/>
                <a:cs typeface="Arial"/>
              </a:defRPr>
            </a:defPPr>
            <a:lvl1pPr>
              <a:buNone/>
              <a:defRPr sz="4650" b="1">
                <a:solidFill>
                  <a:srgbClr val="1B3034"/>
                </a:solidFill>
                <a:latin typeface="Arial"/>
                <a:ea typeface="Arial"/>
                <a:cs typeface="Arial"/>
              </a:defRPr>
            </a:lvl1pPr>
            <a:lvl2pPr>
              <a:buNone/>
              <a:defRPr sz="4650" b="1">
                <a:solidFill>
                  <a:srgbClr val="1B3034"/>
                </a:solidFill>
                <a:latin typeface="Arial"/>
                <a:ea typeface="Arial"/>
                <a:cs typeface="Arial"/>
              </a:defRPr>
            </a:lvl2pPr>
            <a:lvl3pPr>
              <a:buNone/>
              <a:defRPr sz="4650" b="1">
                <a:solidFill>
                  <a:srgbClr val="1B3034"/>
                </a:solidFill>
                <a:latin typeface="Arial"/>
                <a:ea typeface="Arial"/>
                <a:cs typeface="Arial"/>
              </a:defRPr>
            </a:lvl3pPr>
            <a:lvl4pPr>
              <a:buNone/>
              <a:defRPr sz="4650" b="1">
                <a:solidFill>
                  <a:srgbClr val="1B3034"/>
                </a:solidFill>
                <a:latin typeface="Arial"/>
                <a:ea typeface="Arial"/>
                <a:cs typeface="Arial"/>
              </a:defRPr>
            </a:lvl4pPr>
            <a:lvl5pPr>
              <a:buNone/>
              <a:defRPr sz="4650" b="1">
                <a:solidFill>
                  <a:srgbClr val="1B3034"/>
                </a:solidFill>
                <a:latin typeface="Arial"/>
                <a:ea typeface="Arial"/>
                <a:cs typeface="Arial"/>
              </a:defRPr>
            </a:lvl5pPr>
            <a:lvl6pPr>
              <a:buNone/>
              <a:defRPr sz="4650" b="1">
                <a:solidFill>
                  <a:srgbClr val="1B3034"/>
                </a:solidFill>
                <a:latin typeface="Arial"/>
                <a:ea typeface="Arial"/>
                <a:cs typeface="Arial"/>
              </a:defRPr>
            </a:lvl6pPr>
            <a:lvl7pPr>
              <a:buNone/>
              <a:defRPr sz="4650" b="1">
                <a:solidFill>
                  <a:srgbClr val="1B3034"/>
                </a:solidFill>
                <a:latin typeface="Arial"/>
                <a:ea typeface="Arial"/>
                <a:cs typeface="Arial"/>
              </a:defRPr>
            </a:lvl7pPr>
            <a:lvl8pPr>
              <a:buNone/>
              <a:defRPr sz="4650" b="1">
                <a:solidFill>
                  <a:srgbClr val="1B3034"/>
                </a:solidFill>
                <a:latin typeface="Arial"/>
                <a:ea typeface="Arial"/>
                <a:cs typeface="Arial"/>
              </a:defRPr>
            </a:lvl8pPr>
            <a:lvl9pPr>
              <a:buNone/>
              <a:defRPr sz="4650" b="1">
                <a:solidFill>
                  <a:srgbClr val="1B3034"/>
                </a:solidFill>
                <a:latin typeface="Arial"/>
                <a:ea typeface="Arial"/>
                <a:cs typeface="Arial"/>
              </a:defRPr>
            </a:lvl9pPr>
          </a:lstStyle>
          <a:p xmlns:a="http://schemas.openxmlformats.org/drawingml/2006/main">
            <a:pPr>
              <a:buNone/>
              <a:defRPr sz="4650" b="1">
                <a:solidFill>
                  <a:srgbClr val="1B3034"/>
                </a:solidFill>
                <a:latin typeface="Arial"/>
                <a:ea typeface="Arial"/>
                <a:cs typeface="Arial"/>
              </a:defRPr>
            </a:pPr>
            <a:r>
              <a:rPr sz="4650" b="1">
                <a:solidFill>
                  <a:srgbClr val="1B3034"/>
                </a:solidFill>
                <a:latin typeface="Arial"/>
                <a:ea typeface="Arial"/>
                <a:cs typeface="Arial"/>
              </a:rPr>
              <a:t>EUR 1,000</a:t>
            </a:r>
          </a:p>
        </p:txBody>
      </p:sp>
      <p:sp>
        <p:nvSpPr>
          <p:cNvPr id="7" name="eur-label">
            <a:extLst xmlns:a="http://schemas.openxmlformats.org/drawingml/2006/main">
              <a:ext uri="{FF2B5EF4-FFF2-40B4-BE49-F238E27FC236}">
                <a16:creationId xmlns:a16="http://schemas.microsoft.com/office/drawing/2014/main" id="{D6F5CBEE-7299-47CA-83AC-AA95189B3415}"/>
              </a:ext>
            </a:extLst>
          </p:cNvPr>
          <p:cNvSpPr>
            <a:spLocks xmlns:a="http://schemas.openxmlformats.org/drawingml/2006/main" noGrp="1"/>
          </p:cNvSpPr>
          <p:nvPr/>
        </p:nvSpPr>
        <p:spPr>
          <a:xfrm xmlns:a="http://schemas.openxmlformats.org/drawingml/2006/main">
            <a:off x="6819900" y="4019550"/>
            <a:ext cx="4686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96A"/>
                </a:solidFill>
                <a:latin typeface="Arial"/>
                <a:ea typeface="Arial"/>
                <a:cs typeface="Arial"/>
              </a:defRPr>
            </a:defPPr>
            <a:lvl1pPr>
              <a:buNone/>
              <a:defRPr sz="1950" b="0">
                <a:solidFill>
                  <a:srgbClr val="52696A"/>
                </a:solidFill>
                <a:latin typeface="Arial"/>
                <a:ea typeface="Arial"/>
                <a:cs typeface="Arial"/>
              </a:defRPr>
            </a:lvl1pPr>
            <a:lvl2pPr>
              <a:buNone/>
              <a:defRPr sz="1950" b="0">
                <a:solidFill>
                  <a:srgbClr val="52696A"/>
                </a:solidFill>
                <a:latin typeface="Arial"/>
                <a:ea typeface="Arial"/>
                <a:cs typeface="Arial"/>
              </a:defRPr>
            </a:lvl2pPr>
            <a:lvl3pPr>
              <a:buNone/>
              <a:defRPr sz="1950" b="0">
                <a:solidFill>
                  <a:srgbClr val="52696A"/>
                </a:solidFill>
                <a:latin typeface="Arial"/>
                <a:ea typeface="Arial"/>
                <a:cs typeface="Arial"/>
              </a:defRPr>
            </a:lvl3pPr>
            <a:lvl4pPr>
              <a:buNone/>
              <a:defRPr sz="1950" b="0">
                <a:solidFill>
                  <a:srgbClr val="52696A"/>
                </a:solidFill>
                <a:latin typeface="Arial"/>
                <a:ea typeface="Arial"/>
                <a:cs typeface="Arial"/>
              </a:defRPr>
            </a:lvl4pPr>
            <a:lvl5pPr>
              <a:buNone/>
              <a:defRPr sz="1950" b="0">
                <a:solidFill>
                  <a:srgbClr val="52696A"/>
                </a:solidFill>
                <a:latin typeface="Arial"/>
                <a:ea typeface="Arial"/>
                <a:cs typeface="Arial"/>
              </a:defRPr>
            </a:lvl5pPr>
            <a:lvl6pPr>
              <a:buNone/>
              <a:defRPr sz="1950" b="0">
                <a:solidFill>
                  <a:srgbClr val="52696A"/>
                </a:solidFill>
                <a:latin typeface="Arial"/>
                <a:ea typeface="Arial"/>
                <a:cs typeface="Arial"/>
              </a:defRPr>
            </a:lvl6pPr>
            <a:lvl7pPr>
              <a:buNone/>
              <a:defRPr sz="1950" b="0">
                <a:solidFill>
                  <a:srgbClr val="52696A"/>
                </a:solidFill>
                <a:latin typeface="Arial"/>
                <a:ea typeface="Arial"/>
                <a:cs typeface="Arial"/>
              </a:defRPr>
            </a:lvl7pPr>
            <a:lvl8pPr>
              <a:buNone/>
              <a:defRPr sz="1950" b="0">
                <a:solidFill>
                  <a:srgbClr val="52696A"/>
                </a:solidFill>
                <a:latin typeface="Arial"/>
                <a:ea typeface="Arial"/>
                <a:cs typeface="Arial"/>
              </a:defRPr>
            </a:lvl8pPr>
            <a:lvl9pPr>
              <a:buNone/>
              <a:defRPr sz="1950" b="0">
                <a:solidFill>
                  <a:srgbClr val="52696A"/>
                </a:solidFill>
                <a:latin typeface="Arial"/>
                <a:ea typeface="Arial"/>
                <a:cs typeface="Arial"/>
              </a:defRPr>
            </a:lvl9pPr>
          </a:lstStyle>
          <a:p xmlns:a="http://schemas.openxmlformats.org/drawingml/2006/main">
            <a:pPr>
              <a:buNone/>
              <a:defRPr sz="1950" b="0">
                <a:solidFill>
                  <a:srgbClr val="52696A"/>
                </a:solidFill>
                <a:latin typeface="Arial"/>
                <a:ea typeface="Arial"/>
                <a:cs typeface="Arial"/>
              </a:defRPr>
            </a:pPr>
            <a:r>
              <a:rPr sz="1950" b="0">
                <a:solidFill>
                  <a:srgbClr val="52696A"/>
                </a:solidFill>
                <a:latin typeface="Arial"/>
                <a:ea typeface="Arial"/>
                <a:cs typeface="Arial"/>
              </a:rPr>
              <a:t>A separate currency balance</a:t>
            </a:r>
          </a:p>
        </p:txBody>
      </p:sp>
      <p:sp>
        <p:nvSpPr>
          <p:cNvPr id="8" name="problem-question">
            <a:extLst xmlns:a="http://schemas.openxmlformats.org/drawingml/2006/main">
              <a:ext uri="{FF2B5EF4-FFF2-40B4-BE49-F238E27FC236}">
                <a16:creationId xmlns:a16="http://schemas.microsoft.com/office/drawing/2014/main" id="{87D91A5B-5173-4AC6-95C5-A84ED72CE500}"/>
              </a:ext>
            </a:extLst>
          </p:cNvPr>
          <p:cNvSpPr>
            <a:spLocks xmlns:a="http://schemas.openxmlformats.org/drawingml/2006/main" noGrp="1"/>
          </p:cNvSpPr>
          <p:nvPr/>
        </p:nvSpPr>
        <p:spPr>
          <a:xfrm xmlns:a="http://schemas.openxmlformats.org/drawingml/2006/main">
            <a:off x="685800" y="509587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B3034"/>
                </a:solidFill>
                <a:latin typeface="Arial"/>
                <a:ea typeface="Arial"/>
                <a:cs typeface="Arial"/>
              </a:defRPr>
            </a:defPPr>
            <a:lvl1pPr>
              <a:buNone/>
              <a:defRPr sz="2325" b="0">
                <a:solidFill>
                  <a:srgbClr val="1B3034"/>
                </a:solidFill>
                <a:latin typeface="Arial"/>
                <a:ea typeface="Arial"/>
                <a:cs typeface="Arial"/>
              </a:defRPr>
            </a:lvl1pPr>
            <a:lvl2pPr>
              <a:buNone/>
              <a:defRPr sz="2325" b="0">
                <a:solidFill>
                  <a:srgbClr val="1B3034"/>
                </a:solidFill>
                <a:latin typeface="Arial"/>
                <a:ea typeface="Arial"/>
                <a:cs typeface="Arial"/>
              </a:defRPr>
            </a:lvl2pPr>
            <a:lvl3pPr>
              <a:buNone/>
              <a:defRPr sz="2325" b="0">
                <a:solidFill>
                  <a:srgbClr val="1B3034"/>
                </a:solidFill>
                <a:latin typeface="Arial"/>
                <a:ea typeface="Arial"/>
                <a:cs typeface="Arial"/>
              </a:defRPr>
            </a:lvl3pPr>
            <a:lvl4pPr>
              <a:buNone/>
              <a:defRPr sz="2325" b="0">
                <a:solidFill>
                  <a:srgbClr val="1B3034"/>
                </a:solidFill>
                <a:latin typeface="Arial"/>
                <a:ea typeface="Arial"/>
                <a:cs typeface="Arial"/>
              </a:defRPr>
            </a:lvl4pPr>
            <a:lvl5pPr>
              <a:buNone/>
              <a:defRPr sz="2325" b="0">
                <a:solidFill>
                  <a:srgbClr val="1B3034"/>
                </a:solidFill>
                <a:latin typeface="Arial"/>
                <a:ea typeface="Arial"/>
                <a:cs typeface="Arial"/>
              </a:defRPr>
            </a:lvl5pPr>
            <a:lvl6pPr>
              <a:buNone/>
              <a:defRPr sz="2325" b="0">
                <a:solidFill>
                  <a:srgbClr val="1B3034"/>
                </a:solidFill>
                <a:latin typeface="Arial"/>
                <a:ea typeface="Arial"/>
                <a:cs typeface="Arial"/>
              </a:defRPr>
            </a:lvl6pPr>
            <a:lvl7pPr>
              <a:buNone/>
              <a:defRPr sz="2325" b="0">
                <a:solidFill>
                  <a:srgbClr val="1B3034"/>
                </a:solidFill>
                <a:latin typeface="Arial"/>
                <a:ea typeface="Arial"/>
                <a:cs typeface="Arial"/>
              </a:defRPr>
            </a:lvl7pPr>
            <a:lvl8pPr>
              <a:buNone/>
              <a:defRPr sz="2325" b="0">
                <a:solidFill>
                  <a:srgbClr val="1B3034"/>
                </a:solidFill>
                <a:latin typeface="Arial"/>
                <a:ea typeface="Arial"/>
                <a:cs typeface="Arial"/>
              </a:defRPr>
            </a:lvl8pPr>
            <a:lvl9pPr>
              <a:buNone/>
              <a:defRPr sz="2325" b="0">
                <a:solidFill>
                  <a:srgbClr val="1B3034"/>
                </a:solidFill>
                <a:latin typeface="Arial"/>
                <a:ea typeface="Arial"/>
                <a:cs typeface="Arial"/>
              </a:defRPr>
            </a:lvl9pPr>
          </a:lstStyle>
          <a:p xmlns:a="http://schemas.openxmlformats.org/drawingml/2006/main">
            <a:pPr>
              <a:buNone/>
              <a:defRPr sz="2325" b="0">
                <a:solidFill>
                  <a:srgbClr val="1B3034"/>
                </a:solidFill>
                <a:latin typeface="Arial"/>
                <a:ea typeface="Arial"/>
                <a:cs typeface="Arial"/>
              </a:defRPr>
            </a:pPr>
            <a:r>
              <a:rPr sz="2325" b="0">
                <a:solidFill>
                  <a:srgbClr val="1B3034"/>
                </a:solidFill>
                <a:latin typeface="Arial"/>
                <a:ea typeface="Arial"/>
                <a:cs typeface="Arial"/>
              </a:rPr>
              <a:t>Will the business stay above its cash floor before the next collection?</a:t>
            </a:r>
          </a:p>
        </p:txBody>
      </p:sp>
      <p:sp>
        <p:nvSpPr>
          <p:cNvPr id="9" name="caption">
            <a:extLst xmlns:a="http://schemas.openxmlformats.org/drawingml/2006/main">
              <a:ext uri="{FF2B5EF4-FFF2-40B4-BE49-F238E27FC236}">
                <a16:creationId xmlns:a16="http://schemas.microsoft.com/office/drawing/2014/main" id="{9FC0E855-66B0-4E93-A21B-640B8BFFF1FD}"/>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Synthetic Atlas example, snapshot 16 October 2026. Expected collections remain conditional.</a:t>
            </a:r>
          </a:p>
        </p:txBody>
      </p:sp>
    </p:spTree>
    <p:extLst>
      <p:ext uri="{BB962C8B-B14F-4D97-AF65-F5344CB8AC3E}">
        <p14:creationId xmlns:p14="http://schemas.microsoft.com/office/powerpoint/2010/main" val="2097030785"/>
      </p:ext>
    </p:extLst>
  </p:cSld>
</p:sld>
</file>

<file path=ppt/slides/slide3.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A94D109-15C7-4440-9EF4-8A8D1090CC4B}"/>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The owner workspace</a:t>
            </a:r>
          </a:p>
        </p:txBody>
      </p:sp>
      <p:sp>
        <p:nvSpPr>
          <p:cNvPr id="2" name="page-number">
            <a:extLst xmlns:a="http://schemas.openxmlformats.org/drawingml/2006/main">
              <a:ext uri="{FF2B5EF4-FFF2-40B4-BE49-F238E27FC236}">
                <a16:creationId xmlns:a16="http://schemas.microsoft.com/office/drawing/2014/main" id="{C109923C-F75E-4C1A-ACF8-6F2367D1D8A8}"/>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03</a:t>
            </a:r>
          </a:p>
        </p:txBody>
      </p:sp>
      <p:sp>
        <p:nvSpPr>
          <p:cNvPr id="3" name="workspace-value">
            <a:extLst xmlns:a="http://schemas.openxmlformats.org/drawingml/2006/main">
              <a:ext uri="{FF2B5EF4-FFF2-40B4-BE49-F238E27FC236}">
                <a16:creationId xmlns:a16="http://schemas.microsoft.com/office/drawing/2014/main" id="{74942187-B142-4F26-B59E-BC5472D0638D}"/>
              </a:ext>
            </a:extLst>
          </p:cNvPr>
          <p:cNvSpPr>
            <a:spLocks xmlns:a="http://schemas.openxmlformats.org/drawingml/2006/main" noGrp="1"/>
          </p:cNvSpPr>
          <p:nvPr/>
        </p:nvSpPr>
        <p:spPr>
          <a:xfrm xmlns:a="http://schemas.openxmlformats.org/drawingml/2006/main">
            <a:off x="685800" y="182880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16754"/>
                </a:solidFill>
                <a:latin typeface="Arial"/>
                <a:ea typeface="Arial"/>
                <a:cs typeface="Arial"/>
              </a:defRPr>
            </a:defPPr>
            <a:lvl1pPr>
              <a:buNone/>
              <a:defRPr sz="2850" b="1">
                <a:solidFill>
                  <a:srgbClr val="116754"/>
                </a:solidFill>
                <a:latin typeface="Arial"/>
                <a:ea typeface="Arial"/>
                <a:cs typeface="Arial"/>
              </a:defRPr>
            </a:lvl1pPr>
            <a:lvl2pPr>
              <a:buNone/>
              <a:defRPr sz="2850" b="1">
                <a:solidFill>
                  <a:srgbClr val="116754"/>
                </a:solidFill>
                <a:latin typeface="Arial"/>
                <a:ea typeface="Arial"/>
                <a:cs typeface="Arial"/>
              </a:defRPr>
            </a:lvl2pPr>
            <a:lvl3pPr>
              <a:buNone/>
              <a:defRPr sz="2850" b="1">
                <a:solidFill>
                  <a:srgbClr val="116754"/>
                </a:solidFill>
                <a:latin typeface="Arial"/>
                <a:ea typeface="Arial"/>
                <a:cs typeface="Arial"/>
              </a:defRPr>
            </a:lvl3pPr>
            <a:lvl4pPr>
              <a:buNone/>
              <a:defRPr sz="2850" b="1">
                <a:solidFill>
                  <a:srgbClr val="116754"/>
                </a:solidFill>
                <a:latin typeface="Arial"/>
                <a:ea typeface="Arial"/>
                <a:cs typeface="Arial"/>
              </a:defRPr>
            </a:lvl4pPr>
            <a:lvl5pPr>
              <a:buNone/>
              <a:defRPr sz="2850" b="1">
                <a:solidFill>
                  <a:srgbClr val="116754"/>
                </a:solidFill>
                <a:latin typeface="Arial"/>
                <a:ea typeface="Arial"/>
                <a:cs typeface="Arial"/>
              </a:defRPr>
            </a:lvl5pPr>
            <a:lvl6pPr>
              <a:buNone/>
              <a:defRPr sz="2850" b="1">
                <a:solidFill>
                  <a:srgbClr val="116754"/>
                </a:solidFill>
                <a:latin typeface="Arial"/>
                <a:ea typeface="Arial"/>
                <a:cs typeface="Arial"/>
              </a:defRPr>
            </a:lvl6pPr>
            <a:lvl7pPr>
              <a:buNone/>
              <a:defRPr sz="2850" b="1">
                <a:solidFill>
                  <a:srgbClr val="116754"/>
                </a:solidFill>
                <a:latin typeface="Arial"/>
                <a:ea typeface="Arial"/>
                <a:cs typeface="Arial"/>
              </a:defRPr>
            </a:lvl7pPr>
            <a:lvl8pPr>
              <a:buNone/>
              <a:defRPr sz="2850" b="1">
                <a:solidFill>
                  <a:srgbClr val="116754"/>
                </a:solidFill>
                <a:latin typeface="Arial"/>
                <a:ea typeface="Arial"/>
                <a:cs typeface="Arial"/>
              </a:defRPr>
            </a:lvl8pPr>
            <a:lvl9pPr>
              <a:buNone/>
              <a:defRPr sz="2850" b="1">
                <a:solidFill>
                  <a:srgbClr val="116754"/>
                </a:solidFill>
                <a:latin typeface="Arial"/>
                <a:ea typeface="Arial"/>
                <a:cs typeface="Arial"/>
              </a:defRPr>
            </a:lvl9pPr>
          </a:lstStyle>
          <a:p xmlns:a="http://schemas.openxmlformats.org/drawingml/2006/main">
            <a:pPr>
              <a:buNone/>
              <a:defRPr sz="2850" b="1">
                <a:solidFill>
                  <a:srgbClr val="116754"/>
                </a:solidFill>
                <a:latin typeface="Arial"/>
                <a:ea typeface="Arial"/>
                <a:cs typeface="Arial"/>
              </a:defRPr>
            </a:pPr>
            <a:r>
              <a:rPr sz="2850" b="1">
                <a:solidFill>
                  <a:srgbClr val="116754"/>
                </a:solidFill>
                <a:latin typeface="Arial"/>
                <a:ea typeface="Arial"/>
                <a:cs typeface="Arial"/>
              </a:rPr>
              <a:t>One place to inspect</a:t>
            </a:r>
          </a:p>
          <a:p xmlns:a="http://schemas.openxmlformats.org/drawingml/2006/main">
            <a:pPr>
              <a:buNone/>
              <a:defRPr sz="2850" b="1">
                <a:solidFill>
                  <a:srgbClr val="116754"/>
                </a:solidFill>
                <a:latin typeface="Arial"/>
                <a:ea typeface="Arial"/>
                <a:cs typeface="Arial"/>
              </a:defRPr>
            </a:pPr>
            <a:r>
              <a:rPr sz="2850" b="1">
                <a:solidFill>
                  <a:srgbClr val="116754"/>
                </a:solidFill>
                <a:latin typeface="Arial"/>
                <a:ea typeface="Arial"/>
                <a:cs typeface="Arial"/>
              </a:rPr>
              <a:t>the next decision</a:t>
            </a:r>
          </a:p>
        </p:txBody>
      </p:sp>
      <p:sp>
        <p:nvSpPr>
          <p:cNvPr id="4" name="workspace-copy">
            <a:extLst xmlns:a="http://schemas.openxmlformats.org/drawingml/2006/main">
              <a:ext uri="{FF2B5EF4-FFF2-40B4-BE49-F238E27FC236}">
                <a16:creationId xmlns:a16="http://schemas.microsoft.com/office/drawing/2014/main" id="{583C2B2D-8E2A-4999-BCF9-07FD0DD6EDBB}"/>
              </a:ext>
            </a:extLst>
          </p:cNvPr>
          <p:cNvSpPr>
            <a:spLocks xmlns:a="http://schemas.openxmlformats.org/drawingml/2006/main" noGrp="1"/>
          </p:cNvSpPr>
          <p:nvPr/>
        </p:nvSpPr>
        <p:spPr>
          <a:xfrm xmlns:a="http://schemas.openxmlformats.org/drawingml/2006/main">
            <a:off x="685800" y="3619500"/>
            <a:ext cx="3381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034"/>
                </a:solidFill>
                <a:latin typeface="Arial"/>
                <a:ea typeface="Arial"/>
                <a:cs typeface="Arial"/>
              </a:defRPr>
            </a:defPPr>
            <a:lvl1pPr>
              <a:buNone/>
              <a:defRPr sz="2025" b="0">
                <a:solidFill>
                  <a:srgbClr val="1B3034"/>
                </a:solidFill>
                <a:latin typeface="Arial"/>
                <a:ea typeface="Arial"/>
                <a:cs typeface="Arial"/>
              </a:defRPr>
            </a:lvl1pPr>
            <a:lvl2pPr>
              <a:buNone/>
              <a:defRPr sz="2025" b="0">
                <a:solidFill>
                  <a:srgbClr val="1B3034"/>
                </a:solidFill>
                <a:latin typeface="Arial"/>
                <a:ea typeface="Arial"/>
                <a:cs typeface="Arial"/>
              </a:defRPr>
            </a:lvl2pPr>
            <a:lvl3pPr>
              <a:buNone/>
              <a:defRPr sz="2025" b="0">
                <a:solidFill>
                  <a:srgbClr val="1B3034"/>
                </a:solidFill>
                <a:latin typeface="Arial"/>
                <a:ea typeface="Arial"/>
                <a:cs typeface="Arial"/>
              </a:defRPr>
            </a:lvl3pPr>
            <a:lvl4pPr>
              <a:buNone/>
              <a:defRPr sz="2025" b="0">
                <a:solidFill>
                  <a:srgbClr val="1B3034"/>
                </a:solidFill>
                <a:latin typeface="Arial"/>
                <a:ea typeface="Arial"/>
                <a:cs typeface="Arial"/>
              </a:defRPr>
            </a:lvl4pPr>
            <a:lvl5pPr>
              <a:buNone/>
              <a:defRPr sz="2025" b="0">
                <a:solidFill>
                  <a:srgbClr val="1B3034"/>
                </a:solidFill>
                <a:latin typeface="Arial"/>
                <a:ea typeface="Arial"/>
                <a:cs typeface="Arial"/>
              </a:defRPr>
            </a:lvl5pPr>
            <a:lvl6pPr>
              <a:buNone/>
              <a:defRPr sz="2025" b="0">
                <a:solidFill>
                  <a:srgbClr val="1B3034"/>
                </a:solidFill>
                <a:latin typeface="Arial"/>
                <a:ea typeface="Arial"/>
                <a:cs typeface="Arial"/>
              </a:defRPr>
            </a:lvl6pPr>
            <a:lvl7pPr>
              <a:buNone/>
              <a:defRPr sz="2025" b="0">
                <a:solidFill>
                  <a:srgbClr val="1B3034"/>
                </a:solidFill>
                <a:latin typeface="Arial"/>
                <a:ea typeface="Arial"/>
                <a:cs typeface="Arial"/>
              </a:defRPr>
            </a:lvl7pPr>
            <a:lvl8pPr>
              <a:buNone/>
              <a:defRPr sz="2025" b="0">
                <a:solidFill>
                  <a:srgbClr val="1B3034"/>
                </a:solidFill>
                <a:latin typeface="Arial"/>
                <a:ea typeface="Arial"/>
                <a:cs typeface="Arial"/>
              </a:defRPr>
            </a:lvl8pPr>
            <a:lvl9pPr>
              <a:buNone/>
              <a:defRPr sz="2025" b="0">
                <a:solidFill>
                  <a:srgbClr val="1B3034"/>
                </a:solidFill>
                <a:latin typeface="Arial"/>
                <a:ea typeface="Arial"/>
                <a:cs typeface="Arial"/>
              </a:defRPr>
            </a:lvl9pPr>
          </a:lstStyle>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Evidence, forecasts and reviewed actions have dedicated pages.</a:t>
            </a:r>
          </a:p>
          <a:p xmlns:a="http://schemas.openxmlformats.org/drawingml/2006/main">
            <a:r>
              <a:t/>
            </a:r>
          </a:p>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Direct reports work without a model key.</a:t>
            </a:r>
          </a:p>
        </p:txBody>
      </p:sp>
      <p:pic>
        <p:nvPicPr>
          <p:cNvPr id="5" name="">
            <a:extLst xmlns:a="http://schemas.openxmlformats.org/drawingml/2006/main">
              <a:ext uri="{FF2B5EF4-FFF2-40B4-BE49-F238E27FC236}">
                <a16:creationId xmlns:a16="http://schemas.microsoft.com/office/drawing/2014/main" id="{CF58BF6D-A327-4539-BEB5-02E3A57B26F3}"/>
              </a:ext>
            </a:extLst>
          </p:cNvPr>
          <p:cNvPicPr>
            <a:picLocks xmlns:a="http://schemas.openxmlformats.org/drawingml/2006/main" noChangeAspect="1"/>
          </p:cNvPicPr>
          <p:nvPr/>
        </p:nvPicPr>
        <p:blipFill>
          <a:blip xmlns:r="http://schemas.openxmlformats.org/officeDocument/2006/relationships" xmlns:a="http://schemas.openxmlformats.org/drawingml/2006/main" r:embed="R41bd936884074bd1"/>
          <a:stretch xmlns:a="http://schemas.openxmlformats.org/drawingml/2006/main"/>
        </p:blipFill>
        <p:spPr>
          <a:xfrm xmlns:a="http://schemas.openxmlformats.org/drawingml/2006/main">
            <a:off x="4476750" y="1793652"/>
            <a:ext cx="7029450" cy="3956497"/>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4A6F1E97-DDC8-4925-BC1C-34E3DBD804D9}"/>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Actual local application screenshot. Hero artwork illustrates the concept.</a:t>
            </a:r>
          </a:p>
        </p:txBody>
      </p:sp>
    </p:spTree>
    <p:extLst>
      <p:ext uri="{BB962C8B-B14F-4D97-AF65-F5344CB8AC3E}">
        <p14:creationId xmlns:p14="http://schemas.microsoft.com/office/powerpoint/2010/main" val="1895596415"/>
      </p:ext>
    </p:extLst>
  </p:cSld>
</p:sld>
</file>

<file path=ppt/slides/slide4.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B40A14C-AA63-4C46-BC99-17B8E2CEE998}"/>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A forecast the owner can inspect</a:t>
            </a:r>
          </a:p>
        </p:txBody>
      </p:sp>
      <p:sp>
        <p:nvSpPr>
          <p:cNvPr id="2" name="page-number">
            <a:extLst xmlns:a="http://schemas.openxmlformats.org/drawingml/2006/main">
              <a:ext uri="{FF2B5EF4-FFF2-40B4-BE49-F238E27FC236}">
                <a16:creationId xmlns:a16="http://schemas.microsoft.com/office/drawing/2014/main" id="{4C6E03D7-CF44-4485-9066-26C9AD3FCC1A}"/>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04</a:t>
            </a:r>
          </a:p>
        </p:txBody>
      </p:sp>
      <p:sp>
        <p:nvSpPr>
          <p:cNvPr id="3" name="forecast-min">
            <a:extLst xmlns:a="http://schemas.openxmlformats.org/drawingml/2006/main">
              <a:ext uri="{FF2B5EF4-FFF2-40B4-BE49-F238E27FC236}">
                <a16:creationId xmlns:a16="http://schemas.microsoft.com/office/drawing/2014/main" id="{E2138797-CC0E-498C-A065-E476DFD04845}"/>
              </a:ext>
            </a:extLst>
          </p:cNvPr>
          <p:cNvSpPr>
            <a:spLocks xmlns:a="http://schemas.openxmlformats.org/drawingml/2006/main" noGrp="1"/>
          </p:cNvSpPr>
          <p:nvPr/>
        </p:nvSpPr>
        <p:spPr>
          <a:xfrm xmlns:a="http://schemas.openxmlformats.org/drawingml/2006/main">
            <a:off x="685800" y="1981200"/>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16754"/>
                </a:solidFill>
                <a:latin typeface="Arial"/>
                <a:ea typeface="Arial"/>
                <a:cs typeface="Arial"/>
              </a:defRPr>
            </a:defPPr>
            <a:lvl1pPr>
              <a:buNone/>
              <a:defRPr sz="4200" b="1">
                <a:solidFill>
                  <a:srgbClr val="116754"/>
                </a:solidFill>
                <a:latin typeface="Arial"/>
                <a:ea typeface="Arial"/>
                <a:cs typeface="Arial"/>
              </a:defRPr>
            </a:lvl1pPr>
            <a:lvl2pPr>
              <a:buNone/>
              <a:defRPr sz="4200" b="1">
                <a:solidFill>
                  <a:srgbClr val="116754"/>
                </a:solidFill>
                <a:latin typeface="Arial"/>
                <a:ea typeface="Arial"/>
                <a:cs typeface="Arial"/>
              </a:defRPr>
            </a:lvl2pPr>
            <a:lvl3pPr>
              <a:buNone/>
              <a:defRPr sz="4200" b="1">
                <a:solidFill>
                  <a:srgbClr val="116754"/>
                </a:solidFill>
                <a:latin typeface="Arial"/>
                <a:ea typeface="Arial"/>
                <a:cs typeface="Arial"/>
              </a:defRPr>
            </a:lvl3pPr>
            <a:lvl4pPr>
              <a:buNone/>
              <a:defRPr sz="4200" b="1">
                <a:solidFill>
                  <a:srgbClr val="116754"/>
                </a:solidFill>
                <a:latin typeface="Arial"/>
                <a:ea typeface="Arial"/>
                <a:cs typeface="Arial"/>
              </a:defRPr>
            </a:lvl4pPr>
            <a:lvl5pPr>
              <a:buNone/>
              <a:defRPr sz="4200" b="1">
                <a:solidFill>
                  <a:srgbClr val="116754"/>
                </a:solidFill>
                <a:latin typeface="Arial"/>
                <a:ea typeface="Arial"/>
                <a:cs typeface="Arial"/>
              </a:defRPr>
            </a:lvl5pPr>
            <a:lvl6pPr>
              <a:buNone/>
              <a:defRPr sz="4200" b="1">
                <a:solidFill>
                  <a:srgbClr val="116754"/>
                </a:solidFill>
                <a:latin typeface="Arial"/>
                <a:ea typeface="Arial"/>
                <a:cs typeface="Arial"/>
              </a:defRPr>
            </a:lvl6pPr>
            <a:lvl7pPr>
              <a:buNone/>
              <a:defRPr sz="4200" b="1">
                <a:solidFill>
                  <a:srgbClr val="116754"/>
                </a:solidFill>
                <a:latin typeface="Arial"/>
                <a:ea typeface="Arial"/>
                <a:cs typeface="Arial"/>
              </a:defRPr>
            </a:lvl7pPr>
            <a:lvl8pPr>
              <a:buNone/>
              <a:defRPr sz="4200" b="1">
                <a:solidFill>
                  <a:srgbClr val="116754"/>
                </a:solidFill>
                <a:latin typeface="Arial"/>
                <a:ea typeface="Arial"/>
                <a:cs typeface="Arial"/>
              </a:defRPr>
            </a:lvl8pPr>
            <a:lvl9pPr>
              <a:buNone/>
              <a:defRPr sz="4200" b="1">
                <a:solidFill>
                  <a:srgbClr val="116754"/>
                </a:solidFill>
                <a:latin typeface="Arial"/>
                <a:ea typeface="Arial"/>
                <a:cs typeface="Arial"/>
              </a:defRPr>
            </a:lvl9pPr>
          </a:lstStyle>
          <a:p xmlns:a="http://schemas.openxmlformats.org/drawingml/2006/main">
            <a:pPr>
              <a:buNone/>
              <a:defRPr sz="4200" b="1">
                <a:solidFill>
                  <a:srgbClr val="116754"/>
                </a:solidFill>
                <a:latin typeface="Arial"/>
                <a:ea typeface="Arial"/>
                <a:cs typeface="Arial"/>
              </a:defRPr>
            </a:pPr>
            <a:r>
              <a:rPr sz="4200" b="1">
                <a:solidFill>
                  <a:srgbClr val="116754"/>
                </a:solidFill>
                <a:latin typeface="Arial"/>
                <a:ea typeface="Arial"/>
                <a:cs typeface="Arial"/>
              </a:rPr>
              <a:t>USD 6,000</a:t>
            </a:r>
          </a:p>
        </p:txBody>
      </p:sp>
      <p:sp>
        <p:nvSpPr>
          <p:cNvPr id="4" name="forecast-min-label">
            <a:extLst xmlns:a="http://schemas.openxmlformats.org/drawingml/2006/main">
              <a:ext uri="{FF2B5EF4-FFF2-40B4-BE49-F238E27FC236}">
                <a16:creationId xmlns:a16="http://schemas.microsoft.com/office/drawing/2014/main" id="{C0AA17A0-54A5-46A4-9BB7-4666D9CAE6E0}"/>
              </a:ext>
            </a:extLst>
          </p:cNvPr>
          <p:cNvSpPr>
            <a:spLocks xmlns:a="http://schemas.openxmlformats.org/drawingml/2006/main" noGrp="1"/>
          </p:cNvSpPr>
          <p:nvPr/>
        </p:nvSpPr>
        <p:spPr>
          <a:xfrm xmlns:a="http://schemas.openxmlformats.org/drawingml/2006/main">
            <a:off x="685800" y="2943225"/>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034"/>
                </a:solidFill>
                <a:latin typeface="Arial"/>
                <a:ea typeface="Arial"/>
                <a:cs typeface="Arial"/>
              </a:defRPr>
            </a:defPPr>
            <a:lvl1pPr>
              <a:buNone/>
              <a:defRPr sz="2100" b="0">
                <a:solidFill>
                  <a:srgbClr val="1B3034"/>
                </a:solidFill>
                <a:latin typeface="Arial"/>
                <a:ea typeface="Arial"/>
                <a:cs typeface="Arial"/>
              </a:defRPr>
            </a:lvl1pPr>
            <a:lvl2pPr>
              <a:buNone/>
              <a:defRPr sz="2100" b="0">
                <a:solidFill>
                  <a:srgbClr val="1B3034"/>
                </a:solidFill>
                <a:latin typeface="Arial"/>
                <a:ea typeface="Arial"/>
                <a:cs typeface="Arial"/>
              </a:defRPr>
            </a:lvl2pPr>
            <a:lvl3pPr>
              <a:buNone/>
              <a:defRPr sz="2100" b="0">
                <a:solidFill>
                  <a:srgbClr val="1B3034"/>
                </a:solidFill>
                <a:latin typeface="Arial"/>
                <a:ea typeface="Arial"/>
                <a:cs typeface="Arial"/>
              </a:defRPr>
            </a:lvl3pPr>
            <a:lvl4pPr>
              <a:buNone/>
              <a:defRPr sz="2100" b="0">
                <a:solidFill>
                  <a:srgbClr val="1B3034"/>
                </a:solidFill>
                <a:latin typeface="Arial"/>
                <a:ea typeface="Arial"/>
                <a:cs typeface="Arial"/>
              </a:defRPr>
            </a:lvl4pPr>
            <a:lvl5pPr>
              <a:buNone/>
              <a:defRPr sz="2100" b="0">
                <a:solidFill>
                  <a:srgbClr val="1B3034"/>
                </a:solidFill>
                <a:latin typeface="Arial"/>
                <a:ea typeface="Arial"/>
                <a:cs typeface="Arial"/>
              </a:defRPr>
            </a:lvl5pPr>
            <a:lvl6pPr>
              <a:buNone/>
              <a:defRPr sz="2100" b="0">
                <a:solidFill>
                  <a:srgbClr val="1B3034"/>
                </a:solidFill>
                <a:latin typeface="Arial"/>
                <a:ea typeface="Arial"/>
                <a:cs typeface="Arial"/>
              </a:defRPr>
            </a:lvl6pPr>
            <a:lvl7pPr>
              <a:buNone/>
              <a:defRPr sz="2100" b="0">
                <a:solidFill>
                  <a:srgbClr val="1B3034"/>
                </a:solidFill>
                <a:latin typeface="Arial"/>
                <a:ea typeface="Arial"/>
                <a:cs typeface="Arial"/>
              </a:defRPr>
            </a:lvl7pPr>
            <a:lvl8pPr>
              <a:buNone/>
              <a:defRPr sz="2100" b="0">
                <a:solidFill>
                  <a:srgbClr val="1B3034"/>
                </a:solidFill>
                <a:latin typeface="Arial"/>
                <a:ea typeface="Arial"/>
                <a:cs typeface="Arial"/>
              </a:defRPr>
            </a:lvl8pPr>
            <a:lvl9pPr>
              <a:buNone/>
              <a:defRPr sz="2100" b="0">
                <a:solidFill>
                  <a:srgbClr val="1B3034"/>
                </a:solidFill>
                <a:latin typeface="Arial"/>
                <a:ea typeface="Arial"/>
                <a:cs typeface="Arial"/>
              </a:defRPr>
            </a:lvl9pPr>
          </a:lstStyle>
          <a:p xmlns:a="http://schemas.openxmlformats.org/drawingml/2006/main">
            <a:pPr>
              <a:buNone/>
              <a:defRPr sz="2100" b="0">
                <a:solidFill>
                  <a:srgbClr val="1B3034"/>
                </a:solidFill>
                <a:latin typeface="Arial"/>
                <a:ea typeface="Arial"/>
                <a:cs typeface="Arial"/>
              </a:defRPr>
            </a:pPr>
            <a:r>
              <a:rPr sz="2100" b="0">
                <a:solidFill>
                  <a:srgbClr val="1B3034"/>
                </a:solidFill>
                <a:latin typeface="Arial"/>
                <a:ea typeface="Arial"/>
                <a:cs typeface="Arial"/>
              </a:rPr>
              <a:t>Baseline minimum</a:t>
            </a:r>
          </a:p>
          <a:p xmlns:a="http://schemas.openxmlformats.org/drawingml/2006/main">
            <a:pPr>
              <a:buNone/>
              <a:defRPr sz="2100" b="0">
                <a:solidFill>
                  <a:srgbClr val="1B3034"/>
                </a:solidFill>
                <a:latin typeface="Arial"/>
                <a:ea typeface="Arial"/>
                <a:cs typeface="Arial"/>
              </a:defRPr>
            </a:pPr>
            <a:r>
              <a:rPr sz="2100" b="0">
                <a:solidFill>
                  <a:srgbClr val="1B3034"/>
                </a:solidFill>
                <a:latin typeface="Arial"/>
                <a:ea typeface="Arial"/>
                <a:cs typeface="Arial"/>
              </a:rPr>
              <a:t>28 October 2026</a:t>
            </a:r>
          </a:p>
        </p:txBody>
      </p:sp>
      <p:sp>
        <p:nvSpPr>
          <p:cNvPr id="5" name="forecast-floor">
            <a:extLst xmlns:a="http://schemas.openxmlformats.org/drawingml/2006/main">
              <a:ext uri="{FF2B5EF4-FFF2-40B4-BE49-F238E27FC236}">
                <a16:creationId xmlns:a16="http://schemas.microsoft.com/office/drawing/2014/main" id="{15864D88-61B4-42AF-B1E4-022F5C4DDD7C}"/>
              </a:ext>
            </a:extLst>
          </p:cNvPr>
          <p:cNvSpPr>
            <a:spLocks xmlns:a="http://schemas.openxmlformats.org/drawingml/2006/main" noGrp="1"/>
          </p:cNvSpPr>
          <p:nvPr/>
        </p:nvSpPr>
        <p:spPr>
          <a:xfrm xmlns:a="http://schemas.openxmlformats.org/drawingml/2006/main">
            <a:off x="685800" y="4124325"/>
            <a:ext cx="320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96A"/>
                </a:solidFill>
                <a:latin typeface="Arial"/>
                <a:ea typeface="Arial"/>
                <a:cs typeface="Arial"/>
              </a:defRPr>
            </a:defPPr>
            <a:lvl1pPr>
              <a:buNone/>
              <a:defRPr sz="1875" b="0">
                <a:solidFill>
                  <a:srgbClr val="52696A"/>
                </a:solidFill>
                <a:latin typeface="Arial"/>
                <a:ea typeface="Arial"/>
                <a:cs typeface="Arial"/>
              </a:defRPr>
            </a:lvl1pPr>
            <a:lvl2pPr>
              <a:buNone/>
              <a:defRPr sz="1875" b="0">
                <a:solidFill>
                  <a:srgbClr val="52696A"/>
                </a:solidFill>
                <a:latin typeface="Arial"/>
                <a:ea typeface="Arial"/>
                <a:cs typeface="Arial"/>
              </a:defRPr>
            </a:lvl2pPr>
            <a:lvl3pPr>
              <a:buNone/>
              <a:defRPr sz="1875" b="0">
                <a:solidFill>
                  <a:srgbClr val="52696A"/>
                </a:solidFill>
                <a:latin typeface="Arial"/>
                <a:ea typeface="Arial"/>
                <a:cs typeface="Arial"/>
              </a:defRPr>
            </a:lvl3pPr>
            <a:lvl4pPr>
              <a:buNone/>
              <a:defRPr sz="1875" b="0">
                <a:solidFill>
                  <a:srgbClr val="52696A"/>
                </a:solidFill>
                <a:latin typeface="Arial"/>
                <a:ea typeface="Arial"/>
                <a:cs typeface="Arial"/>
              </a:defRPr>
            </a:lvl4pPr>
            <a:lvl5pPr>
              <a:buNone/>
              <a:defRPr sz="1875" b="0">
                <a:solidFill>
                  <a:srgbClr val="52696A"/>
                </a:solidFill>
                <a:latin typeface="Arial"/>
                <a:ea typeface="Arial"/>
                <a:cs typeface="Arial"/>
              </a:defRPr>
            </a:lvl5pPr>
            <a:lvl6pPr>
              <a:buNone/>
              <a:defRPr sz="1875" b="0">
                <a:solidFill>
                  <a:srgbClr val="52696A"/>
                </a:solidFill>
                <a:latin typeface="Arial"/>
                <a:ea typeface="Arial"/>
                <a:cs typeface="Arial"/>
              </a:defRPr>
            </a:lvl6pPr>
            <a:lvl7pPr>
              <a:buNone/>
              <a:defRPr sz="1875" b="0">
                <a:solidFill>
                  <a:srgbClr val="52696A"/>
                </a:solidFill>
                <a:latin typeface="Arial"/>
                <a:ea typeface="Arial"/>
                <a:cs typeface="Arial"/>
              </a:defRPr>
            </a:lvl7pPr>
            <a:lvl8pPr>
              <a:buNone/>
              <a:defRPr sz="1875" b="0">
                <a:solidFill>
                  <a:srgbClr val="52696A"/>
                </a:solidFill>
                <a:latin typeface="Arial"/>
                <a:ea typeface="Arial"/>
                <a:cs typeface="Arial"/>
              </a:defRPr>
            </a:lvl8pPr>
            <a:lvl9pPr>
              <a:buNone/>
              <a:defRPr sz="1875" b="0">
                <a:solidFill>
                  <a:srgbClr val="52696A"/>
                </a:solidFill>
                <a:latin typeface="Arial"/>
                <a:ea typeface="Arial"/>
                <a:cs typeface="Arial"/>
              </a:defRPr>
            </a:lvl9pPr>
          </a:lstStyle>
          <a:p xmlns:a="http://schemas.openxmlformats.org/drawingml/2006/main">
            <a:pPr>
              <a:buNone/>
              <a:defRPr sz="1875" b="0">
                <a:solidFill>
                  <a:srgbClr val="52696A"/>
                </a:solidFill>
                <a:latin typeface="Arial"/>
                <a:ea typeface="Arial"/>
                <a:cs typeface="Arial"/>
              </a:defRPr>
            </a:pPr>
            <a:r>
              <a:rPr sz="1875" b="0">
                <a:solidFill>
                  <a:srgbClr val="52696A"/>
                </a:solidFill>
                <a:latin typeface="Arial"/>
                <a:ea typeface="Arial"/>
                <a:cs typeface="Arial"/>
              </a:rPr>
              <a:t>USD 3,000 cash floor</a:t>
            </a:r>
          </a:p>
          <a:p xmlns:a="http://schemas.openxmlformats.org/drawingml/2006/main">
            <a:r>
              <a:t/>
            </a:r>
          </a:p>
          <a:p xmlns:a="http://schemas.openxmlformats.org/drawingml/2006/main">
            <a:pPr>
              <a:buNone/>
              <a:defRPr sz="1875" b="0">
                <a:solidFill>
                  <a:srgbClr val="52696A"/>
                </a:solidFill>
                <a:latin typeface="Arial"/>
                <a:ea typeface="Arial"/>
                <a:cs typeface="Arial"/>
              </a:defRPr>
            </a:pPr>
            <a:r>
              <a:rPr sz="1875" b="0">
                <a:solidFill>
                  <a:srgbClr val="52696A"/>
                </a:solidFill>
                <a:latin typeface="Arial"/>
                <a:ea typeface="Arial"/>
                <a:cs typeface="Arial"/>
              </a:rPr>
              <a:t>No projected floor breach under the recorded assumptions</a:t>
            </a:r>
          </a:p>
        </p:txBody>
      </p:sp>
      <p:pic>
        <p:nvPicPr>
          <p:cNvPr id="6" name="">
            <a:extLst xmlns:a="http://schemas.openxmlformats.org/drawingml/2006/main">
              <a:ext uri="{FF2B5EF4-FFF2-40B4-BE49-F238E27FC236}">
                <a16:creationId xmlns:a16="http://schemas.microsoft.com/office/drawing/2014/main" id="{98018339-9898-49C0-895C-5261B4C51A24}"/>
              </a:ext>
            </a:extLst>
          </p:cNvPr>
          <p:cNvPicPr>
            <a:picLocks xmlns:a="http://schemas.openxmlformats.org/drawingml/2006/main" noChangeAspect="1"/>
          </p:cNvPicPr>
          <p:nvPr/>
        </p:nvPicPr>
        <p:blipFill>
          <a:blip xmlns:r="http://schemas.openxmlformats.org/officeDocument/2006/relationships" xmlns:a="http://schemas.openxmlformats.org/drawingml/2006/main" r:embed="R3102e4fb9dcb4812"/>
          <a:srcRect xmlns:a="http://schemas.openxmlformats.org/drawingml/2006/main" l="22000" t="26000" r="2000" b="50000"/>
          <a:stretch xmlns:a="http://schemas.openxmlformats.org/drawingml/2006/main"/>
        </p:blipFill>
        <p:spPr>
          <a:xfrm xmlns:a="http://schemas.openxmlformats.org/drawingml/2006/main">
            <a:off x="4381500" y="1666875"/>
            <a:ext cx="7124700" cy="4095750"/>
          </a:xfrm>
          <a:prstGeom xmlns:a="http://schemas.openxmlformats.org/drawingml/2006/main" prst="rect">
            <a:avLst/>
          </a:prstGeom>
        </p:spPr>
      </p:pic>
      <p:sp>
        <p:nvSpPr>
          <p:cNvPr id="7" name="caption">
            <a:extLst xmlns:a="http://schemas.openxmlformats.org/drawingml/2006/main">
              <a:ext uri="{FF2B5EF4-FFF2-40B4-BE49-F238E27FC236}">
                <a16:creationId xmlns:a16="http://schemas.microsoft.com/office/drawing/2014/main" id="{EE7B91BB-7C27-4B3B-87DE-E34F45231EE1}"/>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Synthetic 30-day projection as of 16 October 2026. Currencies remain separate.</a:t>
            </a:r>
          </a:p>
        </p:txBody>
      </p:sp>
    </p:spTree>
    <p:extLst>
      <p:ext uri="{BB962C8B-B14F-4D97-AF65-F5344CB8AC3E}">
        <p14:creationId xmlns:p14="http://schemas.microsoft.com/office/powerpoint/2010/main" val="982970220"/>
      </p:ext>
    </p:extLst>
  </p:cSld>
</p:sld>
</file>

<file path=ppt/slides/slide5.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87C5B07-1533-4992-BB68-3A6CEFFB9EB4}"/>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A seven-day delay creates a cash gap</a:t>
            </a:r>
          </a:p>
        </p:txBody>
      </p:sp>
      <p:sp>
        <p:nvSpPr>
          <p:cNvPr id="2" name="page-number">
            <a:extLst xmlns:a="http://schemas.openxmlformats.org/drawingml/2006/main">
              <a:ext uri="{FF2B5EF4-FFF2-40B4-BE49-F238E27FC236}">
                <a16:creationId xmlns:a16="http://schemas.microsoft.com/office/drawing/2014/main" id="{0AF54807-9060-4902-8AE3-F0275FC27CD3}"/>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05</a:t>
            </a:r>
          </a:p>
        </p:txBody>
      </p:sp>
      <p:graphicFrame>
        <p:nvGraphicFramePr>
          <p:cNvPr id="3" name="Chart">
            <a:extLst xmlns:a="http://schemas.openxmlformats.org/drawingml/2006/main">
              <a:ext uri="{FF2B5EF4-FFF2-40B4-BE49-F238E27FC236}">
                <a16:creationId xmlns:a16="http://schemas.microsoft.com/office/drawing/2014/main" id="{AE0AC1A3-DD8F-47AD-9DEB-65AE07BD5FC4}"/>
              </a:ext>
            </a:extLst>
          </p:cNvPr>
          <p:cNvGraphicFramePr/>
          <p:nvPr/>
        </p:nvGraphicFramePr>
        <p:xfrm>
          <a:off xmlns:a="http://schemas.openxmlformats.org/drawingml/2006/main" x="571500" y="1676400"/>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2d8b0817a76b45c3"/>
          </a:graphicData>
        </a:graphic>
      </p:graphicFrame>
      <p:sp>
        <p:nvSpPr>
          <p:cNvPr id="4" name="scenario-min-label">
            <a:extLst xmlns:a="http://schemas.openxmlformats.org/drawingml/2006/main">
              <a:ext uri="{FF2B5EF4-FFF2-40B4-BE49-F238E27FC236}">
                <a16:creationId xmlns:a16="http://schemas.microsoft.com/office/drawing/2014/main" id="{C98F4AD8-E07E-404A-84B5-D05DDE28EC46}"/>
              </a:ext>
            </a:extLst>
          </p:cNvPr>
          <p:cNvSpPr>
            <a:spLocks xmlns:a="http://schemas.openxmlformats.org/drawingml/2006/main" noGrp="1"/>
          </p:cNvSpPr>
          <p:nvPr/>
        </p:nvSpPr>
        <p:spPr>
          <a:xfrm xmlns:a="http://schemas.openxmlformats.org/drawingml/2006/main">
            <a:off x="8858250" y="2124075"/>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96A"/>
                </a:solidFill>
                <a:latin typeface="Arial"/>
                <a:ea typeface="Arial"/>
                <a:cs typeface="Arial"/>
              </a:defRPr>
            </a:defPPr>
            <a:lvl1pPr>
              <a:buNone/>
              <a:defRPr sz="1875" b="0">
                <a:solidFill>
                  <a:srgbClr val="52696A"/>
                </a:solidFill>
                <a:latin typeface="Arial"/>
                <a:ea typeface="Arial"/>
                <a:cs typeface="Arial"/>
              </a:defRPr>
            </a:lvl1pPr>
            <a:lvl2pPr>
              <a:buNone/>
              <a:defRPr sz="1875" b="0">
                <a:solidFill>
                  <a:srgbClr val="52696A"/>
                </a:solidFill>
                <a:latin typeface="Arial"/>
                <a:ea typeface="Arial"/>
                <a:cs typeface="Arial"/>
              </a:defRPr>
            </a:lvl2pPr>
            <a:lvl3pPr>
              <a:buNone/>
              <a:defRPr sz="1875" b="0">
                <a:solidFill>
                  <a:srgbClr val="52696A"/>
                </a:solidFill>
                <a:latin typeface="Arial"/>
                <a:ea typeface="Arial"/>
                <a:cs typeface="Arial"/>
              </a:defRPr>
            </a:lvl3pPr>
            <a:lvl4pPr>
              <a:buNone/>
              <a:defRPr sz="1875" b="0">
                <a:solidFill>
                  <a:srgbClr val="52696A"/>
                </a:solidFill>
                <a:latin typeface="Arial"/>
                <a:ea typeface="Arial"/>
                <a:cs typeface="Arial"/>
              </a:defRPr>
            </a:lvl4pPr>
            <a:lvl5pPr>
              <a:buNone/>
              <a:defRPr sz="1875" b="0">
                <a:solidFill>
                  <a:srgbClr val="52696A"/>
                </a:solidFill>
                <a:latin typeface="Arial"/>
                <a:ea typeface="Arial"/>
                <a:cs typeface="Arial"/>
              </a:defRPr>
            </a:lvl5pPr>
            <a:lvl6pPr>
              <a:buNone/>
              <a:defRPr sz="1875" b="0">
                <a:solidFill>
                  <a:srgbClr val="52696A"/>
                </a:solidFill>
                <a:latin typeface="Arial"/>
                <a:ea typeface="Arial"/>
                <a:cs typeface="Arial"/>
              </a:defRPr>
            </a:lvl6pPr>
            <a:lvl7pPr>
              <a:buNone/>
              <a:defRPr sz="1875" b="0">
                <a:solidFill>
                  <a:srgbClr val="52696A"/>
                </a:solidFill>
                <a:latin typeface="Arial"/>
                <a:ea typeface="Arial"/>
                <a:cs typeface="Arial"/>
              </a:defRPr>
            </a:lvl7pPr>
            <a:lvl8pPr>
              <a:buNone/>
              <a:defRPr sz="1875" b="0">
                <a:solidFill>
                  <a:srgbClr val="52696A"/>
                </a:solidFill>
                <a:latin typeface="Arial"/>
                <a:ea typeface="Arial"/>
                <a:cs typeface="Arial"/>
              </a:defRPr>
            </a:lvl8pPr>
            <a:lvl9pPr>
              <a:buNone/>
              <a:defRPr sz="1875" b="0">
                <a:solidFill>
                  <a:srgbClr val="52696A"/>
                </a:solidFill>
                <a:latin typeface="Arial"/>
                <a:ea typeface="Arial"/>
                <a:cs typeface="Arial"/>
              </a:defRPr>
            </a:lvl9pPr>
          </a:lstStyle>
          <a:p xmlns:a="http://schemas.openxmlformats.org/drawingml/2006/main">
            <a:pPr>
              <a:buNone/>
              <a:defRPr sz="1875" b="0">
                <a:solidFill>
                  <a:srgbClr val="52696A"/>
                </a:solidFill>
                <a:latin typeface="Arial"/>
                <a:ea typeface="Arial"/>
                <a:cs typeface="Arial"/>
              </a:defRPr>
            </a:pPr>
            <a:r>
              <a:rPr sz="1875" b="0">
                <a:solidFill>
                  <a:srgbClr val="52696A"/>
                </a:solidFill>
                <a:latin typeface="Arial"/>
                <a:ea typeface="Arial"/>
                <a:cs typeface="Arial"/>
              </a:rPr>
              <a:t>Delayed minimum</a:t>
            </a:r>
          </a:p>
        </p:txBody>
      </p:sp>
      <p:sp>
        <p:nvSpPr>
          <p:cNvPr id="5" name="scenario-min">
            <a:extLst xmlns:a="http://schemas.openxmlformats.org/drawingml/2006/main">
              <a:ext uri="{FF2B5EF4-FFF2-40B4-BE49-F238E27FC236}">
                <a16:creationId xmlns:a16="http://schemas.microsoft.com/office/drawing/2014/main" id="{1C0D94DB-57E3-47D7-BF19-3B8910FD6791}"/>
              </a:ext>
            </a:extLst>
          </p:cNvPr>
          <p:cNvSpPr>
            <a:spLocks xmlns:a="http://schemas.openxmlformats.org/drawingml/2006/main" noGrp="1"/>
          </p:cNvSpPr>
          <p:nvPr/>
        </p:nvSpPr>
        <p:spPr>
          <a:xfrm xmlns:a="http://schemas.openxmlformats.org/drawingml/2006/main">
            <a:off x="8858250" y="2705100"/>
            <a:ext cx="2647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A04737"/>
                </a:solidFill>
                <a:latin typeface="Arial"/>
                <a:ea typeface="Arial"/>
                <a:cs typeface="Arial"/>
              </a:defRPr>
            </a:defPPr>
            <a:lvl1pPr>
              <a:buNone/>
              <a:defRPr sz="3450" b="1">
                <a:solidFill>
                  <a:srgbClr val="A04737"/>
                </a:solidFill>
                <a:latin typeface="Arial"/>
                <a:ea typeface="Arial"/>
                <a:cs typeface="Arial"/>
              </a:defRPr>
            </a:lvl1pPr>
            <a:lvl2pPr>
              <a:buNone/>
              <a:defRPr sz="3450" b="1">
                <a:solidFill>
                  <a:srgbClr val="A04737"/>
                </a:solidFill>
                <a:latin typeface="Arial"/>
                <a:ea typeface="Arial"/>
                <a:cs typeface="Arial"/>
              </a:defRPr>
            </a:lvl2pPr>
            <a:lvl3pPr>
              <a:buNone/>
              <a:defRPr sz="3450" b="1">
                <a:solidFill>
                  <a:srgbClr val="A04737"/>
                </a:solidFill>
                <a:latin typeface="Arial"/>
                <a:ea typeface="Arial"/>
                <a:cs typeface="Arial"/>
              </a:defRPr>
            </a:lvl3pPr>
            <a:lvl4pPr>
              <a:buNone/>
              <a:defRPr sz="3450" b="1">
                <a:solidFill>
                  <a:srgbClr val="A04737"/>
                </a:solidFill>
                <a:latin typeface="Arial"/>
                <a:ea typeface="Arial"/>
                <a:cs typeface="Arial"/>
              </a:defRPr>
            </a:lvl4pPr>
            <a:lvl5pPr>
              <a:buNone/>
              <a:defRPr sz="3450" b="1">
                <a:solidFill>
                  <a:srgbClr val="A04737"/>
                </a:solidFill>
                <a:latin typeface="Arial"/>
                <a:ea typeface="Arial"/>
                <a:cs typeface="Arial"/>
              </a:defRPr>
            </a:lvl5pPr>
            <a:lvl6pPr>
              <a:buNone/>
              <a:defRPr sz="3450" b="1">
                <a:solidFill>
                  <a:srgbClr val="A04737"/>
                </a:solidFill>
                <a:latin typeface="Arial"/>
                <a:ea typeface="Arial"/>
                <a:cs typeface="Arial"/>
              </a:defRPr>
            </a:lvl6pPr>
            <a:lvl7pPr>
              <a:buNone/>
              <a:defRPr sz="3450" b="1">
                <a:solidFill>
                  <a:srgbClr val="A04737"/>
                </a:solidFill>
                <a:latin typeface="Arial"/>
                <a:ea typeface="Arial"/>
                <a:cs typeface="Arial"/>
              </a:defRPr>
            </a:lvl7pPr>
            <a:lvl8pPr>
              <a:buNone/>
              <a:defRPr sz="3450" b="1">
                <a:solidFill>
                  <a:srgbClr val="A04737"/>
                </a:solidFill>
                <a:latin typeface="Arial"/>
                <a:ea typeface="Arial"/>
                <a:cs typeface="Arial"/>
              </a:defRPr>
            </a:lvl8pPr>
            <a:lvl9pPr>
              <a:buNone/>
              <a:defRPr sz="3450" b="1">
                <a:solidFill>
                  <a:srgbClr val="A04737"/>
                </a:solidFill>
                <a:latin typeface="Arial"/>
                <a:ea typeface="Arial"/>
                <a:cs typeface="Arial"/>
              </a:defRPr>
            </a:lvl9pPr>
          </a:lstStyle>
          <a:p xmlns:a="http://schemas.openxmlformats.org/drawingml/2006/main">
            <a:pPr>
              <a:buNone/>
              <a:defRPr sz="3450" b="1">
                <a:solidFill>
                  <a:srgbClr val="A04737"/>
                </a:solidFill>
                <a:latin typeface="Arial"/>
                <a:ea typeface="Arial"/>
                <a:cs typeface="Arial"/>
              </a:defRPr>
            </a:pPr>
            <a:r>
              <a:rPr sz="3450" b="1">
                <a:solidFill>
                  <a:srgbClr val="A04737"/>
                </a:solidFill>
                <a:latin typeface="Arial"/>
                <a:ea typeface="Arial"/>
                <a:cs typeface="Arial"/>
              </a:rPr>
              <a:t>USD -500</a:t>
            </a:r>
          </a:p>
        </p:txBody>
      </p:sp>
      <p:sp>
        <p:nvSpPr>
          <p:cNvPr id="6" name="scenario-gap">
            <a:extLst xmlns:a="http://schemas.openxmlformats.org/drawingml/2006/main">
              <a:ext uri="{FF2B5EF4-FFF2-40B4-BE49-F238E27FC236}">
                <a16:creationId xmlns:a16="http://schemas.microsoft.com/office/drawing/2014/main" id="{0954CB56-7982-4C27-AFBE-7810850F898F}"/>
              </a:ext>
            </a:extLst>
          </p:cNvPr>
          <p:cNvSpPr>
            <a:spLocks xmlns:a="http://schemas.openxmlformats.org/drawingml/2006/main" noGrp="1"/>
          </p:cNvSpPr>
          <p:nvPr/>
        </p:nvSpPr>
        <p:spPr>
          <a:xfrm xmlns:a="http://schemas.openxmlformats.org/drawingml/2006/main">
            <a:off x="8858250" y="3790950"/>
            <a:ext cx="2647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B3034"/>
                </a:solidFill>
                <a:latin typeface="Arial"/>
                <a:ea typeface="Arial"/>
                <a:cs typeface="Arial"/>
              </a:defRPr>
            </a:defPPr>
            <a:lvl1pPr>
              <a:buNone/>
              <a:defRPr sz="2175" b="0">
                <a:solidFill>
                  <a:srgbClr val="1B3034"/>
                </a:solidFill>
                <a:latin typeface="Arial"/>
                <a:ea typeface="Arial"/>
                <a:cs typeface="Arial"/>
              </a:defRPr>
            </a:lvl1pPr>
            <a:lvl2pPr>
              <a:buNone/>
              <a:defRPr sz="2175" b="0">
                <a:solidFill>
                  <a:srgbClr val="1B3034"/>
                </a:solidFill>
                <a:latin typeface="Arial"/>
                <a:ea typeface="Arial"/>
                <a:cs typeface="Arial"/>
              </a:defRPr>
            </a:lvl2pPr>
            <a:lvl3pPr>
              <a:buNone/>
              <a:defRPr sz="2175" b="0">
                <a:solidFill>
                  <a:srgbClr val="1B3034"/>
                </a:solidFill>
                <a:latin typeface="Arial"/>
                <a:ea typeface="Arial"/>
                <a:cs typeface="Arial"/>
              </a:defRPr>
            </a:lvl3pPr>
            <a:lvl4pPr>
              <a:buNone/>
              <a:defRPr sz="2175" b="0">
                <a:solidFill>
                  <a:srgbClr val="1B3034"/>
                </a:solidFill>
                <a:latin typeface="Arial"/>
                <a:ea typeface="Arial"/>
                <a:cs typeface="Arial"/>
              </a:defRPr>
            </a:lvl4pPr>
            <a:lvl5pPr>
              <a:buNone/>
              <a:defRPr sz="2175" b="0">
                <a:solidFill>
                  <a:srgbClr val="1B3034"/>
                </a:solidFill>
                <a:latin typeface="Arial"/>
                <a:ea typeface="Arial"/>
                <a:cs typeface="Arial"/>
              </a:defRPr>
            </a:lvl5pPr>
            <a:lvl6pPr>
              <a:buNone/>
              <a:defRPr sz="2175" b="0">
                <a:solidFill>
                  <a:srgbClr val="1B3034"/>
                </a:solidFill>
                <a:latin typeface="Arial"/>
                <a:ea typeface="Arial"/>
                <a:cs typeface="Arial"/>
              </a:defRPr>
            </a:lvl6pPr>
            <a:lvl7pPr>
              <a:buNone/>
              <a:defRPr sz="2175" b="0">
                <a:solidFill>
                  <a:srgbClr val="1B3034"/>
                </a:solidFill>
                <a:latin typeface="Arial"/>
                <a:ea typeface="Arial"/>
                <a:cs typeface="Arial"/>
              </a:defRPr>
            </a:lvl7pPr>
            <a:lvl8pPr>
              <a:buNone/>
              <a:defRPr sz="2175" b="0">
                <a:solidFill>
                  <a:srgbClr val="1B3034"/>
                </a:solidFill>
                <a:latin typeface="Arial"/>
                <a:ea typeface="Arial"/>
                <a:cs typeface="Arial"/>
              </a:defRPr>
            </a:lvl8pPr>
            <a:lvl9pPr>
              <a:buNone/>
              <a:defRPr sz="2175" b="0">
                <a:solidFill>
                  <a:srgbClr val="1B3034"/>
                </a:solidFill>
                <a:latin typeface="Arial"/>
                <a:ea typeface="Arial"/>
                <a:cs typeface="Arial"/>
              </a:defRPr>
            </a:lvl9pPr>
          </a:lstStyle>
          <a:p xmlns:a="http://schemas.openxmlformats.org/drawingml/2006/main">
            <a:pPr>
              <a:buNone/>
              <a:defRPr sz="2175" b="0">
                <a:solidFill>
                  <a:srgbClr val="1B3034"/>
                </a:solidFill>
                <a:latin typeface="Arial"/>
                <a:ea typeface="Arial"/>
                <a:cs typeface="Arial"/>
              </a:defRPr>
            </a:pPr>
            <a:r>
              <a:rPr sz="2175" b="0">
                <a:solidFill>
                  <a:srgbClr val="1B3034"/>
                </a:solidFill>
                <a:latin typeface="Arial"/>
                <a:ea typeface="Arial"/>
                <a:cs typeface="Arial"/>
              </a:rPr>
              <a:t>USD 3,500</a:t>
            </a:r>
          </a:p>
          <a:p xmlns:a="http://schemas.openxmlformats.org/drawingml/2006/main">
            <a:pPr>
              <a:buNone/>
              <a:defRPr sz="2175" b="0">
                <a:solidFill>
                  <a:srgbClr val="1B3034"/>
                </a:solidFill>
                <a:latin typeface="Arial"/>
                <a:ea typeface="Arial"/>
                <a:cs typeface="Arial"/>
              </a:defRPr>
            </a:pPr>
            <a:r>
              <a:rPr sz="2175" b="0">
                <a:solidFill>
                  <a:srgbClr val="1B3034"/>
                </a:solidFill>
                <a:latin typeface="Arial"/>
                <a:ea typeface="Arial"/>
                <a:cs typeface="Arial"/>
              </a:rPr>
              <a:t>below the cash floor</a:t>
            </a:r>
          </a:p>
        </p:txBody>
      </p:sp>
      <p:sp>
        <p:nvSpPr>
          <p:cNvPr id="7" name="caption">
            <a:extLst xmlns:a="http://schemas.openxmlformats.org/drawingml/2006/main">
              <a:ext uri="{FF2B5EF4-FFF2-40B4-BE49-F238E27FC236}">
                <a16:creationId xmlns:a16="http://schemas.microsoft.com/office/drawing/2014/main" id="{92E9D906-68FA-48E2-A6B0-1BE59DD8BB8A}"/>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Synthetic timing scenario for inv-client-001. No receipt, agreement or consent changes.</a:t>
            </a:r>
          </a:p>
        </p:txBody>
      </p:sp>
    </p:spTree>
    <p:extLst>
      <p:ext uri="{BB962C8B-B14F-4D97-AF65-F5344CB8AC3E}">
        <p14:creationId xmlns:p14="http://schemas.microsoft.com/office/powerpoint/2010/main" val="2021970276"/>
      </p:ext>
    </p:extLst>
  </p:cSld>
</p:sld>
</file>

<file path=ppt/slides/slide6.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E12D29F-3FA0-4E98-9ADC-23D3A3EDC78E}"/>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One Send prepares supported work</a:t>
            </a:r>
          </a:p>
        </p:txBody>
      </p:sp>
      <p:sp>
        <p:nvSpPr>
          <p:cNvPr id="2" name="page-number">
            <a:extLst xmlns:a="http://schemas.openxmlformats.org/drawingml/2006/main">
              <a:ext uri="{FF2B5EF4-FFF2-40B4-BE49-F238E27FC236}">
                <a16:creationId xmlns:a16="http://schemas.microsoft.com/office/drawing/2014/main" id="{4DDBC4EB-DEFE-4A36-9257-804C9ED0BE2A}"/>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06</a:t>
            </a:r>
          </a:p>
        </p:txBody>
      </p:sp>
      <p:sp>
        <p:nvSpPr>
          <p:cNvPr id="3" name="request">
            <a:extLst xmlns:a="http://schemas.openxmlformats.org/drawingml/2006/main">
              <a:ext uri="{FF2B5EF4-FFF2-40B4-BE49-F238E27FC236}">
                <a16:creationId xmlns:a16="http://schemas.microsoft.com/office/drawing/2014/main" id="{31DFF2E8-EB00-4478-AD80-69C2F4AFF490}"/>
              </a:ext>
            </a:extLst>
          </p:cNvPr>
          <p:cNvSpPr>
            <a:spLocks xmlns:a="http://schemas.openxmlformats.org/drawingml/2006/main" noGrp="1"/>
          </p:cNvSpPr>
          <p:nvPr/>
        </p:nvSpPr>
        <p:spPr>
          <a:xfrm xmlns:a="http://schemas.openxmlformats.org/drawingml/2006/main">
            <a:off x="685800" y="17145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B3034"/>
                </a:solidFill>
                <a:latin typeface="Arial"/>
                <a:ea typeface="Arial"/>
                <a:cs typeface="Arial"/>
              </a:defRPr>
            </a:defPPr>
            <a:lvl1pPr>
              <a:buNone/>
              <a:defRPr sz="2325" b="1">
                <a:solidFill>
                  <a:srgbClr val="1B3034"/>
                </a:solidFill>
                <a:latin typeface="Arial"/>
                <a:ea typeface="Arial"/>
                <a:cs typeface="Arial"/>
              </a:defRPr>
            </a:lvl1pPr>
            <a:lvl2pPr>
              <a:buNone/>
              <a:defRPr sz="2325" b="1">
                <a:solidFill>
                  <a:srgbClr val="1B3034"/>
                </a:solidFill>
                <a:latin typeface="Arial"/>
                <a:ea typeface="Arial"/>
                <a:cs typeface="Arial"/>
              </a:defRPr>
            </a:lvl2pPr>
            <a:lvl3pPr>
              <a:buNone/>
              <a:defRPr sz="2325" b="1">
                <a:solidFill>
                  <a:srgbClr val="1B3034"/>
                </a:solidFill>
                <a:latin typeface="Arial"/>
                <a:ea typeface="Arial"/>
                <a:cs typeface="Arial"/>
              </a:defRPr>
            </a:lvl3pPr>
            <a:lvl4pPr>
              <a:buNone/>
              <a:defRPr sz="2325" b="1">
                <a:solidFill>
                  <a:srgbClr val="1B3034"/>
                </a:solidFill>
                <a:latin typeface="Arial"/>
                <a:ea typeface="Arial"/>
                <a:cs typeface="Arial"/>
              </a:defRPr>
            </a:lvl4pPr>
            <a:lvl5pPr>
              <a:buNone/>
              <a:defRPr sz="2325" b="1">
                <a:solidFill>
                  <a:srgbClr val="1B3034"/>
                </a:solidFill>
                <a:latin typeface="Arial"/>
                <a:ea typeface="Arial"/>
                <a:cs typeface="Arial"/>
              </a:defRPr>
            </a:lvl5pPr>
            <a:lvl6pPr>
              <a:buNone/>
              <a:defRPr sz="2325" b="1">
                <a:solidFill>
                  <a:srgbClr val="1B3034"/>
                </a:solidFill>
                <a:latin typeface="Arial"/>
                <a:ea typeface="Arial"/>
                <a:cs typeface="Arial"/>
              </a:defRPr>
            </a:lvl6pPr>
            <a:lvl7pPr>
              <a:buNone/>
              <a:defRPr sz="2325" b="1">
                <a:solidFill>
                  <a:srgbClr val="1B3034"/>
                </a:solidFill>
                <a:latin typeface="Arial"/>
                <a:ea typeface="Arial"/>
                <a:cs typeface="Arial"/>
              </a:defRPr>
            </a:lvl7pPr>
            <a:lvl8pPr>
              <a:buNone/>
              <a:defRPr sz="2325" b="1">
                <a:solidFill>
                  <a:srgbClr val="1B3034"/>
                </a:solidFill>
                <a:latin typeface="Arial"/>
                <a:ea typeface="Arial"/>
                <a:cs typeface="Arial"/>
              </a:defRPr>
            </a:lvl8pPr>
            <a:lvl9pPr>
              <a:buNone/>
              <a:defRPr sz="2325" b="1">
                <a:solidFill>
                  <a:srgbClr val="1B3034"/>
                </a:solidFill>
                <a:latin typeface="Arial"/>
                <a:ea typeface="Arial"/>
                <a:cs typeface="Arial"/>
              </a:defRPr>
            </a:lvl9pPr>
          </a:lstStyle>
          <a:p xmlns:a="http://schemas.openxmlformats.org/drawingml/2006/main">
            <a:pPr>
              <a:buNone/>
              <a:defRPr sz="2325" b="1">
                <a:solidFill>
                  <a:srgbClr val="1B3034"/>
                </a:solidFill>
                <a:latin typeface="Arial"/>
                <a:ea typeface="Arial"/>
                <a:cs typeface="Arial"/>
              </a:defRPr>
            </a:pPr>
            <a:r>
              <a:rPr sz="2325" b="1">
                <a:solidFill>
                  <a:srgbClr val="1B3034"/>
                </a:solidFill>
                <a:latin typeface="Arial"/>
                <a:ea typeface="Arial"/>
                <a:cs typeface="Arial"/>
              </a:rPr>
              <a:t>“Prepare an early-payment request draft for inv-client-001, USD 100 on 2026-10-22.”</a:t>
            </a:r>
          </a:p>
        </p:txBody>
      </p:sp>
      <p:sp>
        <p:nvSpPr>
          <p:cNvPr id="4" name="agent-steps">
            <a:extLst xmlns:a="http://schemas.openxmlformats.org/drawingml/2006/main">
              <a:ext uri="{FF2B5EF4-FFF2-40B4-BE49-F238E27FC236}">
                <a16:creationId xmlns:a16="http://schemas.microsoft.com/office/drawing/2014/main" id="{A99BCBF7-3B72-462A-910F-DBBAB8044C73}"/>
              </a:ext>
            </a:extLst>
          </p:cNvPr>
          <p:cNvSpPr>
            <a:spLocks xmlns:a="http://schemas.openxmlformats.org/drawingml/2006/main" noGrp="1"/>
          </p:cNvSpPr>
          <p:nvPr/>
        </p:nvSpPr>
        <p:spPr>
          <a:xfrm xmlns:a="http://schemas.openxmlformats.org/drawingml/2006/main">
            <a:off x="685800" y="3152775"/>
            <a:ext cx="3429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16754"/>
                </a:solidFill>
                <a:latin typeface="Arial"/>
                <a:ea typeface="Arial"/>
                <a:cs typeface="Arial"/>
              </a:defRPr>
            </a:defPPr>
            <a:lvl1pPr>
              <a:buNone/>
              <a:defRPr sz="2025" b="1">
                <a:solidFill>
                  <a:srgbClr val="116754"/>
                </a:solidFill>
                <a:latin typeface="Arial"/>
                <a:ea typeface="Arial"/>
                <a:cs typeface="Arial"/>
              </a:defRPr>
            </a:lvl1pPr>
            <a:lvl2pPr>
              <a:buNone/>
              <a:defRPr sz="2025" b="1">
                <a:solidFill>
                  <a:srgbClr val="116754"/>
                </a:solidFill>
                <a:latin typeface="Arial"/>
                <a:ea typeface="Arial"/>
                <a:cs typeface="Arial"/>
              </a:defRPr>
            </a:lvl2pPr>
            <a:lvl3pPr>
              <a:buNone/>
              <a:defRPr sz="2025" b="1">
                <a:solidFill>
                  <a:srgbClr val="116754"/>
                </a:solidFill>
                <a:latin typeface="Arial"/>
                <a:ea typeface="Arial"/>
                <a:cs typeface="Arial"/>
              </a:defRPr>
            </a:lvl3pPr>
            <a:lvl4pPr>
              <a:buNone/>
              <a:defRPr sz="2025" b="1">
                <a:solidFill>
                  <a:srgbClr val="116754"/>
                </a:solidFill>
                <a:latin typeface="Arial"/>
                <a:ea typeface="Arial"/>
                <a:cs typeface="Arial"/>
              </a:defRPr>
            </a:lvl4pPr>
            <a:lvl5pPr>
              <a:buNone/>
              <a:defRPr sz="2025" b="1">
                <a:solidFill>
                  <a:srgbClr val="116754"/>
                </a:solidFill>
                <a:latin typeface="Arial"/>
                <a:ea typeface="Arial"/>
                <a:cs typeface="Arial"/>
              </a:defRPr>
            </a:lvl5pPr>
            <a:lvl6pPr>
              <a:buNone/>
              <a:defRPr sz="2025" b="1">
                <a:solidFill>
                  <a:srgbClr val="116754"/>
                </a:solidFill>
                <a:latin typeface="Arial"/>
                <a:ea typeface="Arial"/>
                <a:cs typeface="Arial"/>
              </a:defRPr>
            </a:lvl6pPr>
            <a:lvl7pPr>
              <a:buNone/>
              <a:defRPr sz="2025" b="1">
                <a:solidFill>
                  <a:srgbClr val="116754"/>
                </a:solidFill>
                <a:latin typeface="Arial"/>
                <a:ea typeface="Arial"/>
                <a:cs typeface="Arial"/>
              </a:defRPr>
            </a:lvl7pPr>
            <a:lvl8pPr>
              <a:buNone/>
              <a:defRPr sz="2025" b="1">
                <a:solidFill>
                  <a:srgbClr val="116754"/>
                </a:solidFill>
                <a:latin typeface="Arial"/>
                <a:ea typeface="Arial"/>
                <a:cs typeface="Arial"/>
              </a:defRPr>
            </a:lvl8pPr>
            <a:lvl9pPr>
              <a:buNone/>
              <a:defRPr sz="2025" b="1">
                <a:solidFill>
                  <a:srgbClr val="116754"/>
                </a:solidFill>
                <a:latin typeface="Arial"/>
                <a:ea typeface="Arial"/>
                <a:cs typeface="Arial"/>
              </a:defRPr>
            </a:lvl9pPr>
          </a:lstStyle>
          <a:p xmlns:a="http://schemas.openxmlformats.org/drawingml/2006/main">
            <a:pPr>
              <a:buNone/>
              <a:defRPr sz="2025" b="1">
                <a:solidFill>
                  <a:srgbClr val="116754"/>
                </a:solidFill>
                <a:latin typeface="Arial"/>
                <a:ea typeface="Arial"/>
                <a:cs typeface="Arial"/>
              </a:defRPr>
            </a:pPr>
            <a:r>
              <a:rPr sz="2025" b="1">
                <a:solidFill>
                  <a:srgbClr val="116754"/>
                </a:solidFill>
                <a:latin typeface="Arial"/>
                <a:ea typeface="Arial"/>
                <a:cs typeface="Arial"/>
              </a:rPr>
              <a:t>Interpret and validate</a:t>
            </a:r>
          </a:p>
          <a:p xmlns:a="http://schemas.openxmlformats.org/drawingml/2006/main">
            <a:r>
              <a:t/>
            </a:r>
          </a:p>
          <a:p xmlns:a="http://schemas.openxmlformats.org/drawingml/2006/main">
            <a:pPr>
              <a:buNone/>
              <a:defRPr sz="2025" b="1">
                <a:solidFill>
                  <a:srgbClr val="116754"/>
                </a:solidFill>
                <a:latin typeface="Arial"/>
                <a:ea typeface="Arial"/>
                <a:cs typeface="Arial"/>
              </a:defRPr>
            </a:pPr>
            <a:r>
              <a:rPr sz="2025" b="1">
                <a:solidFill>
                  <a:srgbClr val="116754"/>
                </a:solidFill>
                <a:latin typeface="Arial"/>
                <a:ea typeface="Arial"/>
                <a:cs typeface="Arial"/>
              </a:rPr>
              <a:t>Compute a report or DRAFT</a:t>
            </a:r>
          </a:p>
          <a:p xmlns:a="http://schemas.openxmlformats.org/drawingml/2006/main">
            <a:r>
              <a:t/>
            </a:r>
          </a:p>
          <a:p xmlns:a="http://schemas.openxmlformats.org/drawingml/2006/main">
            <a:pPr>
              <a:buNone/>
              <a:defRPr sz="2025" b="1">
                <a:solidFill>
                  <a:srgbClr val="116754"/>
                </a:solidFill>
                <a:latin typeface="Arial"/>
                <a:ea typeface="Arial"/>
                <a:cs typeface="Arial"/>
              </a:defRPr>
            </a:pPr>
            <a:r>
              <a:rPr sz="2025" b="1">
                <a:solidFill>
                  <a:srgbClr val="116754"/>
                </a:solidFill>
                <a:latin typeface="Arial"/>
                <a:ea typeface="Arial"/>
                <a:cs typeface="Arial"/>
              </a:rPr>
              <a:t>Show the selected task</a:t>
            </a:r>
          </a:p>
          <a:p xmlns:a="http://schemas.openxmlformats.org/drawingml/2006/main">
            <a:r>
              <a:t/>
            </a:r>
          </a:p>
          <a:p xmlns:a="http://schemas.openxmlformats.org/drawingml/2006/main">
            <a:pPr>
              <a:buNone/>
              <a:defRPr sz="2025" b="1">
                <a:solidFill>
                  <a:srgbClr val="116754"/>
                </a:solidFill>
                <a:latin typeface="Arial"/>
                <a:ea typeface="Arial"/>
                <a:cs typeface="Arial"/>
              </a:defRPr>
            </a:pPr>
            <a:r>
              <a:rPr sz="2025" b="1">
                <a:solidFill>
                  <a:srgbClr val="116754"/>
                </a:solidFill>
                <a:latin typeface="Arial"/>
                <a:ea typeface="Arial"/>
                <a:cs typeface="Arial"/>
              </a:rPr>
              <a:t>Keep final approval separate</a:t>
            </a:r>
          </a:p>
        </p:txBody>
      </p:sp>
      <p:pic>
        <p:nvPicPr>
          <p:cNvPr id="5" name="">
            <a:extLst xmlns:a="http://schemas.openxmlformats.org/drawingml/2006/main">
              <a:ext uri="{FF2B5EF4-FFF2-40B4-BE49-F238E27FC236}">
                <a16:creationId xmlns:a16="http://schemas.microsoft.com/office/drawing/2014/main" id="{72796ADF-24D5-48EF-AC18-441AF61A4E1E}"/>
              </a:ext>
            </a:extLst>
          </p:cNvPr>
          <p:cNvPicPr>
            <a:picLocks xmlns:a="http://schemas.openxmlformats.org/drawingml/2006/main" noChangeAspect="1"/>
          </p:cNvPicPr>
          <p:nvPr/>
        </p:nvPicPr>
        <p:blipFill>
          <a:blip xmlns:r="http://schemas.openxmlformats.org/officeDocument/2006/relationships" xmlns:a="http://schemas.openxmlformats.org/drawingml/2006/main" r:embed="R91bf14531e044771"/>
          <a:srcRect xmlns:a="http://schemas.openxmlformats.org/drawingml/2006/main" l="23000" t="19000" r="3000" b="63000"/>
          <a:stretch xmlns:a="http://schemas.openxmlformats.org/drawingml/2006/main"/>
        </p:blipFill>
        <p:spPr>
          <a:xfrm xmlns:a="http://schemas.openxmlformats.org/drawingml/2006/main">
            <a:off x="4333875" y="2895600"/>
            <a:ext cx="7172325" cy="29527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1D888D19-E13E-4884-86A2-DF6FD2A9D310}"/>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Archived local UI, version 0.25.9, AI disconnected. Current UI uses Send with optional preview.</a:t>
            </a:r>
          </a:p>
        </p:txBody>
      </p:sp>
    </p:spTree>
    <p:extLst>
      <p:ext uri="{BB962C8B-B14F-4D97-AF65-F5344CB8AC3E}">
        <p14:creationId xmlns:p14="http://schemas.microsoft.com/office/powerpoint/2010/main" val="1073763843"/>
      </p:ext>
    </p:extLst>
  </p:cSld>
</p:sld>
</file>

<file path=ppt/slides/slide7.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A0D757-0838-4954-985D-CF805D68141E}"/>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The owner retains approval authority</a:t>
            </a:r>
          </a:p>
        </p:txBody>
      </p:sp>
      <p:sp>
        <p:nvSpPr>
          <p:cNvPr id="2" name="page-number">
            <a:extLst xmlns:a="http://schemas.openxmlformats.org/drawingml/2006/main">
              <a:ext uri="{FF2B5EF4-FFF2-40B4-BE49-F238E27FC236}">
                <a16:creationId xmlns:a16="http://schemas.microsoft.com/office/drawing/2014/main" id="{88CFC8CD-46AA-433A-A1A3-64BB84257714}"/>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8C57609E-49BA-4BF4-8010-C4600F7FAE8B}"/>
              </a:ext>
            </a:extLst>
          </p:cNvPr>
          <p:cNvGraphicFramePr/>
          <p:nvPr/>
        </p:nvGraphicFramePr>
        <p:xfrm>
          <a:off xmlns:a="http://schemas.openxmlformats.org/drawingml/2006/main" x="685800" y="1704975"/>
          <a:ext xmlns:a="http://schemas.openxmlformats.org/drawingml/2006/main" cx="10820400" cy="3943350"/>
        </p:xfrm>
        <a:graphic xmlns:a="http://schemas.openxmlformats.org/drawingml/2006/main">
          <a:graphicData uri="http://schemas.openxmlformats.org/drawingml/2006/table">
            <a:tbl>
              <a:tblPr firstRow="1" bandRow="0"/>
              <a:tblGrid>
                <a:gridCol w="2476500"/>
                <a:gridCol w="3000375"/>
                <a:gridCol w="5343525"/>
              </a:tblGrid>
              <a:tr h="657225">
                <a:tc>
                  <a:txBody>
                    <a:bodyPr wrap="square" lIns="114300" tIns="114300" rIns="114300" bIns="114300">
                      <a:noAutofit/>
                    </a:bodyPr>
                    <a:lstStyle/>
                    <a:p>
                      <a:r>
                        <a:rPr sz="1725" b="1">
                          <a:solidFill>
                            <a:srgbClr val="FFFFFF"/>
                          </a:solidFill>
                          <a:latin typeface="Arial"/>
                          <a:ea typeface="Arial"/>
                          <a:cs typeface="Arial"/>
                        </a:rPr>
                        <a:t>Step</a:t>
                      </a:r>
                    </a:p>
                  </a:txBody>
                  <a:tcPr marL="91440" marR="91440" marT="45720" marB="45720" anchor="ctr">
                    <a:lnL w="9525">
                      <a:solidFill>
                        <a:srgbClr val="DCE5DF"/>
                      </a:solidFill>
                      <a:prstDash val="solid"/>
                    </a:lnL>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c>
                  <a:txBody>
                    <a:bodyPr wrap="square" lIns="114300" tIns="114300" rIns="114300" bIns="114300">
                      <a:noAutofit/>
                    </a:bodyPr>
                    <a:lstStyle/>
                    <a:p>
                      <a:r>
                        <a:rPr sz="1725" b="1">
                          <a:solidFill>
                            <a:srgbClr val="FFFFFF"/>
                          </a:solidFill>
                          <a:latin typeface="Arial"/>
                          <a:ea typeface="Arial"/>
                          <a:cs typeface="Arial"/>
                        </a:rPr>
                        <a:t>Who can do it</a:t>
                      </a:r>
                    </a:p>
                  </a:txBody>
                  <a:tcPr marL="91440" marR="91440" marT="45720" marB="45720" anchor="ctr">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c>
                  <a:txBody>
                    <a:bodyPr wrap="square" lIns="114300" tIns="114300" rIns="114300" bIns="114300">
                      <a:noAutofit/>
                    </a:bodyPr>
                    <a:lstStyle/>
                    <a:p>
                      <a:r>
                        <a:rPr sz="1725" b="1">
                          <a:solidFill>
                            <a:srgbClr val="FFFFFF"/>
                          </a:solidFill>
                          <a:latin typeface="Arial"/>
                          <a:ea typeface="Arial"/>
                          <a:cs typeface="Arial"/>
                        </a:rPr>
                        <a:t>Boundary</a:t>
                      </a:r>
                    </a:p>
                  </a:txBody>
                  <a:tcPr marL="91440" marR="91440" marT="45720" marB="45720" anchor="ctr">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r>
              <a:tr h="657225">
                <a:tc>
                  <a:txBody>
                    <a:bodyPr wrap="square" lIns="114300" tIns="114300" rIns="114300" bIns="114300">
                      <a:noAutofit/>
                    </a:bodyPr>
                    <a:lstStyle/>
                    <a:p>
                      <a:r>
                        <a:rPr sz="1725" b="0">
                          <a:solidFill>
                            <a:srgbClr val="1B3034"/>
                          </a:solidFill>
                          <a:latin typeface="Arial"/>
                          <a:ea typeface="Arial"/>
                          <a:cs typeface="Arial"/>
                        </a:rPr>
                        <a:t>Read a report</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Direct tools or the agent</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Inspect assumptions and evidence</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57225">
                <a:tc>
                  <a:txBody>
                    <a:bodyPr wrap="square" lIns="114300" tIns="114300" rIns="114300" bIns="114300">
                      <a:noAutofit/>
                    </a:bodyPr>
                    <a:lstStyle/>
                    <a:p>
                      <a:r>
                        <a:rPr sz="1725" b="0">
                          <a:solidFill>
                            <a:srgbClr val="1B3034"/>
                          </a:solidFill>
                          <a:latin typeface="Arial"/>
                          <a:ea typeface="Arial"/>
                          <a:cs typeface="Arial"/>
                        </a:rPr>
                        <a:t>Prepare a DRAFT</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The agent or an owner form</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Preparation creates no approval</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57225">
                <a:tc>
                  <a:txBody>
                    <a:bodyPr wrap="square" lIns="114300" tIns="114300" rIns="114300" bIns="114300">
                      <a:noAutofit/>
                    </a:bodyPr>
                    <a:lstStyle/>
                    <a:p>
                      <a:r>
                        <a:rPr sz="1725" b="0">
                          <a:solidFill>
                            <a:srgbClr val="1B3034"/>
                          </a:solidFill>
                          <a:latin typeface="Arial"/>
                          <a:ea typeface="Arial"/>
                          <a:cs typeface="Arial"/>
                        </a:rPr>
                        <a:t>Approve local work</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Owner, separately</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Apply only the exact reviewed scope</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57225">
                <a:tc>
                  <a:txBody>
                    <a:bodyPr wrap="square" lIns="114300" tIns="114300" rIns="114300" bIns="114300">
                      <a:noAutofit/>
                    </a:bodyPr>
                    <a:lstStyle/>
                    <a:p>
                      <a:r>
                        <a:rPr sz="1725" b="0">
                          <a:solidFill>
                            <a:srgbClr val="1B3034"/>
                          </a:solidFill>
                          <a:latin typeface="Arial"/>
                          <a:ea typeface="Arial"/>
                          <a:cs typeface="Arial"/>
                        </a:rPr>
                        <a:t>Record consent or payment</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Explicit source-backed owner step</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The model cannot invent the event</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57225">
                <a:tc>
                  <a:txBody>
                    <a:bodyPr wrap="square" lIns="114300" tIns="114300" rIns="114300" bIns="114300">
                      <a:noAutofit/>
                    </a:bodyPr>
                    <a:lstStyle/>
                    <a:p>
                      <a:r>
                        <a:rPr sz="1725" b="0">
                          <a:solidFill>
                            <a:srgbClr val="1B3034"/>
                          </a:solidFill>
                          <a:latin typeface="Arial"/>
                          <a:ea typeface="Arial"/>
                          <a:cs typeface="Arial"/>
                        </a:rPr>
                        <a:t>Reconcile records</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Separate matching workflow</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An observation alone is not a match</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bl>
          </a:graphicData>
        </a:graphic>
      </p:graphicFrame>
      <p:sp>
        <p:nvSpPr>
          <p:cNvPr id="4" name="caption">
            <a:extLst xmlns:a="http://schemas.openxmlformats.org/drawingml/2006/main">
              <a:ext uri="{FF2B5EF4-FFF2-40B4-BE49-F238E27FC236}">
                <a16:creationId xmlns:a16="http://schemas.microsoft.com/office/drawing/2014/main" id="{DAE0F840-E508-4074-9519-7BD0DA093976}"/>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No real bank connection, payment rail or counterparty messaging exists in this sandbox.</a:t>
            </a:r>
          </a:p>
        </p:txBody>
      </p:sp>
    </p:spTree>
    <p:extLst>
      <p:ext uri="{BB962C8B-B14F-4D97-AF65-F5344CB8AC3E}">
        <p14:creationId xmlns:p14="http://schemas.microsoft.com/office/powerpoint/2010/main" val="1669926581"/>
      </p:ext>
    </p:extLst>
  </p:cSld>
</p:sld>
</file>

<file path=ppt/slides/slide8.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0D53C27-066B-404C-A46F-256AFC07D62E}"/>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Evidence stays attached to the decision</a:t>
            </a:r>
          </a:p>
        </p:txBody>
      </p:sp>
      <p:sp>
        <p:nvSpPr>
          <p:cNvPr id="2" name="page-number">
            <a:extLst xmlns:a="http://schemas.openxmlformats.org/drawingml/2006/main">
              <a:ext uri="{FF2B5EF4-FFF2-40B4-BE49-F238E27FC236}">
                <a16:creationId xmlns:a16="http://schemas.microsoft.com/office/drawing/2014/main" id="{065CF1C0-8D49-4F96-BD5A-89F5A93F2DFB}"/>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3160BE21-DFA9-4AC9-9C9F-40E91F88AA0B}"/>
              </a:ext>
            </a:extLst>
          </p:cNvPr>
          <p:cNvPicPr>
            <a:picLocks xmlns:a="http://schemas.openxmlformats.org/drawingml/2006/main" noChangeAspect="1"/>
          </p:cNvPicPr>
          <p:nvPr/>
        </p:nvPicPr>
        <p:blipFill>
          <a:blip xmlns:r="http://schemas.openxmlformats.org/officeDocument/2006/relationships" xmlns:a="http://schemas.openxmlformats.org/drawingml/2006/main" r:embed="Red49b678d68a4b51"/>
          <a:stretch xmlns:a="http://schemas.openxmlformats.org/drawingml/2006/main"/>
        </p:blipFill>
        <p:spPr>
          <a:xfrm xmlns:a="http://schemas.openxmlformats.org/drawingml/2006/main">
            <a:off x="938213" y="1809750"/>
            <a:ext cx="5572125" cy="3714750"/>
          </a:xfrm>
          <a:prstGeom xmlns:a="http://schemas.openxmlformats.org/drawingml/2006/main" prst="rect">
            <a:avLst/>
          </a:prstGeom>
        </p:spPr>
      </p:pic>
      <p:sp>
        <p:nvSpPr>
          <p:cNvPr id="4" name="evidence-meaning">
            <a:extLst xmlns:a="http://schemas.openxmlformats.org/drawingml/2006/main">
              <a:ext uri="{FF2B5EF4-FFF2-40B4-BE49-F238E27FC236}">
                <a16:creationId xmlns:a16="http://schemas.microsoft.com/office/drawing/2014/main" id="{02DCDB31-27A9-4274-966E-F9010C34C1A2}"/>
              </a:ext>
            </a:extLst>
          </p:cNvPr>
          <p:cNvSpPr>
            <a:spLocks xmlns:a="http://schemas.openxmlformats.org/drawingml/2006/main" noGrp="1"/>
          </p:cNvSpPr>
          <p:nvPr/>
        </p:nvSpPr>
        <p:spPr>
          <a:xfrm xmlns:a="http://schemas.openxmlformats.org/drawingml/2006/main">
            <a:off x="7219950" y="1809750"/>
            <a:ext cx="4286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6754"/>
                </a:solidFill>
                <a:latin typeface="Arial"/>
                <a:ea typeface="Arial"/>
                <a:cs typeface="Arial"/>
              </a:defRPr>
            </a:defPPr>
            <a:lvl1pPr>
              <a:buNone/>
              <a:defRPr sz="2550" b="1">
                <a:solidFill>
                  <a:srgbClr val="116754"/>
                </a:solidFill>
                <a:latin typeface="Arial"/>
                <a:ea typeface="Arial"/>
                <a:cs typeface="Arial"/>
              </a:defRPr>
            </a:lvl1pPr>
            <a:lvl2pPr>
              <a:buNone/>
              <a:defRPr sz="2550" b="1">
                <a:solidFill>
                  <a:srgbClr val="116754"/>
                </a:solidFill>
                <a:latin typeface="Arial"/>
                <a:ea typeface="Arial"/>
                <a:cs typeface="Arial"/>
              </a:defRPr>
            </a:lvl2pPr>
            <a:lvl3pPr>
              <a:buNone/>
              <a:defRPr sz="2550" b="1">
                <a:solidFill>
                  <a:srgbClr val="116754"/>
                </a:solidFill>
                <a:latin typeface="Arial"/>
                <a:ea typeface="Arial"/>
                <a:cs typeface="Arial"/>
              </a:defRPr>
            </a:lvl3pPr>
            <a:lvl4pPr>
              <a:buNone/>
              <a:defRPr sz="2550" b="1">
                <a:solidFill>
                  <a:srgbClr val="116754"/>
                </a:solidFill>
                <a:latin typeface="Arial"/>
                <a:ea typeface="Arial"/>
                <a:cs typeface="Arial"/>
              </a:defRPr>
            </a:lvl4pPr>
            <a:lvl5pPr>
              <a:buNone/>
              <a:defRPr sz="2550" b="1">
                <a:solidFill>
                  <a:srgbClr val="116754"/>
                </a:solidFill>
                <a:latin typeface="Arial"/>
                <a:ea typeface="Arial"/>
                <a:cs typeface="Arial"/>
              </a:defRPr>
            </a:lvl5pPr>
            <a:lvl6pPr>
              <a:buNone/>
              <a:defRPr sz="2550" b="1">
                <a:solidFill>
                  <a:srgbClr val="116754"/>
                </a:solidFill>
                <a:latin typeface="Arial"/>
                <a:ea typeface="Arial"/>
                <a:cs typeface="Arial"/>
              </a:defRPr>
            </a:lvl6pPr>
            <a:lvl7pPr>
              <a:buNone/>
              <a:defRPr sz="2550" b="1">
                <a:solidFill>
                  <a:srgbClr val="116754"/>
                </a:solidFill>
                <a:latin typeface="Arial"/>
                <a:ea typeface="Arial"/>
                <a:cs typeface="Arial"/>
              </a:defRPr>
            </a:lvl7pPr>
            <a:lvl8pPr>
              <a:buNone/>
              <a:defRPr sz="2550" b="1">
                <a:solidFill>
                  <a:srgbClr val="116754"/>
                </a:solidFill>
                <a:latin typeface="Arial"/>
                <a:ea typeface="Arial"/>
                <a:cs typeface="Arial"/>
              </a:defRPr>
            </a:lvl8pPr>
            <a:lvl9pPr>
              <a:buNone/>
              <a:defRPr sz="2550" b="1">
                <a:solidFill>
                  <a:srgbClr val="116754"/>
                </a:solidFill>
                <a:latin typeface="Arial"/>
                <a:ea typeface="Arial"/>
                <a:cs typeface="Arial"/>
              </a:defRPr>
            </a:lvl9pPr>
          </a:lstStyle>
          <a:p xmlns:a="http://schemas.openxmlformats.org/drawingml/2006/main">
            <a:pPr>
              <a:buNone/>
              <a:defRPr sz="2550" b="1">
                <a:solidFill>
                  <a:srgbClr val="116754"/>
                </a:solidFill>
                <a:latin typeface="Arial"/>
                <a:ea typeface="Arial"/>
                <a:cs typeface="Arial"/>
              </a:defRPr>
            </a:pPr>
            <a:r>
              <a:rPr sz="2550" b="1">
                <a:solidFill>
                  <a:srgbClr val="116754"/>
                </a:solidFill>
                <a:latin typeface="Arial"/>
                <a:ea typeface="Arial"/>
                <a:cs typeface="Arial"/>
              </a:rPr>
              <a:t>Evidence supports</a:t>
            </a:r>
          </a:p>
          <a:p xmlns:a="http://schemas.openxmlformats.org/drawingml/2006/main">
            <a:pPr>
              <a:buNone/>
              <a:defRPr sz="2550" b="1">
                <a:solidFill>
                  <a:srgbClr val="116754"/>
                </a:solidFill>
                <a:latin typeface="Arial"/>
                <a:ea typeface="Arial"/>
                <a:cs typeface="Arial"/>
              </a:defRPr>
            </a:pPr>
            <a:r>
              <a:rPr sz="2550" b="1">
                <a:solidFill>
                  <a:srgbClr val="116754"/>
                </a:solidFill>
                <a:latin typeface="Arial"/>
                <a:ea typeface="Arial"/>
                <a:cs typeface="Arial"/>
              </a:rPr>
              <a:t>a recorded fact</a:t>
            </a:r>
          </a:p>
        </p:txBody>
      </p:sp>
      <p:sp>
        <p:nvSpPr>
          <p:cNvPr id="5" name="evidence-work">
            <a:extLst xmlns:a="http://schemas.openxmlformats.org/drawingml/2006/main">
              <a:ext uri="{FF2B5EF4-FFF2-40B4-BE49-F238E27FC236}">
                <a16:creationId xmlns:a16="http://schemas.microsoft.com/office/drawing/2014/main" id="{6150243C-C75F-4C93-B5C2-8F84D4B1DE6C}"/>
              </a:ext>
            </a:extLst>
          </p:cNvPr>
          <p:cNvSpPr>
            <a:spLocks xmlns:a="http://schemas.openxmlformats.org/drawingml/2006/main" noGrp="1"/>
          </p:cNvSpPr>
          <p:nvPr/>
        </p:nvSpPr>
        <p:spPr>
          <a:xfrm xmlns:a="http://schemas.openxmlformats.org/drawingml/2006/main">
            <a:off x="7219950" y="3209925"/>
            <a:ext cx="4191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034"/>
                </a:solidFill>
                <a:latin typeface="Arial"/>
                <a:ea typeface="Arial"/>
                <a:cs typeface="Arial"/>
              </a:defRPr>
            </a:defPPr>
            <a:lvl1pPr>
              <a:buNone/>
              <a:defRPr sz="2100" b="0">
                <a:solidFill>
                  <a:srgbClr val="1B3034"/>
                </a:solidFill>
                <a:latin typeface="Arial"/>
                <a:ea typeface="Arial"/>
                <a:cs typeface="Arial"/>
              </a:defRPr>
            </a:lvl1pPr>
            <a:lvl2pPr>
              <a:buNone/>
              <a:defRPr sz="2100" b="0">
                <a:solidFill>
                  <a:srgbClr val="1B3034"/>
                </a:solidFill>
                <a:latin typeface="Arial"/>
                <a:ea typeface="Arial"/>
                <a:cs typeface="Arial"/>
              </a:defRPr>
            </a:lvl2pPr>
            <a:lvl3pPr>
              <a:buNone/>
              <a:defRPr sz="2100" b="0">
                <a:solidFill>
                  <a:srgbClr val="1B3034"/>
                </a:solidFill>
                <a:latin typeface="Arial"/>
                <a:ea typeface="Arial"/>
                <a:cs typeface="Arial"/>
              </a:defRPr>
            </a:lvl3pPr>
            <a:lvl4pPr>
              <a:buNone/>
              <a:defRPr sz="2100" b="0">
                <a:solidFill>
                  <a:srgbClr val="1B3034"/>
                </a:solidFill>
                <a:latin typeface="Arial"/>
                <a:ea typeface="Arial"/>
                <a:cs typeface="Arial"/>
              </a:defRPr>
            </a:lvl4pPr>
            <a:lvl5pPr>
              <a:buNone/>
              <a:defRPr sz="2100" b="0">
                <a:solidFill>
                  <a:srgbClr val="1B3034"/>
                </a:solidFill>
                <a:latin typeface="Arial"/>
                <a:ea typeface="Arial"/>
                <a:cs typeface="Arial"/>
              </a:defRPr>
            </a:lvl5pPr>
            <a:lvl6pPr>
              <a:buNone/>
              <a:defRPr sz="2100" b="0">
                <a:solidFill>
                  <a:srgbClr val="1B3034"/>
                </a:solidFill>
                <a:latin typeface="Arial"/>
                <a:ea typeface="Arial"/>
                <a:cs typeface="Arial"/>
              </a:defRPr>
            </a:lvl6pPr>
            <a:lvl7pPr>
              <a:buNone/>
              <a:defRPr sz="2100" b="0">
                <a:solidFill>
                  <a:srgbClr val="1B3034"/>
                </a:solidFill>
                <a:latin typeface="Arial"/>
                <a:ea typeface="Arial"/>
                <a:cs typeface="Arial"/>
              </a:defRPr>
            </a:lvl7pPr>
            <a:lvl8pPr>
              <a:buNone/>
              <a:defRPr sz="2100" b="0">
                <a:solidFill>
                  <a:srgbClr val="1B3034"/>
                </a:solidFill>
                <a:latin typeface="Arial"/>
                <a:ea typeface="Arial"/>
                <a:cs typeface="Arial"/>
              </a:defRPr>
            </a:lvl8pPr>
            <a:lvl9pPr>
              <a:buNone/>
              <a:defRPr sz="2100" b="0">
                <a:solidFill>
                  <a:srgbClr val="1B3034"/>
                </a:solidFill>
                <a:latin typeface="Arial"/>
                <a:ea typeface="Arial"/>
                <a:cs typeface="Arial"/>
              </a:defRPr>
            </a:lvl9pPr>
          </a:lstStyle>
          <a:p xmlns:a="http://schemas.openxmlformats.org/drawingml/2006/main">
            <a:pPr>
              <a:buNone/>
              <a:defRPr sz="2100" b="0">
                <a:solidFill>
                  <a:srgbClr val="1B3034"/>
                </a:solidFill>
                <a:latin typeface="Arial"/>
                <a:ea typeface="Arial"/>
                <a:cs typeface="Arial"/>
              </a:defRPr>
            </a:pPr>
            <a:r>
              <a:rPr sz="2100" b="0">
                <a:solidFill>
                  <a:srgbClr val="1B3034"/>
                </a:solidFill>
                <a:latin typeface="Arial"/>
                <a:ea typeface="Arial"/>
                <a:cs typeface="Arial"/>
              </a:rPr>
              <a:t>Import staging, settlement records and corrections preserve the audit trail.</a:t>
            </a:r>
          </a:p>
        </p:txBody>
      </p:sp>
      <p:sp>
        <p:nvSpPr>
          <p:cNvPr id="6" name="evidence-limit">
            <a:extLst xmlns:a="http://schemas.openxmlformats.org/drawingml/2006/main">
              <a:ext uri="{FF2B5EF4-FFF2-40B4-BE49-F238E27FC236}">
                <a16:creationId xmlns:a16="http://schemas.microsoft.com/office/drawing/2014/main" id="{FE7A4833-3200-4664-BBCC-C9FF5E73ACBE}"/>
              </a:ext>
            </a:extLst>
          </p:cNvPr>
          <p:cNvSpPr>
            <a:spLocks xmlns:a="http://schemas.openxmlformats.org/drawingml/2006/main" noGrp="1"/>
          </p:cNvSpPr>
          <p:nvPr/>
        </p:nvSpPr>
        <p:spPr>
          <a:xfrm xmlns:a="http://schemas.openxmlformats.org/drawingml/2006/main">
            <a:off x="7219950" y="4724400"/>
            <a:ext cx="4191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96A"/>
                </a:solidFill>
                <a:latin typeface="Arial"/>
                <a:ea typeface="Arial"/>
                <a:cs typeface="Arial"/>
              </a:defRPr>
            </a:defPPr>
            <a:lvl1pPr>
              <a:buNone/>
              <a:defRPr sz="1875" b="0">
                <a:solidFill>
                  <a:srgbClr val="52696A"/>
                </a:solidFill>
                <a:latin typeface="Arial"/>
                <a:ea typeface="Arial"/>
                <a:cs typeface="Arial"/>
              </a:defRPr>
            </a:lvl1pPr>
            <a:lvl2pPr>
              <a:buNone/>
              <a:defRPr sz="1875" b="0">
                <a:solidFill>
                  <a:srgbClr val="52696A"/>
                </a:solidFill>
                <a:latin typeface="Arial"/>
                <a:ea typeface="Arial"/>
                <a:cs typeface="Arial"/>
              </a:defRPr>
            </a:lvl2pPr>
            <a:lvl3pPr>
              <a:buNone/>
              <a:defRPr sz="1875" b="0">
                <a:solidFill>
                  <a:srgbClr val="52696A"/>
                </a:solidFill>
                <a:latin typeface="Arial"/>
                <a:ea typeface="Arial"/>
                <a:cs typeface="Arial"/>
              </a:defRPr>
            </a:lvl3pPr>
            <a:lvl4pPr>
              <a:buNone/>
              <a:defRPr sz="1875" b="0">
                <a:solidFill>
                  <a:srgbClr val="52696A"/>
                </a:solidFill>
                <a:latin typeface="Arial"/>
                <a:ea typeface="Arial"/>
                <a:cs typeface="Arial"/>
              </a:defRPr>
            </a:lvl4pPr>
            <a:lvl5pPr>
              <a:buNone/>
              <a:defRPr sz="1875" b="0">
                <a:solidFill>
                  <a:srgbClr val="52696A"/>
                </a:solidFill>
                <a:latin typeface="Arial"/>
                <a:ea typeface="Arial"/>
                <a:cs typeface="Arial"/>
              </a:defRPr>
            </a:lvl5pPr>
            <a:lvl6pPr>
              <a:buNone/>
              <a:defRPr sz="1875" b="0">
                <a:solidFill>
                  <a:srgbClr val="52696A"/>
                </a:solidFill>
                <a:latin typeface="Arial"/>
                <a:ea typeface="Arial"/>
                <a:cs typeface="Arial"/>
              </a:defRPr>
            </a:lvl6pPr>
            <a:lvl7pPr>
              <a:buNone/>
              <a:defRPr sz="1875" b="0">
                <a:solidFill>
                  <a:srgbClr val="52696A"/>
                </a:solidFill>
                <a:latin typeface="Arial"/>
                <a:ea typeface="Arial"/>
                <a:cs typeface="Arial"/>
              </a:defRPr>
            </a:lvl7pPr>
            <a:lvl8pPr>
              <a:buNone/>
              <a:defRPr sz="1875" b="0">
                <a:solidFill>
                  <a:srgbClr val="52696A"/>
                </a:solidFill>
                <a:latin typeface="Arial"/>
                <a:ea typeface="Arial"/>
                <a:cs typeface="Arial"/>
              </a:defRPr>
            </a:lvl8pPr>
            <a:lvl9pPr>
              <a:buNone/>
              <a:defRPr sz="1875" b="0">
                <a:solidFill>
                  <a:srgbClr val="52696A"/>
                </a:solidFill>
                <a:latin typeface="Arial"/>
                <a:ea typeface="Arial"/>
                <a:cs typeface="Arial"/>
              </a:defRPr>
            </a:lvl9pPr>
          </a:lstStyle>
          <a:p xmlns:a="http://schemas.openxmlformats.org/drawingml/2006/main">
            <a:pPr>
              <a:buNone/>
              <a:defRPr sz="1875" b="0">
                <a:solidFill>
                  <a:srgbClr val="52696A"/>
                </a:solidFill>
                <a:latin typeface="Arial"/>
                <a:ea typeface="Arial"/>
                <a:cs typeface="Arial"/>
              </a:defRPr>
            </a:pPr>
            <a:r>
              <a:rPr sz="1875" b="0">
                <a:solidFill>
                  <a:srgbClr val="52696A"/>
                </a:solidFill>
                <a:latin typeface="Arial"/>
                <a:ea typeface="Arial"/>
                <a:cs typeface="Arial"/>
              </a:rPr>
              <a:t>Traceability cannot prove that every uploaded source is authentic or complete.</a:t>
            </a:r>
          </a:p>
        </p:txBody>
      </p:sp>
      <p:sp>
        <p:nvSpPr>
          <p:cNvPr id="7" name="caption">
            <a:extLst xmlns:a="http://schemas.openxmlformats.org/drawingml/2006/main">
              <a:ext uri="{FF2B5EF4-FFF2-40B4-BE49-F238E27FC236}">
                <a16:creationId xmlns:a16="http://schemas.microsoft.com/office/drawing/2014/main" id="{1952F0A2-9188-4400-AAF7-0A5367270335}"/>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Concept illustration. Documents provide evidence, never authorization.</a:t>
            </a:r>
          </a:p>
        </p:txBody>
      </p:sp>
    </p:spTree>
    <p:extLst>
      <p:ext uri="{BB962C8B-B14F-4D97-AF65-F5344CB8AC3E}">
        <p14:creationId xmlns:p14="http://schemas.microsoft.com/office/powerpoint/2010/main" val="2144710583"/>
      </p:ext>
    </p:extLst>
  </p:cSld>
</p:sld>
</file>

<file path=ppt/slides/slide9.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7EBD4D3-39CE-46F4-8903-A94B8A793FA2}"/>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Telegram updates and owner decisions</a:t>
            </a:r>
          </a:p>
        </p:txBody>
      </p:sp>
      <p:sp>
        <p:nvSpPr>
          <p:cNvPr id="2" name="page-number">
            <a:extLst xmlns:a="http://schemas.openxmlformats.org/drawingml/2006/main">
              <a:ext uri="{FF2B5EF4-FFF2-40B4-BE49-F238E27FC236}">
                <a16:creationId xmlns:a16="http://schemas.microsoft.com/office/drawing/2014/main" id="{2CD637DF-66AB-42B2-ACAC-A048B12E5745}"/>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09</a:t>
            </a:r>
          </a:p>
        </p:txBody>
      </p:sp>
      <p:sp>
        <p:nvSpPr>
          <p:cNvPr id="3" name="telegram-public">
            <a:extLst xmlns:a="http://schemas.openxmlformats.org/drawingml/2006/main">
              <a:ext uri="{FF2B5EF4-FFF2-40B4-BE49-F238E27FC236}">
                <a16:creationId xmlns:a16="http://schemas.microsoft.com/office/drawing/2014/main" id="{4F628A48-DBAA-4282-B52B-C5C1BB27AF2F}"/>
              </a:ext>
            </a:extLst>
          </p:cNvPr>
          <p:cNvSpPr>
            <a:spLocks xmlns:a="http://schemas.openxmlformats.org/drawingml/2006/main" noGrp="1"/>
          </p:cNvSpPr>
          <p:nvPr/>
        </p:nvSpPr>
        <p:spPr>
          <a:xfrm xmlns:a="http://schemas.openxmlformats.org/drawingml/2006/main">
            <a:off x="685800" y="18192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16754"/>
                </a:solidFill>
                <a:latin typeface="Arial"/>
                <a:ea typeface="Arial"/>
                <a:cs typeface="Arial"/>
              </a:defRPr>
            </a:defPPr>
            <a:lvl1pPr>
              <a:buNone/>
              <a:defRPr sz="2625" b="1">
                <a:solidFill>
                  <a:srgbClr val="116754"/>
                </a:solidFill>
                <a:latin typeface="Arial"/>
                <a:ea typeface="Arial"/>
                <a:cs typeface="Arial"/>
              </a:defRPr>
            </a:lvl1pPr>
            <a:lvl2pPr>
              <a:buNone/>
              <a:defRPr sz="2625" b="1">
                <a:solidFill>
                  <a:srgbClr val="116754"/>
                </a:solidFill>
                <a:latin typeface="Arial"/>
                <a:ea typeface="Arial"/>
                <a:cs typeface="Arial"/>
              </a:defRPr>
            </a:lvl2pPr>
            <a:lvl3pPr>
              <a:buNone/>
              <a:defRPr sz="2625" b="1">
                <a:solidFill>
                  <a:srgbClr val="116754"/>
                </a:solidFill>
                <a:latin typeface="Arial"/>
                <a:ea typeface="Arial"/>
                <a:cs typeface="Arial"/>
              </a:defRPr>
            </a:lvl3pPr>
            <a:lvl4pPr>
              <a:buNone/>
              <a:defRPr sz="2625" b="1">
                <a:solidFill>
                  <a:srgbClr val="116754"/>
                </a:solidFill>
                <a:latin typeface="Arial"/>
                <a:ea typeface="Arial"/>
                <a:cs typeface="Arial"/>
              </a:defRPr>
            </a:lvl4pPr>
            <a:lvl5pPr>
              <a:buNone/>
              <a:defRPr sz="2625" b="1">
                <a:solidFill>
                  <a:srgbClr val="116754"/>
                </a:solidFill>
                <a:latin typeface="Arial"/>
                <a:ea typeface="Arial"/>
                <a:cs typeface="Arial"/>
              </a:defRPr>
            </a:lvl5pPr>
            <a:lvl6pPr>
              <a:buNone/>
              <a:defRPr sz="2625" b="1">
                <a:solidFill>
                  <a:srgbClr val="116754"/>
                </a:solidFill>
                <a:latin typeface="Arial"/>
                <a:ea typeface="Arial"/>
                <a:cs typeface="Arial"/>
              </a:defRPr>
            </a:lvl6pPr>
            <a:lvl7pPr>
              <a:buNone/>
              <a:defRPr sz="2625" b="1">
                <a:solidFill>
                  <a:srgbClr val="116754"/>
                </a:solidFill>
                <a:latin typeface="Arial"/>
                <a:ea typeface="Arial"/>
                <a:cs typeface="Arial"/>
              </a:defRPr>
            </a:lvl7pPr>
            <a:lvl8pPr>
              <a:buNone/>
              <a:defRPr sz="2625" b="1">
                <a:solidFill>
                  <a:srgbClr val="116754"/>
                </a:solidFill>
                <a:latin typeface="Arial"/>
                <a:ea typeface="Arial"/>
                <a:cs typeface="Arial"/>
              </a:defRPr>
            </a:lvl8pPr>
            <a:lvl9pPr>
              <a:buNone/>
              <a:defRPr sz="2625" b="1">
                <a:solidFill>
                  <a:srgbClr val="116754"/>
                </a:solidFill>
                <a:latin typeface="Arial"/>
                <a:ea typeface="Arial"/>
                <a:cs typeface="Arial"/>
              </a:defRPr>
            </a:lvl9pPr>
          </a:lstStyle>
          <a:p xmlns:a="http://schemas.openxmlformats.org/drawingml/2006/main">
            <a:pPr>
              <a:buNone/>
              <a:defRPr sz="2625" b="1">
                <a:solidFill>
                  <a:srgbClr val="116754"/>
                </a:solidFill>
                <a:latin typeface="Arial"/>
                <a:ea typeface="Arial"/>
                <a:cs typeface="Arial"/>
              </a:defRPr>
            </a:pPr>
            <a:r>
              <a:rPr sz="2625" b="1">
                <a:solidFill>
                  <a:srgbClr val="116754"/>
                </a:solidFill>
                <a:latin typeface="Arial"/>
                <a:ea typeface="Arial"/>
                <a:cs typeface="Arial"/>
              </a:rPr>
              <a:t>Browser practice</a:t>
            </a:r>
          </a:p>
        </p:txBody>
      </p:sp>
      <p:sp>
        <p:nvSpPr>
          <p:cNvPr id="4" name="telegram-public-copy">
            <a:extLst xmlns:a="http://schemas.openxmlformats.org/drawingml/2006/main">
              <a:ext uri="{FF2B5EF4-FFF2-40B4-BE49-F238E27FC236}">
                <a16:creationId xmlns:a16="http://schemas.microsoft.com/office/drawing/2014/main" id="{89652D92-21E0-4DE3-8E3C-55FC3A54D01E}"/>
              </a:ext>
            </a:extLst>
          </p:cNvPr>
          <p:cNvSpPr>
            <a:spLocks xmlns:a="http://schemas.openxmlformats.org/drawingml/2006/main" noGrp="1"/>
          </p:cNvSpPr>
          <p:nvPr/>
        </p:nvSpPr>
        <p:spPr>
          <a:xfrm xmlns:a="http://schemas.openxmlformats.org/drawingml/2006/main">
            <a:off x="685800" y="2600325"/>
            <a:ext cx="447675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034"/>
                </a:solidFill>
                <a:latin typeface="Arial"/>
                <a:ea typeface="Arial"/>
                <a:cs typeface="Arial"/>
              </a:defRPr>
            </a:defPPr>
            <a:lvl1pPr>
              <a:buNone/>
              <a:defRPr sz="2025" b="0">
                <a:solidFill>
                  <a:srgbClr val="1B3034"/>
                </a:solidFill>
                <a:latin typeface="Arial"/>
                <a:ea typeface="Arial"/>
                <a:cs typeface="Arial"/>
              </a:defRPr>
            </a:lvl1pPr>
            <a:lvl2pPr>
              <a:buNone/>
              <a:defRPr sz="2025" b="0">
                <a:solidFill>
                  <a:srgbClr val="1B3034"/>
                </a:solidFill>
                <a:latin typeface="Arial"/>
                <a:ea typeface="Arial"/>
                <a:cs typeface="Arial"/>
              </a:defRPr>
            </a:lvl2pPr>
            <a:lvl3pPr>
              <a:buNone/>
              <a:defRPr sz="2025" b="0">
                <a:solidFill>
                  <a:srgbClr val="1B3034"/>
                </a:solidFill>
                <a:latin typeface="Arial"/>
                <a:ea typeface="Arial"/>
                <a:cs typeface="Arial"/>
              </a:defRPr>
            </a:lvl3pPr>
            <a:lvl4pPr>
              <a:buNone/>
              <a:defRPr sz="2025" b="0">
                <a:solidFill>
                  <a:srgbClr val="1B3034"/>
                </a:solidFill>
                <a:latin typeface="Arial"/>
                <a:ea typeface="Arial"/>
                <a:cs typeface="Arial"/>
              </a:defRPr>
            </a:lvl4pPr>
            <a:lvl5pPr>
              <a:buNone/>
              <a:defRPr sz="2025" b="0">
                <a:solidFill>
                  <a:srgbClr val="1B3034"/>
                </a:solidFill>
                <a:latin typeface="Arial"/>
                <a:ea typeface="Arial"/>
                <a:cs typeface="Arial"/>
              </a:defRPr>
            </a:lvl5pPr>
            <a:lvl6pPr>
              <a:buNone/>
              <a:defRPr sz="2025" b="0">
                <a:solidFill>
                  <a:srgbClr val="1B3034"/>
                </a:solidFill>
                <a:latin typeface="Arial"/>
                <a:ea typeface="Arial"/>
                <a:cs typeface="Arial"/>
              </a:defRPr>
            </a:lvl6pPr>
            <a:lvl7pPr>
              <a:buNone/>
              <a:defRPr sz="2025" b="0">
                <a:solidFill>
                  <a:srgbClr val="1B3034"/>
                </a:solidFill>
                <a:latin typeface="Arial"/>
                <a:ea typeface="Arial"/>
                <a:cs typeface="Arial"/>
              </a:defRPr>
            </a:lvl7pPr>
            <a:lvl8pPr>
              <a:buNone/>
              <a:defRPr sz="2025" b="0">
                <a:solidFill>
                  <a:srgbClr val="1B3034"/>
                </a:solidFill>
                <a:latin typeface="Arial"/>
                <a:ea typeface="Arial"/>
                <a:cs typeface="Arial"/>
              </a:defRPr>
            </a:lvl8pPr>
            <a:lvl9pPr>
              <a:buNone/>
              <a:defRPr sz="2025" b="0">
                <a:solidFill>
                  <a:srgbClr val="1B3034"/>
                </a:solidFill>
                <a:latin typeface="Arial"/>
                <a:ea typeface="Arial"/>
                <a:cs typeface="Arial"/>
              </a:defRPr>
            </a:lvl9pPr>
          </a:lstStyle>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No Telegram account or token</a:t>
            </a:r>
          </a:p>
          <a:p xmlns:a="http://schemas.openxmlformats.org/drawingml/2006/main">
            <a:r>
              <a:t/>
            </a:r>
          </a:p>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Deterministic commands on a separate disposable lesson</a:t>
            </a:r>
          </a:p>
          <a:p xmlns:a="http://schemas.openxmlformats.org/drawingml/2006/main">
            <a:r>
              <a:t/>
            </a:r>
          </a:p>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Simulated delivery and explicit human review</a:t>
            </a:r>
          </a:p>
        </p:txBody>
      </p:sp>
      <p:sp>
        <p:nvSpPr>
          <p:cNvPr id="5" name="telegram-private">
            <a:extLst xmlns:a="http://schemas.openxmlformats.org/drawingml/2006/main">
              <a:ext uri="{FF2B5EF4-FFF2-40B4-BE49-F238E27FC236}">
                <a16:creationId xmlns:a16="http://schemas.microsoft.com/office/drawing/2014/main" id="{700D93F5-B7CF-4032-90F6-116809E9D50D}"/>
              </a:ext>
            </a:extLst>
          </p:cNvPr>
          <p:cNvSpPr>
            <a:spLocks xmlns:a="http://schemas.openxmlformats.org/drawingml/2006/main" noGrp="1"/>
          </p:cNvSpPr>
          <p:nvPr/>
        </p:nvSpPr>
        <p:spPr>
          <a:xfrm xmlns:a="http://schemas.openxmlformats.org/drawingml/2006/main">
            <a:off x="685800" y="5305425"/>
            <a:ext cx="4572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96A"/>
                </a:solidFill>
                <a:latin typeface="Arial"/>
                <a:ea typeface="Arial"/>
                <a:cs typeface="Arial"/>
              </a:defRPr>
            </a:defPPr>
            <a:lvl1pPr>
              <a:buNone/>
              <a:defRPr sz="1725" b="0">
                <a:solidFill>
                  <a:srgbClr val="52696A"/>
                </a:solidFill>
                <a:latin typeface="Arial"/>
                <a:ea typeface="Arial"/>
                <a:cs typeface="Arial"/>
              </a:defRPr>
            </a:lvl1pPr>
            <a:lvl2pPr>
              <a:buNone/>
              <a:defRPr sz="1725" b="0">
                <a:solidFill>
                  <a:srgbClr val="52696A"/>
                </a:solidFill>
                <a:latin typeface="Arial"/>
                <a:ea typeface="Arial"/>
                <a:cs typeface="Arial"/>
              </a:defRPr>
            </a:lvl2pPr>
            <a:lvl3pPr>
              <a:buNone/>
              <a:defRPr sz="1725" b="0">
                <a:solidFill>
                  <a:srgbClr val="52696A"/>
                </a:solidFill>
                <a:latin typeface="Arial"/>
                <a:ea typeface="Arial"/>
                <a:cs typeface="Arial"/>
              </a:defRPr>
            </a:lvl3pPr>
            <a:lvl4pPr>
              <a:buNone/>
              <a:defRPr sz="1725" b="0">
                <a:solidFill>
                  <a:srgbClr val="52696A"/>
                </a:solidFill>
                <a:latin typeface="Arial"/>
                <a:ea typeface="Arial"/>
                <a:cs typeface="Arial"/>
              </a:defRPr>
            </a:lvl4pPr>
            <a:lvl5pPr>
              <a:buNone/>
              <a:defRPr sz="1725" b="0">
                <a:solidFill>
                  <a:srgbClr val="52696A"/>
                </a:solidFill>
                <a:latin typeface="Arial"/>
                <a:ea typeface="Arial"/>
                <a:cs typeface="Arial"/>
              </a:defRPr>
            </a:lvl5pPr>
            <a:lvl6pPr>
              <a:buNone/>
              <a:defRPr sz="1725" b="0">
                <a:solidFill>
                  <a:srgbClr val="52696A"/>
                </a:solidFill>
                <a:latin typeface="Arial"/>
                <a:ea typeface="Arial"/>
                <a:cs typeface="Arial"/>
              </a:defRPr>
            </a:lvl6pPr>
            <a:lvl7pPr>
              <a:buNone/>
              <a:defRPr sz="1725" b="0">
                <a:solidFill>
                  <a:srgbClr val="52696A"/>
                </a:solidFill>
                <a:latin typeface="Arial"/>
                <a:ea typeface="Arial"/>
                <a:cs typeface="Arial"/>
              </a:defRPr>
            </a:lvl7pPr>
            <a:lvl8pPr>
              <a:buNone/>
              <a:defRPr sz="1725" b="0">
                <a:solidFill>
                  <a:srgbClr val="52696A"/>
                </a:solidFill>
                <a:latin typeface="Arial"/>
                <a:ea typeface="Arial"/>
                <a:cs typeface="Arial"/>
              </a:defRPr>
            </a:lvl8pPr>
            <a:lvl9pPr>
              <a:buNone/>
              <a:defRPr sz="1725" b="0">
                <a:solidFill>
                  <a:srgbClr val="52696A"/>
                </a:solidFill>
                <a:latin typeface="Arial"/>
                <a:ea typeface="Arial"/>
                <a:cs typeface="Arial"/>
              </a:defRPr>
            </a:lvl9pPr>
          </a:lstStyle>
          <a:p xmlns:a="http://schemas.openxmlformats.org/drawingml/2006/main">
            <a:pPr>
              <a:buNone/>
              <a:defRPr sz="1725" b="0">
                <a:solidFill>
                  <a:srgbClr val="52696A"/>
                </a:solidFill>
                <a:latin typeface="Arial"/>
                <a:ea typeface="Arial"/>
                <a:cs typeface="Arial"/>
              </a:defRPr>
            </a:pPr>
            <a:r>
              <a:rPr sz="1725" b="0">
                <a:solidFill>
                  <a:srgbClr val="52696A"/>
                </a:solidFill>
                <a:latin typeface="Arial"/>
                <a:ea typeface="Arial"/>
                <a:cs typeface="Arial"/>
              </a:rPr>
              <a:t>Private Autopilot sends updates and exact DRAFT decision buttons to a paired owner.</a:t>
            </a:r>
          </a:p>
        </p:txBody>
      </p:sp>
      <p:pic>
        <p:nvPicPr>
          <p:cNvPr id="6" name="">
            <a:extLst xmlns:a="http://schemas.openxmlformats.org/drawingml/2006/main">
              <a:ext uri="{FF2B5EF4-FFF2-40B4-BE49-F238E27FC236}">
                <a16:creationId xmlns:a16="http://schemas.microsoft.com/office/drawing/2014/main" id="{E126EB29-0815-4F0D-9652-F587BEFB5BEC}"/>
              </a:ext>
            </a:extLst>
          </p:cNvPr>
          <p:cNvPicPr>
            <a:picLocks xmlns:a="http://schemas.openxmlformats.org/drawingml/2006/main" noChangeAspect="1"/>
          </p:cNvPicPr>
          <p:nvPr/>
        </p:nvPicPr>
        <p:blipFill>
          <a:blip xmlns:r="http://schemas.openxmlformats.org/officeDocument/2006/relationships" xmlns:a="http://schemas.openxmlformats.org/drawingml/2006/main" r:embed="Rbfb8f7c36caa40d3"/>
          <a:srcRect xmlns:a="http://schemas.openxmlformats.org/drawingml/2006/main" l="25000" t="44000" r="34000" b="31000"/>
          <a:stretch xmlns:a="http://schemas.openxmlformats.org/drawingml/2006/main"/>
        </p:blipFill>
        <p:spPr>
          <a:xfrm xmlns:a="http://schemas.openxmlformats.org/drawingml/2006/main">
            <a:off x="6286500" y="1571625"/>
            <a:ext cx="4210050" cy="4524375"/>
          </a:xfrm>
          <a:prstGeom xmlns:a="http://schemas.openxmlformats.org/drawingml/2006/main" prst="rect">
            <a:avLst/>
          </a:prstGeom>
        </p:spPr>
      </p:pic>
      <p:sp>
        <p:nvSpPr>
          <p:cNvPr id="7" name="telegram-caption">
            <a:extLst xmlns:a="http://schemas.openxmlformats.org/drawingml/2006/main">
              <a:ext uri="{FF2B5EF4-FFF2-40B4-BE49-F238E27FC236}">
                <a16:creationId xmlns:a16="http://schemas.microsoft.com/office/drawing/2014/main" id="{5665C293-DA0E-47DC-9A25-705FB06126AC}"/>
              </a:ext>
            </a:extLst>
          </p:cNvPr>
          <p:cNvSpPr>
            <a:spLocks xmlns:a="http://schemas.openxmlformats.org/drawingml/2006/main" noGrp="1"/>
          </p:cNvSpPr>
          <p:nvPr/>
        </p:nvSpPr>
        <p:spPr>
          <a:xfrm xmlns:a="http://schemas.openxmlformats.org/drawingml/2006/main">
            <a:off x="6000750" y="6162675"/>
            <a:ext cx="5286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96A"/>
                </a:solidFill>
                <a:latin typeface="Arial"/>
                <a:ea typeface="Arial"/>
                <a:cs typeface="Arial"/>
              </a:defRPr>
            </a:defPPr>
            <a:lvl1pPr>
              <a:buNone/>
              <a:defRPr sz="1350" b="0">
                <a:solidFill>
                  <a:srgbClr val="52696A"/>
                </a:solidFill>
                <a:latin typeface="Arial"/>
                <a:ea typeface="Arial"/>
                <a:cs typeface="Arial"/>
              </a:defRPr>
            </a:lvl1pPr>
            <a:lvl2pPr>
              <a:buNone/>
              <a:defRPr sz="1350" b="0">
                <a:solidFill>
                  <a:srgbClr val="52696A"/>
                </a:solidFill>
                <a:latin typeface="Arial"/>
                <a:ea typeface="Arial"/>
                <a:cs typeface="Arial"/>
              </a:defRPr>
            </a:lvl2pPr>
            <a:lvl3pPr>
              <a:buNone/>
              <a:defRPr sz="1350" b="0">
                <a:solidFill>
                  <a:srgbClr val="52696A"/>
                </a:solidFill>
                <a:latin typeface="Arial"/>
                <a:ea typeface="Arial"/>
                <a:cs typeface="Arial"/>
              </a:defRPr>
            </a:lvl3pPr>
            <a:lvl4pPr>
              <a:buNone/>
              <a:defRPr sz="1350" b="0">
                <a:solidFill>
                  <a:srgbClr val="52696A"/>
                </a:solidFill>
                <a:latin typeface="Arial"/>
                <a:ea typeface="Arial"/>
                <a:cs typeface="Arial"/>
              </a:defRPr>
            </a:lvl4pPr>
            <a:lvl5pPr>
              <a:buNone/>
              <a:defRPr sz="1350" b="0">
                <a:solidFill>
                  <a:srgbClr val="52696A"/>
                </a:solidFill>
                <a:latin typeface="Arial"/>
                <a:ea typeface="Arial"/>
                <a:cs typeface="Arial"/>
              </a:defRPr>
            </a:lvl5pPr>
            <a:lvl6pPr>
              <a:buNone/>
              <a:defRPr sz="1350" b="0">
                <a:solidFill>
                  <a:srgbClr val="52696A"/>
                </a:solidFill>
                <a:latin typeface="Arial"/>
                <a:ea typeface="Arial"/>
                <a:cs typeface="Arial"/>
              </a:defRPr>
            </a:lvl6pPr>
            <a:lvl7pPr>
              <a:buNone/>
              <a:defRPr sz="1350" b="0">
                <a:solidFill>
                  <a:srgbClr val="52696A"/>
                </a:solidFill>
                <a:latin typeface="Arial"/>
                <a:ea typeface="Arial"/>
                <a:cs typeface="Arial"/>
              </a:defRPr>
            </a:lvl7pPr>
            <a:lvl8pPr>
              <a:buNone/>
              <a:defRPr sz="1350" b="0">
                <a:solidFill>
                  <a:srgbClr val="52696A"/>
                </a:solidFill>
                <a:latin typeface="Arial"/>
                <a:ea typeface="Arial"/>
                <a:cs typeface="Arial"/>
              </a:defRPr>
            </a:lvl8pPr>
            <a:lvl9pPr>
              <a:buNone/>
              <a:defRPr sz="1350" b="0">
                <a:solidFill>
                  <a:srgbClr val="52696A"/>
                </a:solidFill>
                <a:latin typeface="Arial"/>
                <a:ea typeface="Arial"/>
                <a:cs typeface="Arial"/>
              </a:defRPr>
            </a:lvl9pPr>
          </a:lstStyle>
          <a:p xmlns:a="http://schemas.openxmlformats.org/drawingml/2006/main">
            <a:pPr>
              <a:buNone/>
              <a:defRPr sz="1350" b="0">
                <a:solidFill>
                  <a:srgbClr val="52696A"/>
                </a:solidFill>
                <a:latin typeface="Arial"/>
                <a:ea typeface="Arial"/>
                <a:cs typeface="Arial"/>
              </a:defRPr>
            </a:pPr>
            <a:r>
              <a:rPr sz="1350" b="0">
                <a:solidFill>
                  <a:srgbClr val="52696A"/>
                </a:solidFill>
                <a:latin typeface="Arial"/>
                <a:ea typeface="Arial"/>
                <a:cs typeface="Arial"/>
              </a:rPr>
              <a:t>Captured /forecast response. No real delivery.</a:t>
            </a:r>
          </a:p>
        </p:txBody>
      </p:sp>
    </p:spTree>
    <p:extLst>
      <p:ext uri="{BB962C8B-B14F-4D97-AF65-F5344CB8AC3E}">
        <p14:creationId xmlns:p14="http://schemas.microsoft.com/office/powerpoint/2010/main" val="836937307"/>
      </p:ext>
    </p:extLst>
  </p:cSld>
</p:sld>
</file>

<file path=ppt/slides/slide10.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4D3B1D1-96E9-4601-BF90-60E64DDFAE09}"/>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Scheduled checks use local code</a:t>
            </a:r>
          </a:p>
        </p:txBody>
      </p:sp>
      <p:sp>
        <p:nvSpPr>
          <p:cNvPr id="2" name="page-number">
            <a:extLst xmlns:a="http://schemas.openxmlformats.org/drawingml/2006/main">
              <a:ext uri="{FF2B5EF4-FFF2-40B4-BE49-F238E27FC236}">
                <a16:creationId xmlns:a16="http://schemas.microsoft.com/office/drawing/2014/main" id="{67301583-E6A0-4D6A-89BC-D3423441D44C}"/>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10</a:t>
            </a:r>
          </a:p>
        </p:txBody>
      </p:sp>
      <p:sp>
        <p:nvSpPr>
          <p:cNvPr id="3" name="local-heading">
            <a:extLst xmlns:a="http://schemas.openxmlformats.org/drawingml/2006/main">
              <a:ext uri="{FF2B5EF4-FFF2-40B4-BE49-F238E27FC236}">
                <a16:creationId xmlns:a16="http://schemas.microsoft.com/office/drawing/2014/main" id="{82DB1223-AD9B-41C9-85F7-6FFE9FA7CCD3}"/>
              </a:ext>
            </a:extLst>
          </p:cNvPr>
          <p:cNvSpPr>
            <a:spLocks xmlns:a="http://schemas.openxmlformats.org/drawingml/2006/main" noGrp="1"/>
          </p:cNvSpPr>
          <p:nvPr/>
        </p:nvSpPr>
        <p:spPr>
          <a:xfrm xmlns:a="http://schemas.openxmlformats.org/drawingml/2006/main">
            <a:off x="685800" y="1809750"/>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16754"/>
                </a:solidFill>
                <a:latin typeface="Arial"/>
                <a:ea typeface="Arial"/>
                <a:cs typeface="Arial"/>
              </a:defRPr>
            </a:defPPr>
            <a:lvl1pPr>
              <a:buNone/>
              <a:defRPr sz="2700" b="1">
                <a:solidFill>
                  <a:srgbClr val="116754"/>
                </a:solidFill>
                <a:latin typeface="Arial"/>
                <a:ea typeface="Arial"/>
                <a:cs typeface="Arial"/>
              </a:defRPr>
            </a:lvl1pPr>
            <a:lvl2pPr>
              <a:buNone/>
              <a:defRPr sz="2700" b="1">
                <a:solidFill>
                  <a:srgbClr val="116754"/>
                </a:solidFill>
                <a:latin typeface="Arial"/>
                <a:ea typeface="Arial"/>
                <a:cs typeface="Arial"/>
              </a:defRPr>
            </a:lvl2pPr>
            <a:lvl3pPr>
              <a:buNone/>
              <a:defRPr sz="2700" b="1">
                <a:solidFill>
                  <a:srgbClr val="116754"/>
                </a:solidFill>
                <a:latin typeface="Arial"/>
                <a:ea typeface="Arial"/>
                <a:cs typeface="Arial"/>
              </a:defRPr>
            </a:lvl3pPr>
            <a:lvl4pPr>
              <a:buNone/>
              <a:defRPr sz="2700" b="1">
                <a:solidFill>
                  <a:srgbClr val="116754"/>
                </a:solidFill>
                <a:latin typeface="Arial"/>
                <a:ea typeface="Arial"/>
                <a:cs typeface="Arial"/>
              </a:defRPr>
            </a:lvl4pPr>
            <a:lvl5pPr>
              <a:buNone/>
              <a:defRPr sz="2700" b="1">
                <a:solidFill>
                  <a:srgbClr val="116754"/>
                </a:solidFill>
                <a:latin typeface="Arial"/>
                <a:ea typeface="Arial"/>
                <a:cs typeface="Arial"/>
              </a:defRPr>
            </a:lvl5pPr>
            <a:lvl6pPr>
              <a:buNone/>
              <a:defRPr sz="2700" b="1">
                <a:solidFill>
                  <a:srgbClr val="116754"/>
                </a:solidFill>
                <a:latin typeface="Arial"/>
                <a:ea typeface="Arial"/>
                <a:cs typeface="Arial"/>
              </a:defRPr>
            </a:lvl6pPr>
            <a:lvl7pPr>
              <a:buNone/>
              <a:defRPr sz="2700" b="1">
                <a:solidFill>
                  <a:srgbClr val="116754"/>
                </a:solidFill>
                <a:latin typeface="Arial"/>
                <a:ea typeface="Arial"/>
                <a:cs typeface="Arial"/>
              </a:defRPr>
            </a:lvl7pPr>
            <a:lvl8pPr>
              <a:buNone/>
              <a:defRPr sz="2700" b="1">
                <a:solidFill>
                  <a:srgbClr val="116754"/>
                </a:solidFill>
                <a:latin typeface="Arial"/>
                <a:ea typeface="Arial"/>
                <a:cs typeface="Arial"/>
              </a:defRPr>
            </a:lvl8pPr>
            <a:lvl9pPr>
              <a:buNone/>
              <a:defRPr sz="2700" b="1">
                <a:solidFill>
                  <a:srgbClr val="116754"/>
                </a:solidFill>
                <a:latin typeface="Arial"/>
                <a:ea typeface="Arial"/>
                <a:cs typeface="Arial"/>
              </a:defRPr>
            </a:lvl9pPr>
          </a:lstStyle>
          <a:p xmlns:a="http://schemas.openxmlformats.org/drawingml/2006/main">
            <a:pPr>
              <a:buNone/>
              <a:defRPr sz="2700" b="1">
                <a:solidFill>
                  <a:srgbClr val="116754"/>
                </a:solidFill>
                <a:latin typeface="Arial"/>
                <a:ea typeface="Arial"/>
                <a:cs typeface="Arial"/>
              </a:defRPr>
            </a:pPr>
            <a:r>
              <a:rPr sz="2700" b="1">
                <a:solidFill>
                  <a:srgbClr val="116754"/>
                </a:solidFill>
                <a:latin typeface="Arial"/>
                <a:ea typeface="Arial"/>
                <a:cs typeface="Arial"/>
              </a:rPr>
              <a:t>Local Autopilot</a:t>
            </a:r>
          </a:p>
        </p:txBody>
      </p:sp>
      <p:sp>
        <p:nvSpPr>
          <p:cNvPr id="4" name="local-copy">
            <a:extLst xmlns:a="http://schemas.openxmlformats.org/drawingml/2006/main">
              <a:ext uri="{FF2B5EF4-FFF2-40B4-BE49-F238E27FC236}">
                <a16:creationId xmlns:a16="http://schemas.microsoft.com/office/drawing/2014/main" id="{1366B116-012D-473D-A4F8-F83DE3140B7F}"/>
              </a:ext>
            </a:extLst>
          </p:cNvPr>
          <p:cNvSpPr>
            <a:spLocks xmlns:a="http://schemas.openxmlformats.org/drawingml/2006/main" noGrp="1"/>
          </p:cNvSpPr>
          <p:nvPr/>
        </p:nvSpPr>
        <p:spPr>
          <a:xfrm xmlns:a="http://schemas.openxmlformats.org/drawingml/2006/main">
            <a:off x="685800" y="2724150"/>
            <a:ext cx="49530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034"/>
                </a:solidFill>
                <a:latin typeface="Arial"/>
                <a:ea typeface="Arial"/>
                <a:cs typeface="Arial"/>
              </a:defRPr>
            </a:defPPr>
            <a:lvl1pPr>
              <a:buNone/>
              <a:defRPr sz="2025" b="0">
                <a:solidFill>
                  <a:srgbClr val="1B3034"/>
                </a:solidFill>
                <a:latin typeface="Arial"/>
                <a:ea typeface="Arial"/>
                <a:cs typeface="Arial"/>
              </a:defRPr>
            </a:lvl1pPr>
            <a:lvl2pPr>
              <a:buNone/>
              <a:defRPr sz="2025" b="0">
                <a:solidFill>
                  <a:srgbClr val="1B3034"/>
                </a:solidFill>
                <a:latin typeface="Arial"/>
                <a:ea typeface="Arial"/>
                <a:cs typeface="Arial"/>
              </a:defRPr>
            </a:lvl2pPr>
            <a:lvl3pPr>
              <a:buNone/>
              <a:defRPr sz="2025" b="0">
                <a:solidFill>
                  <a:srgbClr val="1B3034"/>
                </a:solidFill>
                <a:latin typeface="Arial"/>
                <a:ea typeface="Arial"/>
                <a:cs typeface="Arial"/>
              </a:defRPr>
            </a:lvl3pPr>
            <a:lvl4pPr>
              <a:buNone/>
              <a:defRPr sz="2025" b="0">
                <a:solidFill>
                  <a:srgbClr val="1B3034"/>
                </a:solidFill>
                <a:latin typeface="Arial"/>
                <a:ea typeface="Arial"/>
                <a:cs typeface="Arial"/>
              </a:defRPr>
            </a:lvl4pPr>
            <a:lvl5pPr>
              <a:buNone/>
              <a:defRPr sz="2025" b="0">
                <a:solidFill>
                  <a:srgbClr val="1B3034"/>
                </a:solidFill>
                <a:latin typeface="Arial"/>
                <a:ea typeface="Arial"/>
                <a:cs typeface="Arial"/>
              </a:defRPr>
            </a:lvl5pPr>
            <a:lvl6pPr>
              <a:buNone/>
              <a:defRPr sz="2025" b="0">
                <a:solidFill>
                  <a:srgbClr val="1B3034"/>
                </a:solidFill>
                <a:latin typeface="Arial"/>
                <a:ea typeface="Arial"/>
                <a:cs typeface="Arial"/>
              </a:defRPr>
            </a:lvl6pPr>
            <a:lvl7pPr>
              <a:buNone/>
              <a:defRPr sz="2025" b="0">
                <a:solidFill>
                  <a:srgbClr val="1B3034"/>
                </a:solidFill>
                <a:latin typeface="Arial"/>
                <a:ea typeface="Arial"/>
                <a:cs typeface="Arial"/>
              </a:defRPr>
            </a:lvl7pPr>
            <a:lvl8pPr>
              <a:buNone/>
              <a:defRPr sz="2025" b="0">
                <a:solidFill>
                  <a:srgbClr val="1B3034"/>
                </a:solidFill>
                <a:latin typeface="Arial"/>
                <a:ea typeface="Arial"/>
                <a:cs typeface="Arial"/>
              </a:defRPr>
            </a:lvl8pPr>
            <a:lvl9pPr>
              <a:buNone/>
              <a:defRPr sz="2025" b="0">
                <a:solidFill>
                  <a:srgbClr val="1B3034"/>
                </a:solidFill>
                <a:latin typeface="Arial"/>
                <a:ea typeface="Arial"/>
                <a:cs typeface="Arial"/>
              </a:defRPr>
            </a:lvl9pPr>
          </a:lstStyle>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Five-minute checks when enabled</a:t>
            </a:r>
          </a:p>
          <a:p xmlns:a="http://schemas.openxmlformats.org/drawingml/2006/main">
            <a:r>
              <a:t/>
            </a:r>
          </a:p>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Changed data triggers analysis</a:t>
            </a:r>
          </a:p>
          <a:p xmlns:a="http://schemas.openxmlformats.org/drawingml/2006/main">
            <a:r>
              <a:t/>
            </a:r>
          </a:p>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Owner limits bound DRAFT preparation</a:t>
            </a:r>
          </a:p>
          <a:p xmlns:a="http://schemas.openxmlformats.org/drawingml/2006/main">
            <a:r>
              <a:t/>
            </a:r>
          </a:p>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Unchanged data uses a timed digest</a:t>
            </a:r>
          </a:p>
        </p:txBody>
      </p:sp>
      <p:sp>
        <p:nvSpPr>
          <p:cNvPr id="5" name="external-heading">
            <a:extLst xmlns:a="http://schemas.openxmlformats.org/drawingml/2006/main">
              <a:ext uri="{FF2B5EF4-FFF2-40B4-BE49-F238E27FC236}">
                <a16:creationId xmlns:a16="http://schemas.microsoft.com/office/drawing/2014/main" id="{87EB5ADA-0A11-45B9-899A-149C589B4212}"/>
              </a:ext>
            </a:extLst>
          </p:cNvPr>
          <p:cNvSpPr>
            <a:spLocks xmlns:a="http://schemas.openxmlformats.org/drawingml/2006/main" noGrp="1"/>
          </p:cNvSpPr>
          <p:nvPr/>
        </p:nvSpPr>
        <p:spPr>
          <a:xfrm xmlns:a="http://schemas.openxmlformats.org/drawingml/2006/main">
            <a:off x="6800850" y="1809750"/>
            <a:ext cx="4705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B3034"/>
                </a:solidFill>
                <a:latin typeface="Arial"/>
                <a:ea typeface="Arial"/>
                <a:cs typeface="Arial"/>
              </a:defRPr>
            </a:defPPr>
            <a:lvl1pPr>
              <a:buNone/>
              <a:defRPr sz="2550" b="1">
                <a:solidFill>
                  <a:srgbClr val="1B3034"/>
                </a:solidFill>
                <a:latin typeface="Arial"/>
                <a:ea typeface="Arial"/>
                <a:cs typeface="Arial"/>
              </a:defRPr>
            </a:lvl1pPr>
            <a:lvl2pPr>
              <a:buNone/>
              <a:defRPr sz="2550" b="1">
                <a:solidFill>
                  <a:srgbClr val="1B3034"/>
                </a:solidFill>
                <a:latin typeface="Arial"/>
                <a:ea typeface="Arial"/>
                <a:cs typeface="Arial"/>
              </a:defRPr>
            </a:lvl2pPr>
            <a:lvl3pPr>
              <a:buNone/>
              <a:defRPr sz="2550" b="1">
                <a:solidFill>
                  <a:srgbClr val="1B3034"/>
                </a:solidFill>
                <a:latin typeface="Arial"/>
                <a:ea typeface="Arial"/>
                <a:cs typeface="Arial"/>
              </a:defRPr>
            </a:lvl3pPr>
            <a:lvl4pPr>
              <a:buNone/>
              <a:defRPr sz="2550" b="1">
                <a:solidFill>
                  <a:srgbClr val="1B3034"/>
                </a:solidFill>
                <a:latin typeface="Arial"/>
                <a:ea typeface="Arial"/>
                <a:cs typeface="Arial"/>
              </a:defRPr>
            </a:lvl4pPr>
            <a:lvl5pPr>
              <a:buNone/>
              <a:defRPr sz="2550" b="1">
                <a:solidFill>
                  <a:srgbClr val="1B3034"/>
                </a:solidFill>
                <a:latin typeface="Arial"/>
                <a:ea typeface="Arial"/>
                <a:cs typeface="Arial"/>
              </a:defRPr>
            </a:lvl5pPr>
            <a:lvl6pPr>
              <a:buNone/>
              <a:defRPr sz="2550" b="1">
                <a:solidFill>
                  <a:srgbClr val="1B3034"/>
                </a:solidFill>
                <a:latin typeface="Arial"/>
                <a:ea typeface="Arial"/>
                <a:cs typeface="Arial"/>
              </a:defRPr>
            </a:lvl6pPr>
            <a:lvl7pPr>
              <a:buNone/>
              <a:defRPr sz="2550" b="1">
                <a:solidFill>
                  <a:srgbClr val="1B3034"/>
                </a:solidFill>
                <a:latin typeface="Arial"/>
                <a:ea typeface="Arial"/>
                <a:cs typeface="Arial"/>
              </a:defRPr>
            </a:lvl7pPr>
            <a:lvl8pPr>
              <a:buNone/>
              <a:defRPr sz="2550" b="1">
                <a:solidFill>
                  <a:srgbClr val="1B3034"/>
                </a:solidFill>
                <a:latin typeface="Arial"/>
                <a:ea typeface="Arial"/>
                <a:cs typeface="Arial"/>
              </a:defRPr>
            </a:lvl8pPr>
            <a:lvl9pPr>
              <a:buNone/>
              <a:defRPr sz="2550" b="1">
                <a:solidFill>
                  <a:srgbClr val="1B3034"/>
                </a:solidFill>
                <a:latin typeface="Arial"/>
                <a:ea typeface="Arial"/>
                <a:cs typeface="Arial"/>
              </a:defRPr>
            </a:lvl9pPr>
          </a:lstStyle>
          <a:p xmlns:a="http://schemas.openxmlformats.org/drawingml/2006/main">
            <a:pPr>
              <a:buNone/>
              <a:defRPr sz="2550" b="1">
                <a:solidFill>
                  <a:srgbClr val="1B3034"/>
                </a:solidFill>
                <a:latin typeface="Arial"/>
                <a:ea typeface="Arial"/>
                <a:cs typeface="Arial"/>
              </a:defRPr>
            </a:pPr>
            <a:r>
              <a:rPr sz="2550" b="1">
                <a:solidFill>
                  <a:srgbClr val="1B3034"/>
                </a:solidFill>
                <a:latin typeface="Arial"/>
                <a:ea typeface="Arial"/>
                <a:cs typeface="Arial"/>
              </a:rPr>
              <a:t>AI for explicit instructions</a:t>
            </a:r>
          </a:p>
        </p:txBody>
      </p:sp>
      <p:sp>
        <p:nvSpPr>
          <p:cNvPr id="6" name="external-copy">
            <a:extLst xmlns:a="http://schemas.openxmlformats.org/drawingml/2006/main">
              <a:ext uri="{FF2B5EF4-FFF2-40B4-BE49-F238E27FC236}">
                <a16:creationId xmlns:a16="http://schemas.microsoft.com/office/drawing/2014/main" id="{54A47F5E-CE14-4693-8855-69EC393040EE}"/>
              </a:ext>
            </a:extLst>
          </p:cNvPr>
          <p:cNvSpPr>
            <a:spLocks xmlns:a="http://schemas.openxmlformats.org/drawingml/2006/main" noGrp="1"/>
          </p:cNvSpPr>
          <p:nvPr/>
        </p:nvSpPr>
        <p:spPr>
          <a:xfrm xmlns:a="http://schemas.openxmlformats.org/drawingml/2006/main">
            <a:off x="6800850" y="2857500"/>
            <a:ext cx="47053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96A"/>
                </a:solidFill>
                <a:latin typeface="Arial"/>
                <a:ea typeface="Arial"/>
                <a:cs typeface="Arial"/>
              </a:defRPr>
            </a:defPPr>
            <a:lvl1pPr>
              <a:buNone/>
              <a:defRPr sz="1950" b="0">
                <a:solidFill>
                  <a:srgbClr val="52696A"/>
                </a:solidFill>
                <a:latin typeface="Arial"/>
                <a:ea typeface="Arial"/>
                <a:cs typeface="Arial"/>
              </a:defRPr>
            </a:lvl1pPr>
            <a:lvl2pPr>
              <a:buNone/>
              <a:defRPr sz="1950" b="0">
                <a:solidFill>
                  <a:srgbClr val="52696A"/>
                </a:solidFill>
                <a:latin typeface="Arial"/>
                <a:ea typeface="Arial"/>
                <a:cs typeface="Arial"/>
              </a:defRPr>
            </a:lvl2pPr>
            <a:lvl3pPr>
              <a:buNone/>
              <a:defRPr sz="1950" b="0">
                <a:solidFill>
                  <a:srgbClr val="52696A"/>
                </a:solidFill>
                <a:latin typeface="Arial"/>
                <a:ea typeface="Arial"/>
                <a:cs typeface="Arial"/>
              </a:defRPr>
            </a:lvl3pPr>
            <a:lvl4pPr>
              <a:buNone/>
              <a:defRPr sz="1950" b="0">
                <a:solidFill>
                  <a:srgbClr val="52696A"/>
                </a:solidFill>
                <a:latin typeface="Arial"/>
                <a:ea typeface="Arial"/>
                <a:cs typeface="Arial"/>
              </a:defRPr>
            </a:lvl4pPr>
            <a:lvl5pPr>
              <a:buNone/>
              <a:defRPr sz="1950" b="0">
                <a:solidFill>
                  <a:srgbClr val="52696A"/>
                </a:solidFill>
                <a:latin typeface="Arial"/>
                <a:ea typeface="Arial"/>
                <a:cs typeface="Arial"/>
              </a:defRPr>
            </a:lvl5pPr>
            <a:lvl6pPr>
              <a:buNone/>
              <a:defRPr sz="1950" b="0">
                <a:solidFill>
                  <a:srgbClr val="52696A"/>
                </a:solidFill>
                <a:latin typeface="Arial"/>
                <a:ea typeface="Arial"/>
                <a:cs typeface="Arial"/>
              </a:defRPr>
            </a:lvl6pPr>
            <a:lvl7pPr>
              <a:buNone/>
              <a:defRPr sz="1950" b="0">
                <a:solidFill>
                  <a:srgbClr val="52696A"/>
                </a:solidFill>
                <a:latin typeface="Arial"/>
                <a:ea typeface="Arial"/>
                <a:cs typeface="Arial"/>
              </a:defRPr>
            </a:lvl7pPr>
            <a:lvl8pPr>
              <a:buNone/>
              <a:defRPr sz="1950" b="0">
                <a:solidFill>
                  <a:srgbClr val="52696A"/>
                </a:solidFill>
                <a:latin typeface="Arial"/>
                <a:ea typeface="Arial"/>
                <a:cs typeface="Arial"/>
              </a:defRPr>
            </a:lvl8pPr>
            <a:lvl9pPr>
              <a:buNone/>
              <a:defRPr sz="1950" b="0">
                <a:solidFill>
                  <a:srgbClr val="52696A"/>
                </a:solidFill>
                <a:latin typeface="Arial"/>
                <a:ea typeface="Arial"/>
                <a:cs typeface="Arial"/>
              </a:defRPr>
            </a:lvl9pPr>
          </a:lstStyle>
          <a:p xmlns:a="http://schemas.openxmlformats.org/drawingml/2006/main">
            <a:pPr>
              <a:buNone/>
              <a:defRPr sz="1950" b="0">
                <a:solidFill>
                  <a:srgbClr val="52696A"/>
                </a:solidFill>
                <a:latin typeface="Arial"/>
                <a:ea typeface="Arial"/>
                <a:cs typeface="Arial"/>
              </a:defRPr>
            </a:pPr>
            <a:r>
              <a:rPr sz="1950" b="0">
                <a:solidFill>
                  <a:srgbClr val="52696A"/>
                </a:solidFill>
                <a:latin typeface="Arial"/>
                <a:ea typeface="Arial"/>
                <a:cs typeface="Arial"/>
              </a:rPr>
              <a:t>The model selects a supported task</a:t>
            </a:r>
          </a:p>
          <a:p xmlns:a="http://schemas.openxmlformats.org/drawingml/2006/main">
            <a:r>
              <a:t/>
            </a:r>
          </a:p>
          <a:p xmlns:a="http://schemas.openxmlformats.org/drawingml/2006/main">
            <a:pPr>
              <a:buNone/>
              <a:defRPr sz="1950" b="0">
                <a:solidFill>
                  <a:srgbClr val="52696A"/>
                </a:solidFill>
                <a:latin typeface="Arial"/>
                <a:ea typeface="Arial"/>
                <a:cs typeface="Arial"/>
              </a:defRPr>
            </a:pPr>
            <a:r>
              <a:rPr sz="1950" b="0">
                <a:solidFill>
                  <a:srgbClr val="52696A"/>
                </a:solidFill>
                <a:latin typeface="Arial"/>
                <a:ea typeface="Arial"/>
                <a:cs typeface="Arial"/>
              </a:rPr>
              <a:t>Local tools calculate financial results</a:t>
            </a:r>
          </a:p>
          <a:p xmlns:a="http://schemas.openxmlformats.org/drawingml/2006/main">
            <a:r>
              <a:t/>
            </a:r>
          </a:p>
          <a:p xmlns:a="http://schemas.openxmlformats.org/drawingml/2006/main">
            <a:pPr>
              <a:buNone/>
              <a:defRPr sz="1950" b="0">
                <a:solidFill>
                  <a:srgbClr val="52696A"/>
                </a:solidFill>
                <a:latin typeface="Arial"/>
                <a:ea typeface="Arial"/>
                <a:cs typeface="Arial"/>
              </a:defRPr>
            </a:pPr>
            <a:r>
              <a:rPr sz="1950" b="0">
                <a:solidFill>
                  <a:srgbClr val="52696A"/>
                </a:solidFill>
                <a:latin typeface="Arial"/>
                <a:ea typeface="Arial"/>
                <a:cs typeface="Arial"/>
              </a:rPr>
              <a:t>Scheduled checks make zero AI calls</a:t>
            </a:r>
          </a:p>
          <a:p xmlns:a="http://schemas.openxmlformats.org/drawingml/2006/main">
            <a:r>
              <a:t/>
            </a:r>
          </a:p>
          <a:p xmlns:a="http://schemas.openxmlformats.org/drawingml/2006/main">
            <a:pPr>
              <a:buNone/>
              <a:defRPr sz="1950" b="0">
                <a:solidFill>
                  <a:srgbClr val="52696A"/>
                </a:solidFill>
                <a:latin typeface="Arial"/>
                <a:ea typeface="Arial"/>
                <a:cs typeface="Arial"/>
              </a:defRPr>
            </a:pPr>
            <a:r>
              <a:rPr sz="1950" b="0">
                <a:solidFill>
                  <a:srgbClr val="52696A"/>
                </a:solidFill>
                <a:latin typeface="Arial"/>
                <a:ea typeface="Arial"/>
                <a:cs typeface="Arial"/>
              </a:rPr>
              <a:t>Exact approval remains with the owner</a:t>
            </a:r>
          </a:p>
        </p:txBody>
      </p:sp>
      <p:sp>
        <p:nvSpPr>
          <p:cNvPr id="7" name="caption">
            <a:extLst xmlns:a="http://schemas.openxmlformats.org/drawingml/2006/main">
              <a:ext uri="{FF2B5EF4-FFF2-40B4-BE49-F238E27FC236}">
                <a16:creationId xmlns:a16="http://schemas.microsoft.com/office/drawing/2014/main" id="{2BC14FFA-F937-4FCD-B0D0-B737C2F8FED9}"/>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Restart preserves policy and accepted effects. Hosted checks run on the VPS. Private notifications use Telegram.</a:t>
            </a:r>
          </a:p>
        </p:txBody>
      </p:sp>
    </p:spTree>
    <p:extLst>
      <p:ext uri="{BB962C8B-B14F-4D97-AF65-F5344CB8AC3E}">
        <p14:creationId xmlns:p14="http://schemas.microsoft.com/office/powerpoint/2010/main" val="227158151"/>
      </p:ext>
    </p:extLst>
  </p:cSld>
</p:sld>
</file>

<file path=ppt/slides/slide11.xml><?xml version="1.0" encoding="utf-8"?>
<p:sld xmlns:p="http://schemas.openxmlformats.org/presentationml/2006/main">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8568B82-7AE6-4B1C-908A-9745F842E393}"/>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Verification and the remaining limits</a:t>
            </a:r>
          </a:p>
        </p:txBody>
      </p:sp>
      <p:sp>
        <p:nvSpPr>
          <p:cNvPr id="2" name="page-number">
            <a:extLst xmlns:a="http://schemas.openxmlformats.org/drawingml/2006/main">
              <a:ext uri="{FF2B5EF4-FFF2-40B4-BE49-F238E27FC236}">
                <a16:creationId xmlns:a16="http://schemas.microsoft.com/office/drawing/2014/main" id="{57A0ABF8-1852-40AF-A7BB-279A57C7208E}"/>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1260C2FD-2E75-45EE-8326-AB3AD384DD22}"/>
              </a:ext>
            </a:extLst>
          </p:cNvPr>
          <p:cNvGraphicFramePr/>
          <p:nvPr/>
        </p:nvGraphicFramePr>
        <p:xfrm>
          <a:off xmlns:a="http://schemas.openxmlformats.org/drawingml/2006/main" x="685800" y="1685925"/>
          <a:ext xmlns:a="http://schemas.openxmlformats.org/drawingml/2006/main" cx="10820400" cy="4000500"/>
        </p:xfrm>
        <a:graphic xmlns:a="http://schemas.openxmlformats.org/drawingml/2006/main">
          <a:graphicData uri="http://schemas.openxmlformats.org/drawingml/2006/table">
            <a:tbl>
              <a:tblPr firstRow="1" bandRow="0"/>
              <a:tblGrid>
                <a:gridCol w="3228975"/>
                <a:gridCol w="2828925"/>
                <a:gridCol w="4762500"/>
              </a:tblGrid>
              <a:tr h="666750">
                <a:tc>
                  <a:txBody>
                    <a:bodyPr wrap="square" lIns="114300" tIns="114300" rIns="114300" bIns="114300">
                      <a:noAutofit/>
                    </a:bodyPr>
                    <a:lstStyle/>
                    <a:p>
                      <a:r>
                        <a:rPr sz="1725" b="1">
                          <a:solidFill>
                            <a:srgbClr val="FFFFFF"/>
                          </a:solidFill>
                          <a:latin typeface="Arial"/>
                          <a:ea typeface="Arial"/>
                          <a:cs typeface="Arial"/>
                        </a:rPr>
                        <a:t>Check</a:t>
                      </a:r>
                    </a:p>
                  </a:txBody>
                  <a:tcPr marL="91440" marR="91440" marT="45720" marB="45720" anchor="ctr">
                    <a:lnL w="9525">
                      <a:solidFill>
                        <a:srgbClr val="DCE5DF"/>
                      </a:solidFill>
                      <a:prstDash val="solid"/>
                    </a:lnL>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c>
                  <a:txBody>
                    <a:bodyPr wrap="square" lIns="114300" tIns="114300" rIns="114300" bIns="114300">
                      <a:noAutofit/>
                    </a:bodyPr>
                    <a:lstStyle/>
                    <a:p>
                      <a:r>
                        <a:rPr sz="1725" b="1">
                          <a:solidFill>
                            <a:srgbClr val="FFFFFF"/>
                          </a:solidFill>
                          <a:latin typeface="Arial"/>
                          <a:ea typeface="Arial"/>
                          <a:cs typeface="Arial"/>
                        </a:rPr>
                        <a:t>Measured result</a:t>
                      </a:r>
                    </a:p>
                  </a:txBody>
                  <a:tcPr marL="91440" marR="91440" marT="45720" marB="45720" anchor="ctr">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c>
                  <a:txBody>
                    <a:bodyPr wrap="square" lIns="114300" tIns="114300" rIns="114300" bIns="114300">
                      <a:noAutofit/>
                    </a:bodyPr>
                    <a:lstStyle/>
                    <a:p>
                      <a:r>
                        <a:rPr sz="1725" b="1">
                          <a:solidFill>
                            <a:srgbClr val="FFFFFF"/>
                          </a:solidFill>
                          <a:latin typeface="Arial"/>
                          <a:ea typeface="Arial"/>
                          <a:cs typeface="Arial"/>
                        </a:rPr>
                        <a:t>Scope</a:t>
                      </a:r>
                    </a:p>
                  </a:txBody>
                  <a:tcPr marL="91440" marR="91440" marT="45720" marB="45720" anchor="ctr">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r>
              <a:tr h="666750">
                <a:tc>
                  <a:txBody>
                    <a:bodyPr wrap="square" lIns="114300" tIns="114300" rIns="114300" bIns="114300">
                      <a:noAutofit/>
                    </a:bodyPr>
                    <a:lstStyle/>
                    <a:p>
                      <a:r>
                        <a:rPr sz="1725" b="0">
                          <a:solidFill>
                            <a:srgbClr val="1B3034"/>
                          </a:solidFill>
                          <a:latin typeface="Arial"/>
                          <a:ea typeface="Arial"/>
                          <a:cs typeface="Arial"/>
                        </a:rPr>
                        <a:t>Complete local suite</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2,211 passed</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Synthetic tests, HTTP stubs and mocks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66750">
                <a:tc>
                  <a:txBody>
                    <a:bodyPr wrap="square" lIns="114300" tIns="114300" rIns="114300" bIns="114300">
                      <a:noAutofit/>
                    </a:bodyPr>
                    <a:lstStyle/>
                    <a:p>
                      <a:r>
                        <a:rPr sz="1725" b="0">
                          <a:solidFill>
                            <a:srgbClr val="1B3034"/>
                          </a:solidFill>
                          <a:latin typeface="Arial"/>
                          <a:ea typeface="Arial"/>
                          <a:cs typeface="Arial"/>
                        </a:rPr>
                        <a:t>Worker and restart</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Passed</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2 DRAFTs, separate decisions, no duplicates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66750">
                <a:tc>
                  <a:txBody>
                    <a:bodyPr wrap="square" lIns="114300" tIns="114300" rIns="114300" bIns="114300">
                      <a:noAutofit/>
                    </a:bodyPr>
                    <a:lstStyle/>
                    <a:p>
                      <a:r>
                        <a:rPr sz="1725" b="0">
                          <a:solidFill>
                            <a:srgbClr val="1B3034"/>
                          </a:solidFill>
                          <a:latin typeface="Arial"/>
                          <a:ea typeface="Arial"/>
                          <a:cs typeface="Arial"/>
                        </a:rPr>
                        <a:t>Earlier live qualification</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13 cases passed</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8 model cases and 5 local guards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66750">
                <a:tc>
                  <a:txBody>
                    <a:bodyPr wrap="square" lIns="114300" tIns="114300" rIns="114300" bIns="114300">
                      <a:noAutofit/>
                    </a:bodyPr>
                    <a:lstStyle/>
                    <a:p>
                      <a:r>
                        <a:rPr sz="1725" b="0">
                          <a:solidFill>
                            <a:srgbClr val="1B3034"/>
                          </a:solidFill>
                          <a:latin typeface="Arial"/>
                          <a:ea typeface="Arial"/>
                          <a:cs typeface="Arial"/>
                        </a:rPr>
                        <a:t>Rendered mobile review</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Blocked</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Browser disabled. 360 / 390px pending</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66750">
                <a:tc>
                  <a:txBody>
                    <a:bodyPr wrap="square" lIns="114300" tIns="114300" rIns="114300" bIns="114300">
                      <a:noAutofit/>
                    </a:bodyPr>
                    <a:lstStyle/>
                    <a:p>
                      <a:r>
                        <a:rPr sz="1725" b="0">
                          <a:solidFill>
                            <a:srgbClr val="1B3034"/>
                          </a:solidFill>
                          <a:latin typeface="Arial"/>
                          <a:ea typeface="Arial"/>
                          <a:cs typeface="Arial"/>
                        </a:rPr>
                        <a:t>Fresh-user walkthrough</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No issues reported</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User report. Detailed study log absent</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bl>
          </a:graphicData>
        </a:graphic>
      </p:graphicFrame>
      <p:sp>
        <p:nvSpPr>
          <p:cNvPr id="4" name="caption">
            <a:extLst xmlns:a="http://schemas.openxmlformats.org/drawingml/2006/main">
              <a:ext uri="{FF2B5EF4-FFF2-40B4-BE49-F238E27FC236}">
                <a16:creationId xmlns:a16="http://schemas.microsoft.com/office/drawing/2014/main" id="{EA47081E-00E9-4DEB-AF6E-EB7A12002E91}"/>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Source 0.26.1. Finite tests and user feedback do not certify universal accuracy or production readiness.</a:t>
            </a:r>
          </a:p>
        </p:txBody>
      </p:sp>
    </p:spTree>
    <p:extLst>
      <p:ext uri="{BB962C8B-B14F-4D97-AF65-F5344CB8AC3E}">
        <p14:creationId xmlns:p14="http://schemas.microsoft.com/office/powerpoint/2010/main" val="797138983"/>
      </p:ext>
    </p:extLst>
  </p:cSld>
</p:sld>
</file>

<file path=ppt/slides/slide12.xml><?xml version="1.0" encoding="utf-8"?>
<p:sld xmlns:p="http://schemas.openxmlformats.org/presentationml/2006/main">
  <p:cSld>
    <p:bg>
      <p:bgPr>
        <a:solidFill xmlns:a="http://schemas.openxmlformats.org/drawingml/2006/main">
          <a:srgbClr val="183B36"/>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29A60DF-F032-40FB-9C90-BA91EAD5401B}"/>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vl1pPr>
              <a:buNone/>
              <a:defRPr sz="3300" b="1">
                <a:solidFill>
                  <a:srgbClr val="FFFFFF"/>
                </a:solidFill>
                <a:latin typeface="Arial"/>
                <a:ea typeface="Arial"/>
                <a:cs typeface="Arial"/>
              </a:defRPr>
            </a:lvl1pPr>
            <a:lvl2pPr>
              <a:buNone/>
              <a:defRPr sz="3300" b="1">
                <a:solidFill>
                  <a:srgbClr val="FFFFFF"/>
                </a:solidFill>
                <a:latin typeface="Arial"/>
                <a:ea typeface="Arial"/>
                <a:cs typeface="Arial"/>
              </a:defRPr>
            </a:lvl2pPr>
            <a:lvl3pPr>
              <a:buNone/>
              <a:defRPr sz="3300" b="1">
                <a:solidFill>
                  <a:srgbClr val="FFFFFF"/>
                </a:solidFill>
                <a:latin typeface="Arial"/>
                <a:ea typeface="Arial"/>
                <a:cs typeface="Arial"/>
              </a:defRPr>
            </a:lvl3pPr>
            <a:lvl4pPr>
              <a:buNone/>
              <a:defRPr sz="3300" b="1">
                <a:solidFill>
                  <a:srgbClr val="FFFFFF"/>
                </a:solidFill>
                <a:latin typeface="Arial"/>
                <a:ea typeface="Arial"/>
                <a:cs typeface="Arial"/>
              </a:defRPr>
            </a:lvl4pPr>
            <a:lvl5pPr>
              <a:buNone/>
              <a:defRPr sz="3300" b="1">
                <a:solidFill>
                  <a:srgbClr val="FFFFFF"/>
                </a:solidFill>
                <a:latin typeface="Arial"/>
                <a:ea typeface="Arial"/>
                <a:cs typeface="Arial"/>
              </a:defRPr>
            </a:lvl5pPr>
            <a:lvl6pPr>
              <a:buNone/>
              <a:defRPr sz="3300" b="1">
                <a:solidFill>
                  <a:srgbClr val="FFFFFF"/>
                </a:solidFill>
                <a:latin typeface="Arial"/>
                <a:ea typeface="Arial"/>
                <a:cs typeface="Arial"/>
              </a:defRPr>
            </a:lvl6pPr>
            <a:lvl7pPr>
              <a:buNone/>
              <a:defRPr sz="3300" b="1">
                <a:solidFill>
                  <a:srgbClr val="FFFFFF"/>
                </a:solidFill>
                <a:latin typeface="Arial"/>
                <a:ea typeface="Arial"/>
                <a:cs typeface="Arial"/>
              </a:defRPr>
            </a:lvl7pPr>
            <a:lvl8pPr>
              <a:buNone/>
              <a:defRPr sz="3300" b="1">
                <a:solidFill>
                  <a:srgbClr val="FFFFFF"/>
                </a:solidFill>
                <a:latin typeface="Arial"/>
                <a:ea typeface="Arial"/>
                <a:cs typeface="Arial"/>
              </a:defRPr>
            </a:lvl8pPr>
            <a:lvl9pPr>
              <a:buNone/>
              <a:defRPr sz="3300" b="1">
                <a:solidFill>
                  <a:srgbClr val="FFFFFF"/>
                </a:solidFill>
                <a:latin typeface="Arial"/>
                <a:ea typeface="Arial"/>
                <a:cs typeface="Arial"/>
              </a:defRPr>
            </a:lvl9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Fluxora by SKLab</a:t>
            </a:r>
          </a:p>
        </p:txBody>
      </p:sp>
      <p:sp>
        <p:nvSpPr>
          <p:cNvPr id="2" name="page-number">
            <a:extLst xmlns:a="http://schemas.openxmlformats.org/drawingml/2006/main">
              <a:ext uri="{FF2B5EF4-FFF2-40B4-BE49-F238E27FC236}">
                <a16:creationId xmlns:a16="http://schemas.microsoft.com/office/drawing/2014/main" id="{79CC51D8-573B-41B5-86D9-5014E841F4C9}"/>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C2D7CD"/>
                </a:solidFill>
                <a:latin typeface="Arial"/>
                <a:ea typeface="Arial"/>
                <a:cs typeface="Arial"/>
              </a:defRPr>
            </a:defPPr>
            <a:lvl1pPr>
              <a:buNone/>
              <a:defRPr sz="1275" b="0">
                <a:solidFill>
                  <a:srgbClr val="C2D7CD"/>
                </a:solidFill>
                <a:latin typeface="Arial"/>
                <a:ea typeface="Arial"/>
                <a:cs typeface="Arial"/>
              </a:defRPr>
            </a:lvl1pPr>
            <a:lvl2pPr>
              <a:buNone/>
              <a:defRPr sz="1275" b="0">
                <a:solidFill>
                  <a:srgbClr val="C2D7CD"/>
                </a:solidFill>
                <a:latin typeface="Arial"/>
                <a:ea typeface="Arial"/>
                <a:cs typeface="Arial"/>
              </a:defRPr>
            </a:lvl2pPr>
            <a:lvl3pPr>
              <a:buNone/>
              <a:defRPr sz="1275" b="0">
                <a:solidFill>
                  <a:srgbClr val="C2D7CD"/>
                </a:solidFill>
                <a:latin typeface="Arial"/>
                <a:ea typeface="Arial"/>
                <a:cs typeface="Arial"/>
              </a:defRPr>
            </a:lvl3pPr>
            <a:lvl4pPr>
              <a:buNone/>
              <a:defRPr sz="1275" b="0">
                <a:solidFill>
                  <a:srgbClr val="C2D7CD"/>
                </a:solidFill>
                <a:latin typeface="Arial"/>
                <a:ea typeface="Arial"/>
                <a:cs typeface="Arial"/>
              </a:defRPr>
            </a:lvl4pPr>
            <a:lvl5pPr>
              <a:buNone/>
              <a:defRPr sz="1275" b="0">
                <a:solidFill>
                  <a:srgbClr val="C2D7CD"/>
                </a:solidFill>
                <a:latin typeface="Arial"/>
                <a:ea typeface="Arial"/>
                <a:cs typeface="Arial"/>
              </a:defRPr>
            </a:lvl5pPr>
            <a:lvl6pPr>
              <a:buNone/>
              <a:defRPr sz="1275" b="0">
                <a:solidFill>
                  <a:srgbClr val="C2D7CD"/>
                </a:solidFill>
                <a:latin typeface="Arial"/>
                <a:ea typeface="Arial"/>
                <a:cs typeface="Arial"/>
              </a:defRPr>
            </a:lvl6pPr>
            <a:lvl7pPr>
              <a:buNone/>
              <a:defRPr sz="1275" b="0">
                <a:solidFill>
                  <a:srgbClr val="C2D7CD"/>
                </a:solidFill>
                <a:latin typeface="Arial"/>
                <a:ea typeface="Arial"/>
                <a:cs typeface="Arial"/>
              </a:defRPr>
            </a:lvl7pPr>
            <a:lvl8pPr>
              <a:buNone/>
              <a:defRPr sz="1275" b="0">
                <a:solidFill>
                  <a:srgbClr val="C2D7CD"/>
                </a:solidFill>
                <a:latin typeface="Arial"/>
                <a:ea typeface="Arial"/>
                <a:cs typeface="Arial"/>
              </a:defRPr>
            </a:lvl8pPr>
            <a:lvl9pPr>
              <a:buNone/>
              <a:defRPr sz="1275" b="0">
                <a:solidFill>
                  <a:srgbClr val="C2D7CD"/>
                </a:solidFill>
                <a:latin typeface="Arial"/>
                <a:ea typeface="Arial"/>
                <a:cs typeface="Arial"/>
              </a:defRPr>
            </a:lvl9pPr>
          </a:lstStyle>
          <a:p xmlns:a="http://schemas.openxmlformats.org/drawingml/2006/main">
            <a:pPr>
              <a:buNone/>
              <a:defRPr sz="1275" b="0">
                <a:solidFill>
                  <a:srgbClr val="C2D7CD"/>
                </a:solidFill>
                <a:latin typeface="Arial"/>
                <a:ea typeface="Arial"/>
                <a:cs typeface="Arial"/>
              </a:defRPr>
            </a:pPr>
            <a:r>
              <a:rPr sz="1275" b="0">
                <a:solidFill>
                  <a:srgbClr val="C2D7CD"/>
                </a:solidFill>
                <a:latin typeface="Arial"/>
                <a:ea typeface="Arial"/>
                <a:cs typeface="Arial"/>
              </a:rPr>
              <a:t>12</a:t>
            </a:r>
          </a:p>
        </p:txBody>
      </p:sp>
      <p:sp>
        <p:nvSpPr>
          <p:cNvPr id="3" name="closing-value">
            <a:extLst xmlns:a="http://schemas.openxmlformats.org/drawingml/2006/main">
              <a:ext uri="{FF2B5EF4-FFF2-40B4-BE49-F238E27FC236}">
                <a16:creationId xmlns:a16="http://schemas.microsoft.com/office/drawing/2014/main" id="{42C6C51E-5DE0-49B9-A528-A1DDAE4D31D8}"/>
              </a:ext>
            </a:extLst>
          </p:cNvPr>
          <p:cNvSpPr>
            <a:spLocks xmlns:a="http://schemas.openxmlformats.org/drawingml/2006/main" noGrp="1"/>
          </p:cNvSpPr>
          <p:nvPr/>
        </p:nvSpPr>
        <p:spPr>
          <a:xfrm xmlns:a="http://schemas.openxmlformats.org/drawingml/2006/main">
            <a:off x="685800" y="19431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vl1pPr>
              <a:buNone/>
              <a:defRPr sz="3300" b="1">
                <a:solidFill>
                  <a:srgbClr val="FFFFFF"/>
                </a:solidFill>
                <a:latin typeface="Arial"/>
                <a:ea typeface="Arial"/>
                <a:cs typeface="Arial"/>
              </a:defRPr>
            </a:lvl1pPr>
            <a:lvl2pPr>
              <a:buNone/>
              <a:defRPr sz="3300" b="1">
                <a:solidFill>
                  <a:srgbClr val="FFFFFF"/>
                </a:solidFill>
                <a:latin typeface="Arial"/>
                <a:ea typeface="Arial"/>
                <a:cs typeface="Arial"/>
              </a:defRPr>
            </a:lvl2pPr>
            <a:lvl3pPr>
              <a:buNone/>
              <a:defRPr sz="3300" b="1">
                <a:solidFill>
                  <a:srgbClr val="FFFFFF"/>
                </a:solidFill>
                <a:latin typeface="Arial"/>
                <a:ea typeface="Arial"/>
                <a:cs typeface="Arial"/>
              </a:defRPr>
            </a:lvl3pPr>
            <a:lvl4pPr>
              <a:buNone/>
              <a:defRPr sz="3300" b="1">
                <a:solidFill>
                  <a:srgbClr val="FFFFFF"/>
                </a:solidFill>
                <a:latin typeface="Arial"/>
                <a:ea typeface="Arial"/>
                <a:cs typeface="Arial"/>
              </a:defRPr>
            </a:lvl4pPr>
            <a:lvl5pPr>
              <a:buNone/>
              <a:defRPr sz="3300" b="1">
                <a:solidFill>
                  <a:srgbClr val="FFFFFF"/>
                </a:solidFill>
                <a:latin typeface="Arial"/>
                <a:ea typeface="Arial"/>
                <a:cs typeface="Arial"/>
              </a:defRPr>
            </a:lvl5pPr>
            <a:lvl6pPr>
              <a:buNone/>
              <a:defRPr sz="3300" b="1">
                <a:solidFill>
                  <a:srgbClr val="FFFFFF"/>
                </a:solidFill>
                <a:latin typeface="Arial"/>
                <a:ea typeface="Arial"/>
                <a:cs typeface="Arial"/>
              </a:defRPr>
            </a:lvl6pPr>
            <a:lvl7pPr>
              <a:buNone/>
              <a:defRPr sz="3300" b="1">
                <a:solidFill>
                  <a:srgbClr val="FFFFFF"/>
                </a:solidFill>
                <a:latin typeface="Arial"/>
                <a:ea typeface="Arial"/>
                <a:cs typeface="Arial"/>
              </a:defRPr>
            </a:lvl7pPr>
            <a:lvl8pPr>
              <a:buNone/>
              <a:defRPr sz="3300" b="1">
                <a:solidFill>
                  <a:srgbClr val="FFFFFF"/>
                </a:solidFill>
                <a:latin typeface="Arial"/>
                <a:ea typeface="Arial"/>
                <a:cs typeface="Arial"/>
              </a:defRPr>
            </a:lvl8pPr>
            <a:lvl9pPr>
              <a:buNone/>
              <a:defRPr sz="3300" b="1">
                <a:solidFill>
                  <a:srgbClr val="FFFFFF"/>
                </a:solidFill>
                <a:latin typeface="Arial"/>
                <a:ea typeface="Arial"/>
                <a:cs typeface="Arial"/>
              </a:defRPr>
            </a:lvl9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Cash timing, traceable evidence</a:t>
            </a:r>
          </a:p>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and work prepared for owner review</a:t>
            </a:r>
          </a:p>
        </p:txBody>
      </p:sp>
      <p:sp>
        <p:nvSpPr>
          <p:cNvPr id="4" name="closing-demo">
            <a:extLst xmlns:a="http://schemas.openxmlformats.org/drawingml/2006/main">
              <a:ext uri="{FF2B5EF4-FFF2-40B4-BE49-F238E27FC236}">
                <a16:creationId xmlns:a16="http://schemas.microsoft.com/office/drawing/2014/main" id="{1382D46B-FE8F-4B3D-A54C-04D041EEB570}"/>
              </a:ext>
            </a:extLst>
          </p:cNvPr>
          <p:cNvSpPr>
            <a:spLocks xmlns:a="http://schemas.openxmlformats.org/drawingml/2006/main" noGrp="1"/>
          </p:cNvSpPr>
          <p:nvPr/>
        </p:nvSpPr>
        <p:spPr>
          <a:xfrm xmlns:a="http://schemas.openxmlformats.org/drawingml/2006/main">
            <a:off x="685800" y="39624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A5D0BC"/>
                </a:solidFill>
                <a:latin typeface="Arial"/>
                <a:ea typeface="Arial"/>
                <a:cs typeface="Arial"/>
              </a:defRPr>
            </a:defPPr>
            <a:lvl1pPr>
              <a:buNone/>
              <a:defRPr sz="3375" b="1">
                <a:solidFill>
                  <a:srgbClr val="A5D0BC"/>
                </a:solidFill>
                <a:latin typeface="Arial"/>
                <a:ea typeface="Arial"/>
                <a:cs typeface="Arial"/>
              </a:defRPr>
            </a:lvl1pPr>
            <a:lvl2pPr>
              <a:buNone/>
              <a:defRPr sz="3375" b="1">
                <a:solidFill>
                  <a:srgbClr val="A5D0BC"/>
                </a:solidFill>
                <a:latin typeface="Arial"/>
                <a:ea typeface="Arial"/>
                <a:cs typeface="Arial"/>
              </a:defRPr>
            </a:lvl2pPr>
            <a:lvl3pPr>
              <a:buNone/>
              <a:defRPr sz="3375" b="1">
                <a:solidFill>
                  <a:srgbClr val="A5D0BC"/>
                </a:solidFill>
                <a:latin typeface="Arial"/>
                <a:ea typeface="Arial"/>
                <a:cs typeface="Arial"/>
              </a:defRPr>
            </a:lvl3pPr>
            <a:lvl4pPr>
              <a:buNone/>
              <a:defRPr sz="3375" b="1">
                <a:solidFill>
                  <a:srgbClr val="A5D0BC"/>
                </a:solidFill>
                <a:latin typeface="Arial"/>
                <a:ea typeface="Arial"/>
                <a:cs typeface="Arial"/>
              </a:defRPr>
            </a:lvl4pPr>
            <a:lvl5pPr>
              <a:buNone/>
              <a:defRPr sz="3375" b="1">
                <a:solidFill>
                  <a:srgbClr val="A5D0BC"/>
                </a:solidFill>
                <a:latin typeface="Arial"/>
                <a:ea typeface="Arial"/>
                <a:cs typeface="Arial"/>
              </a:defRPr>
            </a:lvl5pPr>
            <a:lvl6pPr>
              <a:buNone/>
              <a:defRPr sz="3375" b="1">
                <a:solidFill>
                  <a:srgbClr val="A5D0BC"/>
                </a:solidFill>
                <a:latin typeface="Arial"/>
                <a:ea typeface="Arial"/>
                <a:cs typeface="Arial"/>
              </a:defRPr>
            </a:lvl6pPr>
            <a:lvl7pPr>
              <a:buNone/>
              <a:defRPr sz="3375" b="1">
                <a:solidFill>
                  <a:srgbClr val="A5D0BC"/>
                </a:solidFill>
                <a:latin typeface="Arial"/>
                <a:ea typeface="Arial"/>
                <a:cs typeface="Arial"/>
              </a:defRPr>
            </a:lvl7pPr>
            <a:lvl8pPr>
              <a:buNone/>
              <a:defRPr sz="3375" b="1">
                <a:solidFill>
                  <a:srgbClr val="A5D0BC"/>
                </a:solidFill>
                <a:latin typeface="Arial"/>
                <a:ea typeface="Arial"/>
                <a:cs typeface="Arial"/>
              </a:defRPr>
            </a:lvl8pPr>
            <a:lvl9pPr>
              <a:buNone/>
              <a:defRPr sz="3375" b="1">
                <a:solidFill>
                  <a:srgbClr val="A5D0BC"/>
                </a:solidFill>
                <a:latin typeface="Arial"/>
                <a:ea typeface="Arial"/>
                <a:cs typeface="Arial"/>
              </a:defRPr>
            </a:lvl9pPr>
          </a:lstStyle>
          <a:p xmlns:a="http://schemas.openxmlformats.org/drawingml/2006/main">
            <a:pPr>
              <a:buNone/>
              <a:defRPr sz="3375" b="1">
                <a:solidFill>
                  <a:srgbClr val="A5D0BC"/>
                </a:solidFill>
                <a:latin typeface="Arial"/>
                <a:ea typeface="Arial"/>
                <a:cs typeface="Arial"/>
              </a:defRPr>
            </a:pPr>
            <a:r>
              <a:rPr sz="3375" b="1">
                <a:solidFill>
                  <a:srgbClr val="A5D0BC"/>
                </a:solidFill>
                <a:latin typeface="Arial"/>
                <a:ea typeface="Arial"/>
                <a:cs typeface="Arial"/>
              </a:rPr>
              <a:t>fluxora.sklab.cc/start</a:t>
            </a:r>
          </a:p>
        </p:txBody>
      </p:sp>
      <p:sp>
        <p:nvSpPr>
          <p:cNvPr id="5" name="closing-repo">
            <a:extLst xmlns:a="http://schemas.openxmlformats.org/drawingml/2006/main">
              <a:ext uri="{FF2B5EF4-FFF2-40B4-BE49-F238E27FC236}">
                <a16:creationId xmlns:a16="http://schemas.microsoft.com/office/drawing/2014/main" id="{E70B9083-761D-4B78-B620-1E306EBAB8D7}"/>
              </a:ext>
            </a:extLst>
          </p:cNvPr>
          <p:cNvSpPr>
            <a:spLocks xmlns:a="http://schemas.openxmlformats.org/drawingml/2006/main" noGrp="1"/>
          </p:cNvSpPr>
          <p:nvPr/>
        </p:nvSpPr>
        <p:spPr>
          <a:xfrm xmlns:a="http://schemas.openxmlformats.org/drawingml/2006/main">
            <a:off x="685800" y="4857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7E6DE"/>
                </a:solidFill>
                <a:latin typeface="Arial"/>
                <a:ea typeface="Arial"/>
                <a:cs typeface="Arial"/>
              </a:defRPr>
            </a:defPPr>
            <a:lvl1pPr>
              <a:buNone/>
              <a:defRPr sz="2100" b="0">
                <a:solidFill>
                  <a:srgbClr val="D7E6DE"/>
                </a:solidFill>
                <a:latin typeface="Arial"/>
                <a:ea typeface="Arial"/>
                <a:cs typeface="Arial"/>
              </a:defRPr>
            </a:lvl1pPr>
            <a:lvl2pPr>
              <a:buNone/>
              <a:defRPr sz="2100" b="0">
                <a:solidFill>
                  <a:srgbClr val="D7E6DE"/>
                </a:solidFill>
                <a:latin typeface="Arial"/>
                <a:ea typeface="Arial"/>
                <a:cs typeface="Arial"/>
              </a:defRPr>
            </a:lvl2pPr>
            <a:lvl3pPr>
              <a:buNone/>
              <a:defRPr sz="2100" b="0">
                <a:solidFill>
                  <a:srgbClr val="D7E6DE"/>
                </a:solidFill>
                <a:latin typeface="Arial"/>
                <a:ea typeface="Arial"/>
                <a:cs typeface="Arial"/>
              </a:defRPr>
            </a:lvl3pPr>
            <a:lvl4pPr>
              <a:buNone/>
              <a:defRPr sz="2100" b="0">
                <a:solidFill>
                  <a:srgbClr val="D7E6DE"/>
                </a:solidFill>
                <a:latin typeface="Arial"/>
                <a:ea typeface="Arial"/>
                <a:cs typeface="Arial"/>
              </a:defRPr>
            </a:lvl4pPr>
            <a:lvl5pPr>
              <a:buNone/>
              <a:defRPr sz="2100" b="0">
                <a:solidFill>
                  <a:srgbClr val="D7E6DE"/>
                </a:solidFill>
                <a:latin typeface="Arial"/>
                <a:ea typeface="Arial"/>
                <a:cs typeface="Arial"/>
              </a:defRPr>
            </a:lvl5pPr>
            <a:lvl6pPr>
              <a:buNone/>
              <a:defRPr sz="2100" b="0">
                <a:solidFill>
                  <a:srgbClr val="D7E6DE"/>
                </a:solidFill>
                <a:latin typeface="Arial"/>
                <a:ea typeface="Arial"/>
                <a:cs typeface="Arial"/>
              </a:defRPr>
            </a:lvl6pPr>
            <a:lvl7pPr>
              <a:buNone/>
              <a:defRPr sz="2100" b="0">
                <a:solidFill>
                  <a:srgbClr val="D7E6DE"/>
                </a:solidFill>
                <a:latin typeface="Arial"/>
                <a:ea typeface="Arial"/>
                <a:cs typeface="Arial"/>
              </a:defRPr>
            </a:lvl7pPr>
            <a:lvl8pPr>
              <a:buNone/>
              <a:defRPr sz="2100" b="0">
                <a:solidFill>
                  <a:srgbClr val="D7E6DE"/>
                </a:solidFill>
                <a:latin typeface="Arial"/>
                <a:ea typeface="Arial"/>
                <a:cs typeface="Arial"/>
              </a:defRPr>
            </a:lvl8pPr>
            <a:lvl9pPr>
              <a:buNone/>
              <a:defRPr sz="2100" b="0">
                <a:solidFill>
                  <a:srgbClr val="D7E6DE"/>
                </a:solidFill>
                <a:latin typeface="Arial"/>
                <a:ea typeface="Arial"/>
                <a:cs typeface="Arial"/>
              </a:defRPr>
            </a:lvl9pPr>
          </a:lstStyle>
          <a:p xmlns:a="http://schemas.openxmlformats.org/drawingml/2006/main">
            <a:pPr>
              <a:buNone/>
              <a:defRPr sz="2100" b="0">
                <a:solidFill>
                  <a:srgbClr val="D7E6DE"/>
                </a:solidFill>
                <a:latin typeface="Arial"/>
                <a:ea typeface="Arial"/>
                <a:cs typeface="Arial"/>
              </a:defRPr>
            </a:pPr>
            <a:r>
              <a:rPr sz="2100" b="0">
                <a:solidFill>
                  <a:srgbClr val="D7E6DE"/>
                </a:solidFill>
                <a:latin typeface="Arial"/>
                <a:ea typeface="Arial"/>
                <a:cs typeface="Arial"/>
              </a:rPr>
              <a:t>github.com/ShahadatTest/fluxora</a:t>
            </a:r>
          </a:p>
        </p:txBody>
      </p:sp>
      <p:sp>
        <p:nvSpPr>
          <p:cNvPr id="6" name="closing-boundary">
            <a:extLst xmlns:a="http://schemas.openxmlformats.org/drawingml/2006/main">
              <a:ext uri="{FF2B5EF4-FFF2-40B4-BE49-F238E27FC236}">
                <a16:creationId xmlns:a16="http://schemas.microsoft.com/office/drawing/2014/main" id="{1ACAD1AF-C98D-41BE-8C2F-AB3EF5B32ED9}"/>
              </a:ext>
            </a:extLst>
          </p:cNvPr>
          <p:cNvSpPr>
            <a:spLocks xmlns:a="http://schemas.openxmlformats.org/drawingml/2006/main" noGrp="1"/>
          </p:cNvSpPr>
          <p:nvPr/>
        </p:nvSpPr>
        <p:spPr>
          <a:xfrm xmlns:a="http://schemas.openxmlformats.org/drawingml/2006/main">
            <a:off x="685800" y="57912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C2D7CD"/>
                </a:solidFill>
                <a:latin typeface="Arial"/>
                <a:ea typeface="Arial"/>
                <a:cs typeface="Arial"/>
              </a:defRPr>
            </a:defPPr>
            <a:lvl1pPr>
              <a:buNone/>
              <a:defRPr sz="1725" b="0">
                <a:solidFill>
                  <a:srgbClr val="C2D7CD"/>
                </a:solidFill>
                <a:latin typeface="Arial"/>
                <a:ea typeface="Arial"/>
                <a:cs typeface="Arial"/>
              </a:defRPr>
            </a:lvl1pPr>
            <a:lvl2pPr>
              <a:buNone/>
              <a:defRPr sz="1725" b="0">
                <a:solidFill>
                  <a:srgbClr val="C2D7CD"/>
                </a:solidFill>
                <a:latin typeface="Arial"/>
                <a:ea typeface="Arial"/>
                <a:cs typeface="Arial"/>
              </a:defRPr>
            </a:lvl2pPr>
            <a:lvl3pPr>
              <a:buNone/>
              <a:defRPr sz="1725" b="0">
                <a:solidFill>
                  <a:srgbClr val="C2D7CD"/>
                </a:solidFill>
                <a:latin typeface="Arial"/>
                <a:ea typeface="Arial"/>
                <a:cs typeface="Arial"/>
              </a:defRPr>
            </a:lvl3pPr>
            <a:lvl4pPr>
              <a:buNone/>
              <a:defRPr sz="1725" b="0">
                <a:solidFill>
                  <a:srgbClr val="C2D7CD"/>
                </a:solidFill>
                <a:latin typeface="Arial"/>
                <a:ea typeface="Arial"/>
                <a:cs typeface="Arial"/>
              </a:defRPr>
            </a:lvl4pPr>
            <a:lvl5pPr>
              <a:buNone/>
              <a:defRPr sz="1725" b="0">
                <a:solidFill>
                  <a:srgbClr val="C2D7CD"/>
                </a:solidFill>
                <a:latin typeface="Arial"/>
                <a:ea typeface="Arial"/>
                <a:cs typeface="Arial"/>
              </a:defRPr>
            </a:lvl5pPr>
            <a:lvl6pPr>
              <a:buNone/>
              <a:defRPr sz="1725" b="0">
                <a:solidFill>
                  <a:srgbClr val="C2D7CD"/>
                </a:solidFill>
                <a:latin typeface="Arial"/>
                <a:ea typeface="Arial"/>
                <a:cs typeface="Arial"/>
              </a:defRPr>
            </a:lvl6pPr>
            <a:lvl7pPr>
              <a:buNone/>
              <a:defRPr sz="1725" b="0">
                <a:solidFill>
                  <a:srgbClr val="C2D7CD"/>
                </a:solidFill>
                <a:latin typeface="Arial"/>
                <a:ea typeface="Arial"/>
                <a:cs typeface="Arial"/>
              </a:defRPr>
            </a:lvl7pPr>
            <a:lvl8pPr>
              <a:buNone/>
              <a:defRPr sz="1725" b="0">
                <a:solidFill>
                  <a:srgbClr val="C2D7CD"/>
                </a:solidFill>
                <a:latin typeface="Arial"/>
                <a:ea typeface="Arial"/>
                <a:cs typeface="Arial"/>
              </a:defRPr>
            </a:lvl8pPr>
            <a:lvl9pPr>
              <a:buNone/>
              <a:defRPr sz="1725" b="0">
                <a:solidFill>
                  <a:srgbClr val="C2D7CD"/>
                </a:solidFill>
                <a:latin typeface="Arial"/>
                <a:ea typeface="Arial"/>
                <a:cs typeface="Arial"/>
              </a:defRPr>
            </a:lvl9pPr>
          </a:lstStyle>
          <a:p xmlns:a="http://schemas.openxmlformats.org/drawingml/2006/main">
            <a:pPr>
              <a:buNone/>
              <a:defRPr sz="1725" b="0">
                <a:solidFill>
                  <a:srgbClr val="C2D7CD"/>
                </a:solidFill>
                <a:latin typeface="Arial"/>
                <a:ea typeface="Arial"/>
                <a:cs typeface="Arial"/>
              </a:defRPr>
            </a:pPr>
            <a:r>
              <a:rPr sz="1725" b="0">
                <a:solidFill>
                  <a:srgbClr val="C2D7CD"/>
                </a:solidFill>
                <a:latin typeface="Arial"/>
                <a:ea typeface="Arial"/>
                <a:cs typeface="Arial"/>
              </a:rPr>
              <a:t>Synthetic demonstration. No real bank connection or payment execution.</a:t>
            </a:r>
          </a:p>
        </p:txBody>
      </p:sp>
    </p:spTree>
    <p:extLst>
      <p:ext uri="{BB962C8B-B14F-4D97-AF65-F5344CB8AC3E}">
        <p14:creationId xmlns:p14="http://schemas.microsoft.com/office/powerpoint/2010/main" val="1416431852"/>
      </p:ext>
    </p:extLst>
  </p:cSld>
</p:sld>
</file>

<file path=ppt/slides/slide13.xml><?xml version="1.0" encoding="utf-8"?>
<p:sld xmlns:p="http://schemas.openxmlformats.org/presentationml/2006/main" show="0">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4AD428-F5FC-492B-8FCC-7F13E9EA7EA1}"/>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Feature coverage</a:t>
            </a:r>
          </a:p>
        </p:txBody>
      </p:sp>
      <p:sp>
        <p:nvSpPr>
          <p:cNvPr id="2" name="page-number">
            <a:extLst xmlns:a="http://schemas.openxmlformats.org/drawingml/2006/main">
              <a:ext uri="{FF2B5EF4-FFF2-40B4-BE49-F238E27FC236}">
                <a16:creationId xmlns:a16="http://schemas.microsoft.com/office/drawing/2014/main" id="{BDD01A5C-7924-4290-AEA9-EEA919DBF9A0}"/>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A1</a:t>
            </a:r>
          </a:p>
        </p:txBody>
      </p:sp>
      <p:graphicFrame>
        <p:nvGraphicFramePr>
          <p:cNvPr id="3" name="">
            <a:extLst xmlns:a="http://schemas.openxmlformats.org/drawingml/2006/main">
              <a:ext uri="{FF2B5EF4-FFF2-40B4-BE49-F238E27FC236}">
                <a16:creationId xmlns:a16="http://schemas.microsoft.com/office/drawing/2014/main" id="{8CFBB758-DF48-4524-821B-19DF7263F91E}"/>
              </a:ext>
            </a:extLst>
          </p:cNvPr>
          <p:cNvGraphicFramePr/>
          <p:nvPr/>
        </p:nvGraphicFramePr>
        <p:xfrm>
          <a:off xmlns:a="http://schemas.openxmlformats.org/drawingml/2006/main" x="685800" y="1657350"/>
          <a:ext xmlns:a="http://schemas.openxmlformats.org/drawingml/2006/main" cx="10820400" cy="4400550"/>
        </p:xfrm>
        <a:graphic xmlns:a="http://schemas.openxmlformats.org/drawingml/2006/main">
          <a:graphicData uri="http://schemas.openxmlformats.org/drawingml/2006/table">
            <a:tbl>
              <a:tblPr firstRow="1" bandRow="0"/>
              <a:tblGrid>
                <a:gridCol w="3429000"/>
                <a:gridCol w="7391400"/>
              </a:tblGrid>
              <a:tr h="488950">
                <a:tc>
                  <a:txBody>
                    <a:bodyPr wrap="square" lIns="114300" tIns="114300" rIns="114300" bIns="114300">
                      <a:noAutofit/>
                    </a:bodyPr>
                    <a:lstStyle/>
                    <a:p>
                      <a:r>
                        <a:rPr sz="1725" b="1">
                          <a:solidFill>
                            <a:srgbClr val="FFFFFF"/>
                          </a:solidFill>
                          <a:latin typeface="Arial"/>
                          <a:ea typeface="Arial"/>
                          <a:cs typeface="Arial"/>
                        </a:rPr>
                        <a:t>Workspace</a:t>
                      </a:r>
                    </a:p>
                  </a:txBody>
                  <a:tcPr marL="91440" marR="91440" marT="45720" marB="45720" anchor="ctr">
                    <a:lnL w="9525">
                      <a:solidFill>
                        <a:srgbClr val="DCE5DF"/>
                      </a:solidFill>
                      <a:prstDash val="solid"/>
                    </a:lnL>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c>
                  <a:txBody>
                    <a:bodyPr wrap="square" lIns="114300" tIns="114300" rIns="114300" bIns="114300">
                      <a:noAutofit/>
                    </a:bodyPr>
                    <a:lstStyle/>
                    <a:p>
                      <a:r>
                        <a:rPr sz="1725" b="1">
                          <a:solidFill>
                            <a:srgbClr val="FFFFFF"/>
                          </a:solidFill>
                          <a:latin typeface="Arial"/>
                          <a:ea typeface="Arial"/>
                          <a:cs typeface="Arial"/>
                        </a:rPr>
                        <a:t>Available work</a:t>
                      </a:r>
                    </a:p>
                  </a:txBody>
                  <a:tcPr marL="91440" marR="91440" marT="45720" marB="45720" anchor="ctr">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r>
              <a:tr h="488950">
                <a:tc>
                  <a:txBody>
                    <a:bodyPr wrap="square" lIns="114300" tIns="114300" rIns="114300" bIns="114300">
                      <a:noAutofit/>
                    </a:bodyPr>
                    <a:lstStyle/>
                    <a:p>
                      <a:r>
                        <a:rPr sz="1725" b="0">
                          <a:solidFill>
                            <a:srgbClr val="1B3034"/>
                          </a:solidFill>
                          <a:latin typeface="Arial"/>
                          <a:ea typeface="Arial"/>
                          <a:cs typeface="Arial"/>
                        </a:rPr>
                        <a:t>Overview and daily review</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Cash position, priorities and upcoming obligations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488950">
                <a:tc>
                  <a:txBody>
                    <a:bodyPr wrap="square" lIns="114300" tIns="114300" rIns="114300" bIns="114300">
                      <a:noAutofit/>
                    </a:bodyPr>
                    <a:lstStyle/>
                    <a:p>
                      <a:r>
                        <a:rPr sz="1725" b="0">
                          <a:solidFill>
                            <a:srgbClr val="1B3034"/>
                          </a:solidFill>
                          <a:latin typeface="Arial"/>
                          <a:ea typeface="Arial"/>
                          <a:cs typeface="Arial"/>
                        </a:rPr>
                        <a:t>Forecast and account funding</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Daily outlooks, cash availability and payroll protection</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488950">
                <a:tc>
                  <a:txBody>
                    <a:bodyPr wrap="square" lIns="114300" tIns="114300" rIns="114300" bIns="114300">
                      <a:noAutofit/>
                    </a:bodyPr>
                    <a:lstStyle/>
                    <a:p>
                      <a:r>
                        <a:rPr sz="1725" b="0">
                          <a:solidFill>
                            <a:srgbClr val="1B3034"/>
                          </a:solidFill>
                          <a:latin typeface="Arial"/>
                          <a:ea typeface="Arial"/>
                          <a:cs typeface="Arial"/>
                        </a:rPr>
                        <a:t>Plans and scenarios</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Timing changes, affordability and bounded alternatives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488950">
                <a:tc>
                  <a:txBody>
                    <a:bodyPr wrap="square" lIns="114300" tIns="114300" rIns="114300" bIns="114300">
                      <a:noAutofit/>
                    </a:bodyPr>
                    <a:lstStyle/>
                    <a:p>
                      <a:r>
                        <a:rPr sz="1725" b="0">
                          <a:solidFill>
                            <a:srgbClr val="1B3034"/>
                          </a:solidFill>
                          <a:latin typeface="Arial"/>
                          <a:ea typeface="Arial"/>
                          <a:cs typeface="Arial"/>
                        </a:rPr>
                        <a:t>Evidence and ledger</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Staged imports, source references and record review</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488950">
                <a:tc>
                  <a:txBody>
                    <a:bodyPr wrap="square" lIns="114300" tIns="114300" rIns="114300" bIns="114300">
                      <a:noAutofit/>
                    </a:bodyPr>
                    <a:lstStyle/>
                    <a:p>
                      <a:r>
                        <a:rPr sz="1725" b="0">
                          <a:solidFill>
                            <a:srgbClr val="1B3034"/>
                          </a:solidFill>
                          <a:latin typeface="Arial"/>
                          <a:ea typeface="Arial"/>
                          <a:cs typeface="Arial"/>
                        </a:rPr>
                        <a:t>Actions and approvals</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DRAFT preparation and exact owner decisions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488950">
                <a:tc>
                  <a:txBody>
                    <a:bodyPr wrap="square" lIns="114300" tIns="114300" rIns="114300" bIns="114300">
                      <a:noAutofit/>
                    </a:bodyPr>
                    <a:lstStyle/>
                    <a:p>
                      <a:r>
                        <a:rPr sz="1725" b="0">
                          <a:solidFill>
                            <a:srgbClr val="1B3034"/>
                          </a:solidFill>
                          <a:latin typeface="Arial"/>
                          <a:ea typeface="Arial"/>
                          <a:cs typeface="Arial"/>
                        </a:rPr>
                        <a:t>Settlement and recovery</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Observed records, reconciliation, corrections and backups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488950">
                <a:tc>
                  <a:txBody>
                    <a:bodyPr wrap="square" lIns="114300" tIns="114300" rIns="114300" bIns="114300">
                      <a:noAutofit/>
                    </a:bodyPr>
                    <a:lstStyle/>
                    <a:p>
                      <a:r>
                        <a:rPr sz="1725" b="0">
                          <a:solidFill>
                            <a:srgbClr val="1B3034"/>
                          </a:solidFill>
                          <a:latin typeface="Arial"/>
                          <a:ea typeface="Arial"/>
                          <a:cs typeface="Arial"/>
                        </a:rPr>
                        <a:t>Agent and Autopilot</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Supported tasks, 6 skills, scheduled checks and bounded DRAFTs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488950">
                <a:tc>
                  <a:txBody>
                    <a:bodyPr wrap="square" lIns="114300" tIns="114300" rIns="114300" bIns="114300">
                      <a:noAutofit/>
                    </a:bodyPr>
                    <a:lstStyle/>
                    <a:p>
                      <a:r>
                        <a:rPr sz="1725" b="0">
                          <a:solidFill>
                            <a:srgbClr val="1B3034"/>
                          </a:solidFill>
                          <a:latin typeface="Arial"/>
                          <a:ea typeface="Arial"/>
                          <a:cs typeface="Arial"/>
                        </a:rPr>
                        <a:t>Telegram companion</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Browser simulation and paired private updates and decisions</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bl>
          </a:graphicData>
        </a:graphic>
      </p:graphicFrame>
    </p:spTree>
    <p:extLst>
      <p:ext uri="{BB962C8B-B14F-4D97-AF65-F5344CB8AC3E}">
        <p14:creationId xmlns:p14="http://schemas.microsoft.com/office/powerpoint/2010/main" val="59645936"/>
      </p:ext>
    </p:extLst>
  </p:cSld>
</p:sld>
</file>

<file path=ppt/slides/slide14.xml><?xml version="1.0" encoding="utf-8"?>
<p:sld xmlns:p="http://schemas.openxmlformats.org/presentationml/2006/main" show="0">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78D6F21-6BA8-4DB9-A0BB-1C6E2D619BF3}"/>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Threat boundaries and known limitations</a:t>
            </a:r>
          </a:p>
        </p:txBody>
      </p:sp>
      <p:sp>
        <p:nvSpPr>
          <p:cNvPr id="2" name="page-number">
            <a:extLst xmlns:a="http://schemas.openxmlformats.org/drawingml/2006/main">
              <a:ext uri="{FF2B5EF4-FFF2-40B4-BE49-F238E27FC236}">
                <a16:creationId xmlns:a16="http://schemas.microsoft.com/office/drawing/2014/main" id="{638E583D-F401-4AA5-9319-17A687938F51}"/>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A2</a:t>
            </a:r>
          </a:p>
        </p:txBody>
      </p:sp>
      <p:graphicFrame>
        <p:nvGraphicFramePr>
          <p:cNvPr id="3" name="">
            <a:extLst xmlns:a="http://schemas.openxmlformats.org/drawingml/2006/main">
              <a:ext uri="{FF2B5EF4-FFF2-40B4-BE49-F238E27FC236}">
                <a16:creationId xmlns:a16="http://schemas.microsoft.com/office/drawing/2014/main" id="{933220FF-AD82-4777-A84F-D080667CFB86}"/>
              </a:ext>
            </a:extLst>
          </p:cNvPr>
          <p:cNvGraphicFramePr/>
          <p:nvPr/>
        </p:nvGraphicFramePr>
        <p:xfrm>
          <a:off xmlns:a="http://schemas.openxmlformats.org/drawingml/2006/main" x="685800" y="1685925"/>
          <a:ext xmlns:a="http://schemas.openxmlformats.org/drawingml/2006/main" cx="10820400" cy="4124325"/>
        </p:xfrm>
        <a:graphic xmlns:a="http://schemas.openxmlformats.org/drawingml/2006/main">
          <a:graphicData uri="http://schemas.openxmlformats.org/drawingml/2006/table">
            <a:tbl>
              <a:tblPr firstRow="1" bandRow="0"/>
              <a:tblGrid>
                <a:gridCol w="2943225"/>
                <a:gridCol w="3714750"/>
                <a:gridCol w="4162425"/>
              </a:tblGrid>
              <a:tr h="687388">
                <a:tc>
                  <a:txBody>
                    <a:bodyPr wrap="square" lIns="114300" tIns="114300" rIns="114300" bIns="114300">
                      <a:noAutofit/>
                    </a:bodyPr>
                    <a:lstStyle/>
                    <a:p>
                      <a:r>
                        <a:rPr sz="1725" b="1">
                          <a:solidFill>
                            <a:srgbClr val="FFFFFF"/>
                          </a:solidFill>
                          <a:latin typeface="Arial"/>
                          <a:ea typeface="Arial"/>
                          <a:cs typeface="Arial"/>
                        </a:rPr>
                        <a:t>Risk</a:t>
                      </a:r>
                    </a:p>
                  </a:txBody>
                  <a:tcPr marL="91440" marR="91440" marT="45720" marB="45720" anchor="ctr">
                    <a:lnL w="9525">
                      <a:solidFill>
                        <a:srgbClr val="DCE5DF"/>
                      </a:solidFill>
                      <a:prstDash val="solid"/>
                    </a:lnL>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c>
                  <a:txBody>
                    <a:bodyPr wrap="square" lIns="114300" tIns="114300" rIns="114300" bIns="114300">
                      <a:noAutofit/>
                    </a:bodyPr>
                    <a:lstStyle/>
                    <a:p>
                      <a:r>
                        <a:rPr sz="1725" b="1">
                          <a:solidFill>
                            <a:srgbClr val="FFFFFF"/>
                          </a:solidFill>
                          <a:latin typeface="Arial"/>
                          <a:ea typeface="Arial"/>
                          <a:cs typeface="Arial"/>
                        </a:rPr>
                        <a:t>Implemented control</a:t>
                      </a:r>
                    </a:p>
                  </a:txBody>
                  <a:tcPr marL="91440" marR="91440" marT="45720" marB="45720" anchor="ctr">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c>
                  <a:txBody>
                    <a:bodyPr wrap="square" lIns="114300" tIns="114300" rIns="114300" bIns="114300">
                      <a:noAutofit/>
                    </a:bodyPr>
                    <a:lstStyle/>
                    <a:p>
                      <a:r>
                        <a:rPr sz="1725" b="1">
                          <a:solidFill>
                            <a:srgbClr val="FFFFFF"/>
                          </a:solidFill>
                          <a:latin typeface="Arial"/>
                          <a:ea typeface="Arial"/>
                          <a:cs typeface="Arial"/>
                        </a:rPr>
                        <a:t>Remaining limit</a:t>
                      </a:r>
                    </a:p>
                  </a:txBody>
                  <a:tcPr marL="91440" marR="91440" marT="45720" marB="45720" anchor="ctr">
                    <a:lnR w="9525">
                      <a:solidFill>
                        <a:srgbClr val="DCE5DF"/>
                      </a:solidFill>
                      <a:prstDash val="solid"/>
                    </a:lnR>
                    <a:lnT w="9525">
                      <a:solidFill>
                        <a:srgbClr val="DCE5DF"/>
                      </a:solidFill>
                      <a:prstDash val="solid"/>
                    </a:lnT>
                    <a:lnB w="9525">
                      <a:solidFill>
                        <a:srgbClr val="DCE5DF"/>
                      </a:solidFill>
                      <a:prstDash val="solid"/>
                    </a:lnB>
                    <a:solidFill>
                      <a:srgbClr val="183B36"/>
                    </a:solidFill>
                  </a:tcPr>
                </a:tc>
              </a:tr>
              <a:tr h="687388">
                <a:tc>
                  <a:txBody>
                    <a:bodyPr wrap="square" lIns="114300" tIns="114300" rIns="114300" bIns="114300">
                      <a:noAutofit/>
                    </a:bodyPr>
                    <a:lstStyle/>
                    <a:p>
                      <a:r>
                        <a:rPr sz="1725" b="0">
                          <a:solidFill>
                            <a:srgbClr val="1B3034"/>
                          </a:solidFill>
                          <a:latin typeface="Arial"/>
                          <a:ea typeface="Arial"/>
                          <a:cs typeface="Arial"/>
                        </a:rPr>
                        <a:t>Untrusted model output</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Typed tasks, scope checks and exact review</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A model can still misread intent</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87388">
                <a:tc>
                  <a:txBody>
                    <a:bodyPr wrap="square" lIns="114300" tIns="114300" rIns="114300" bIns="114300">
                      <a:noAutofit/>
                    </a:bodyPr>
                    <a:lstStyle/>
                    <a:p>
                      <a:r>
                        <a:rPr sz="1725" b="0">
                          <a:solidFill>
                            <a:srgbClr val="1B3034"/>
                          </a:solidFill>
                          <a:latin typeface="Arial"/>
                          <a:ea typeface="Arial"/>
                          <a:cs typeface="Arial"/>
                        </a:rPr>
                        <a:t>Provider failure or leaked error body</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Deadlines, response bounds and sanitization</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Availability and remote handling remain external</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87388">
                <a:tc>
                  <a:txBody>
                    <a:bodyPr wrap="square" lIns="114300" tIns="114300" rIns="114300" bIns="114300">
                      <a:noAutofit/>
                    </a:bodyPr>
                    <a:lstStyle/>
                    <a:p>
                      <a:r>
                        <a:rPr sz="1725" b="0">
                          <a:solidFill>
                            <a:srgbClr val="1B3034"/>
                          </a:solidFill>
                          <a:latin typeface="Arial"/>
                          <a:ea typeface="Arial"/>
                          <a:cs typeface="Arial"/>
                        </a:rPr>
                        <a:t>Replay or stale approval</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Durable request identity and revision binding</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Local storage and host security still matter</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87388">
                <a:tc>
                  <a:txBody>
                    <a:bodyPr wrap="square" lIns="114300" tIns="114300" rIns="114300" bIns="114300">
                      <a:noAutofit/>
                    </a:bodyPr>
                    <a:lstStyle/>
                    <a:p>
                      <a:r>
                        <a:rPr sz="1725" b="0">
                          <a:solidFill>
                            <a:srgbClr val="1B3034"/>
                          </a:solidFill>
                          <a:latin typeface="Arial"/>
                          <a:ea typeface="Arial"/>
                          <a:cs typeface="Arial"/>
                        </a:rPr>
                        <a:t>Misleading documents or attestations</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Source references and explicit owner steps</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Source authenticity is not independently proven</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r h="687388">
                <a:tc>
                  <a:txBody>
                    <a:bodyPr wrap="square" lIns="114300" tIns="114300" rIns="114300" bIns="114300">
                      <a:noAutofit/>
                    </a:bodyPr>
                    <a:lstStyle/>
                    <a:p>
                      <a:r>
                        <a:rPr sz="1725" b="0">
                          <a:solidFill>
                            <a:srgbClr val="1B3034"/>
                          </a:solidFill>
                          <a:latin typeface="Arial"/>
                          <a:ea typeface="Arial"/>
                          <a:cs typeface="Arial"/>
                        </a:rPr>
                        <a:t>Public demo or private integrations</a:t>
                      </a:r>
                    </a:p>
                  </a:txBody>
                  <a:tcPr marL="91440" marR="91440" marT="45720" marB="45720" anchor="ctr">
                    <a:lnL w="9525">
                      <a:solidFill>
                        <a:srgbClr val="DCE5DF"/>
                      </a:solidFill>
                      <a:prstDash val="solid"/>
                    </a:lnL>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Isolated synthetic visitors, locked settings</a:t>
                      </a:r>
                    </a:p>
                  </a:txBody>
                  <a:tcPr marL="91440" marR="91440" marT="45720" marB="45720" anchor="ctr">
                    <a:lnR w="9525">
                      <a:solidFill>
                        <a:srgbClr val="DCE5DF"/>
                      </a:solidFill>
                      <a:prstDash val="solid"/>
                    </a:lnR>
                    <a:lnB w="9525">
                      <a:solidFill>
                        <a:srgbClr val="DCE5DF"/>
                      </a:solidFill>
                      <a:prstDash val="solid"/>
                    </a:lnB>
                    <a:solidFill>
                      <a:srgbClr val="FFFFFF"/>
                    </a:solidFill>
                  </a:tcPr>
                </a:tc>
                <a:tc>
                  <a:txBody>
                    <a:bodyPr wrap="square" lIns="114300" tIns="114300" rIns="114300" bIns="114300">
                      <a:noAutofit/>
                    </a:bodyPr>
                    <a:lstStyle/>
                    <a:p>
                      <a:r>
                        <a:rPr sz="1725" b="0">
                          <a:solidFill>
                            <a:srgbClr val="1B3034"/>
                          </a:solidFill>
                          <a:latin typeface="Arial"/>
                          <a:ea typeface="Arial"/>
                          <a:cs typeface="Arial"/>
                        </a:rPr>
                        <a:t>No production identity system or bank integration</a:t>
                      </a:r>
                    </a:p>
                  </a:txBody>
                  <a:tcPr marL="91440" marR="91440" marT="45720" marB="45720" anchor="ctr">
                    <a:lnR w="9525">
                      <a:solidFill>
                        <a:srgbClr val="DCE5DF"/>
                      </a:solidFill>
                      <a:prstDash val="solid"/>
                    </a:lnR>
                    <a:lnB w="9525">
                      <a:solidFill>
                        <a:srgbClr val="DCE5DF"/>
                      </a:solidFill>
                      <a:prstDash val="solid"/>
                    </a:lnB>
                    <a:solidFill>
                      <a:srgbClr val="FFFFFF"/>
                    </a:solidFill>
                  </a:tcPr>
                </a:tc>
              </a:tr>
            </a:tbl>
          </a:graphicData>
        </a:graphic>
      </p:graphicFrame>
      <p:sp>
        <p:nvSpPr>
          <p:cNvPr id="4" name="caption">
            <a:extLst xmlns:a="http://schemas.openxmlformats.org/drawingml/2006/main">
              <a:ext uri="{FF2B5EF4-FFF2-40B4-BE49-F238E27FC236}">
                <a16:creationId xmlns:a16="http://schemas.microsoft.com/office/drawing/2014/main" id="{239452A4-CF7F-4D4C-9633-33A920E3009C}"/>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Windows SQLite backup paths have a documented length limitation. Use a short writable directory.</a:t>
            </a:r>
          </a:p>
        </p:txBody>
      </p:sp>
    </p:spTree>
    <p:extLst>
      <p:ext uri="{BB962C8B-B14F-4D97-AF65-F5344CB8AC3E}">
        <p14:creationId xmlns:p14="http://schemas.microsoft.com/office/powerpoint/2010/main" val="1032765396"/>
      </p:ext>
    </p:extLst>
  </p:cSld>
</p:sld>
</file>

<file path=ppt/slides/slide15.xml><?xml version="1.0" encoding="utf-8"?>
<p:sld xmlns:p="http://schemas.openxmlformats.org/presentationml/2006/main" show="0">
  <p:cSld>
    <p:bg>
      <p:bgPr>
        <a:solidFill xmlns:a="http://schemas.openxmlformats.org/drawingml/2006/main">
          <a:srgbClr val="F8FAF8"/>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3AF1364-12E4-416E-A91A-592D9C04A1B7}"/>
              </a:ext>
            </a:extLst>
          </p:cNvPr>
          <p:cNvSpPr>
            <a:spLocks xmlns:a="http://schemas.openxmlformats.org/drawingml/2006/main" noGrp="1"/>
          </p:cNvSpPr>
          <p:nvPr/>
        </p:nvSpPr>
        <p:spPr>
          <a:xfrm xmlns:a="http://schemas.openxmlformats.org/drawingml/2006/main">
            <a:off x="685800" y="552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B3034"/>
                </a:solidFill>
                <a:latin typeface="Arial"/>
                <a:ea typeface="Arial"/>
                <a:cs typeface="Arial"/>
              </a:defRPr>
            </a:defPPr>
            <a:lvl1pPr>
              <a:buNone/>
              <a:defRPr sz="3300" b="1">
                <a:solidFill>
                  <a:srgbClr val="1B3034"/>
                </a:solidFill>
                <a:latin typeface="Arial"/>
                <a:ea typeface="Arial"/>
                <a:cs typeface="Arial"/>
              </a:defRPr>
            </a:lvl1pPr>
            <a:lvl2pPr>
              <a:buNone/>
              <a:defRPr sz="3300" b="1">
                <a:solidFill>
                  <a:srgbClr val="1B3034"/>
                </a:solidFill>
                <a:latin typeface="Arial"/>
                <a:ea typeface="Arial"/>
                <a:cs typeface="Arial"/>
              </a:defRPr>
            </a:lvl2pPr>
            <a:lvl3pPr>
              <a:buNone/>
              <a:defRPr sz="3300" b="1">
                <a:solidFill>
                  <a:srgbClr val="1B3034"/>
                </a:solidFill>
                <a:latin typeface="Arial"/>
                <a:ea typeface="Arial"/>
                <a:cs typeface="Arial"/>
              </a:defRPr>
            </a:lvl3pPr>
            <a:lvl4pPr>
              <a:buNone/>
              <a:defRPr sz="3300" b="1">
                <a:solidFill>
                  <a:srgbClr val="1B3034"/>
                </a:solidFill>
                <a:latin typeface="Arial"/>
                <a:ea typeface="Arial"/>
                <a:cs typeface="Arial"/>
              </a:defRPr>
            </a:lvl4pPr>
            <a:lvl5pPr>
              <a:buNone/>
              <a:defRPr sz="3300" b="1">
                <a:solidFill>
                  <a:srgbClr val="1B3034"/>
                </a:solidFill>
                <a:latin typeface="Arial"/>
                <a:ea typeface="Arial"/>
                <a:cs typeface="Arial"/>
              </a:defRPr>
            </a:lvl5pPr>
            <a:lvl6pPr>
              <a:buNone/>
              <a:defRPr sz="3300" b="1">
                <a:solidFill>
                  <a:srgbClr val="1B3034"/>
                </a:solidFill>
                <a:latin typeface="Arial"/>
                <a:ea typeface="Arial"/>
                <a:cs typeface="Arial"/>
              </a:defRPr>
            </a:lvl6pPr>
            <a:lvl7pPr>
              <a:buNone/>
              <a:defRPr sz="3300" b="1">
                <a:solidFill>
                  <a:srgbClr val="1B3034"/>
                </a:solidFill>
                <a:latin typeface="Arial"/>
                <a:ea typeface="Arial"/>
                <a:cs typeface="Arial"/>
              </a:defRPr>
            </a:lvl7pPr>
            <a:lvl8pPr>
              <a:buNone/>
              <a:defRPr sz="3300" b="1">
                <a:solidFill>
                  <a:srgbClr val="1B3034"/>
                </a:solidFill>
                <a:latin typeface="Arial"/>
                <a:ea typeface="Arial"/>
                <a:cs typeface="Arial"/>
              </a:defRPr>
            </a:lvl8pPr>
            <a:lvl9pPr>
              <a:buNone/>
              <a:defRPr sz="3300" b="1">
                <a:solidFill>
                  <a:srgbClr val="1B3034"/>
                </a:solidFill>
                <a:latin typeface="Arial"/>
                <a:ea typeface="Arial"/>
                <a:cs typeface="Arial"/>
              </a:defRPr>
            </a:lvl9pPr>
          </a:lstStyle>
          <a:p xmlns:a="http://schemas.openxmlformats.org/drawingml/2006/main">
            <a:pPr>
              <a:buNone/>
              <a:defRPr sz="3300" b="1">
                <a:solidFill>
                  <a:srgbClr val="1B3034"/>
                </a:solidFill>
                <a:latin typeface="Arial"/>
                <a:ea typeface="Arial"/>
                <a:cs typeface="Arial"/>
              </a:defRPr>
            </a:pPr>
            <a:r>
              <a:rPr sz="3300" b="1">
                <a:solidFill>
                  <a:srgbClr val="1B3034"/>
                </a:solidFill>
                <a:latin typeface="Arial"/>
                <a:ea typeface="Arial"/>
                <a:cs typeface="Arial"/>
              </a:rPr>
              <a:t>Demo access and reproducibility</a:t>
            </a:r>
          </a:p>
        </p:txBody>
      </p:sp>
      <p:sp>
        <p:nvSpPr>
          <p:cNvPr id="2" name="page-number">
            <a:extLst xmlns:a="http://schemas.openxmlformats.org/drawingml/2006/main">
              <a:ext uri="{FF2B5EF4-FFF2-40B4-BE49-F238E27FC236}">
                <a16:creationId xmlns:a16="http://schemas.microsoft.com/office/drawing/2014/main" id="{B986CF64-8EB1-4A91-8B70-E5EF4E648267}"/>
              </a:ext>
            </a:extLst>
          </p:cNvPr>
          <p:cNvSpPr>
            <a:spLocks xmlns:a="http://schemas.openxmlformats.org/drawingml/2006/main" noGrp="1"/>
          </p:cNvSpPr>
          <p:nvPr/>
        </p:nvSpPr>
        <p:spPr>
          <a:xfrm xmlns:a="http://schemas.openxmlformats.org/drawingml/2006/main">
            <a:off x="11001375" y="64198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96A"/>
                </a:solidFill>
                <a:latin typeface="Arial"/>
                <a:ea typeface="Arial"/>
                <a:cs typeface="Arial"/>
              </a:defRPr>
            </a:defPPr>
            <a:lvl1pPr>
              <a:buNone/>
              <a:defRPr sz="1275" b="0">
                <a:solidFill>
                  <a:srgbClr val="52696A"/>
                </a:solidFill>
                <a:latin typeface="Arial"/>
                <a:ea typeface="Arial"/>
                <a:cs typeface="Arial"/>
              </a:defRPr>
            </a:lvl1pPr>
            <a:lvl2pPr>
              <a:buNone/>
              <a:defRPr sz="1275" b="0">
                <a:solidFill>
                  <a:srgbClr val="52696A"/>
                </a:solidFill>
                <a:latin typeface="Arial"/>
                <a:ea typeface="Arial"/>
                <a:cs typeface="Arial"/>
              </a:defRPr>
            </a:lvl2pPr>
            <a:lvl3pPr>
              <a:buNone/>
              <a:defRPr sz="1275" b="0">
                <a:solidFill>
                  <a:srgbClr val="52696A"/>
                </a:solidFill>
                <a:latin typeface="Arial"/>
                <a:ea typeface="Arial"/>
                <a:cs typeface="Arial"/>
              </a:defRPr>
            </a:lvl3pPr>
            <a:lvl4pPr>
              <a:buNone/>
              <a:defRPr sz="1275" b="0">
                <a:solidFill>
                  <a:srgbClr val="52696A"/>
                </a:solidFill>
                <a:latin typeface="Arial"/>
                <a:ea typeface="Arial"/>
                <a:cs typeface="Arial"/>
              </a:defRPr>
            </a:lvl4pPr>
            <a:lvl5pPr>
              <a:buNone/>
              <a:defRPr sz="1275" b="0">
                <a:solidFill>
                  <a:srgbClr val="52696A"/>
                </a:solidFill>
                <a:latin typeface="Arial"/>
                <a:ea typeface="Arial"/>
                <a:cs typeface="Arial"/>
              </a:defRPr>
            </a:lvl5pPr>
            <a:lvl6pPr>
              <a:buNone/>
              <a:defRPr sz="1275" b="0">
                <a:solidFill>
                  <a:srgbClr val="52696A"/>
                </a:solidFill>
                <a:latin typeface="Arial"/>
                <a:ea typeface="Arial"/>
                <a:cs typeface="Arial"/>
              </a:defRPr>
            </a:lvl6pPr>
            <a:lvl7pPr>
              <a:buNone/>
              <a:defRPr sz="1275" b="0">
                <a:solidFill>
                  <a:srgbClr val="52696A"/>
                </a:solidFill>
                <a:latin typeface="Arial"/>
                <a:ea typeface="Arial"/>
                <a:cs typeface="Arial"/>
              </a:defRPr>
            </a:lvl7pPr>
            <a:lvl8pPr>
              <a:buNone/>
              <a:defRPr sz="1275" b="0">
                <a:solidFill>
                  <a:srgbClr val="52696A"/>
                </a:solidFill>
                <a:latin typeface="Arial"/>
                <a:ea typeface="Arial"/>
                <a:cs typeface="Arial"/>
              </a:defRPr>
            </a:lvl8pPr>
            <a:lvl9pPr>
              <a:buNone/>
              <a:defRPr sz="1275" b="0">
                <a:solidFill>
                  <a:srgbClr val="52696A"/>
                </a:solidFill>
                <a:latin typeface="Arial"/>
                <a:ea typeface="Arial"/>
                <a:cs typeface="Arial"/>
              </a:defRPr>
            </a:lvl9pPr>
          </a:lstStyle>
          <a:p xmlns:a="http://schemas.openxmlformats.org/drawingml/2006/main">
            <a:pPr>
              <a:buNone/>
              <a:defRPr sz="1275" b="0">
                <a:solidFill>
                  <a:srgbClr val="52696A"/>
                </a:solidFill>
                <a:latin typeface="Arial"/>
                <a:ea typeface="Arial"/>
                <a:cs typeface="Arial"/>
              </a:defRPr>
            </a:pPr>
            <a:r>
              <a:rPr sz="1275" b="0">
                <a:solidFill>
                  <a:srgbClr val="52696A"/>
                </a:solidFill>
                <a:latin typeface="Arial"/>
                <a:ea typeface="Arial"/>
                <a:cs typeface="Arial"/>
              </a:rPr>
              <a:t>A3</a:t>
            </a:r>
          </a:p>
        </p:txBody>
      </p:sp>
      <p:sp>
        <p:nvSpPr>
          <p:cNvPr id="3" name="access-demo">
            <a:extLst xmlns:a="http://schemas.openxmlformats.org/drawingml/2006/main">
              <a:ext uri="{FF2B5EF4-FFF2-40B4-BE49-F238E27FC236}">
                <a16:creationId xmlns:a16="http://schemas.microsoft.com/office/drawing/2014/main" id="{63AE835C-787F-4D14-B9B8-D29B1BED74A8}"/>
              </a:ext>
            </a:extLst>
          </p:cNvPr>
          <p:cNvSpPr>
            <a:spLocks xmlns:a="http://schemas.openxmlformats.org/drawingml/2006/main" noGrp="1"/>
          </p:cNvSpPr>
          <p:nvPr/>
        </p:nvSpPr>
        <p:spPr>
          <a:xfrm xmlns:a="http://schemas.openxmlformats.org/drawingml/2006/main">
            <a:off x="685800" y="17907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16754"/>
                </a:solidFill>
                <a:latin typeface="Arial"/>
                <a:ea typeface="Arial"/>
                <a:cs typeface="Arial"/>
              </a:defRPr>
            </a:defPPr>
            <a:lvl1pPr>
              <a:buNone/>
              <a:defRPr sz="2250" b="1">
                <a:solidFill>
                  <a:srgbClr val="116754"/>
                </a:solidFill>
                <a:latin typeface="Arial"/>
                <a:ea typeface="Arial"/>
                <a:cs typeface="Arial"/>
              </a:defRPr>
            </a:lvl1pPr>
            <a:lvl2pPr>
              <a:buNone/>
              <a:defRPr sz="2250" b="1">
                <a:solidFill>
                  <a:srgbClr val="116754"/>
                </a:solidFill>
                <a:latin typeface="Arial"/>
                <a:ea typeface="Arial"/>
                <a:cs typeface="Arial"/>
              </a:defRPr>
            </a:lvl2pPr>
            <a:lvl3pPr>
              <a:buNone/>
              <a:defRPr sz="2250" b="1">
                <a:solidFill>
                  <a:srgbClr val="116754"/>
                </a:solidFill>
                <a:latin typeface="Arial"/>
                <a:ea typeface="Arial"/>
                <a:cs typeface="Arial"/>
              </a:defRPr>
            </a:lvl3pPr>
            <a:lvl4pPr>
              <a:buNone/>
              <a:defRPr sz="2250" b="1">
                <a:solidFill>
                  <a:srgbClr val="116754"/>
                </a:solidFill>
                <a:latin typeface="Arial"/>
                <a:ea typeface="Arial"/>
                <a:cs typeface="Arial"/>
              </a:defRPr>
            </a:lvl4pPr>
            <a:lvl5pPr>
              <a:buNone/>
              <a:defRPr sz="2250" b="1">
                <a:solidFill>
                  <a:srgbClr val="116754"/>
                </a:solidFill>
                <a:latin typeface="Arial"/>
                <a:ea typeface="Arial"/>
                <a:cs typeface="Arial"/>
              </a:defRPr>
            </a:lvl5pPr>
            <a:lvl6pPr>
              <a:buNone/>
              <a:defRPr sz="2250" b="1">
                <a:solidFill>
                  <a:srgbClr val="116754"/>
                </a:solidFill>
                <a:latin typeface="Arial"/>
                <a:ea typeface="Arial"/>
                <a:cs typeface="Arial"/>
              </a:defRPr>
            </a:lvl6pPr>
            <a:lvl7pPr>
              <a:buNone/>
              <a:defRPr sz="2250" b="1">
                <a:solidFill>
                  <a:srgbClr val="116754"/>
                </a:solidFill>
                <a:latin typeface="Arial"/>
                <a:ea typeface="Arial"/>
                <a:cs typeface="Arial"/>
              </a:defRPr>
            </a:lvl7pPr>
            <a:lvl8pPr>
              <a:buNone/>
              <a:defRPr sz="2250" b="1">
                <a:solidFill>
                  <a:srgbClr val="116754"/>
                </a:solidFill>
                <a:latin typeface="Arial"/>
                <a:ea typeface="Arial"/>
                <a:cs typeface="Arial"/>
              </a:defRPr>
            </a:lvl8pPr>
            <a:lvl9pPr>
              <a:buNone/>
              <a:defRPr sz="2250" b="1">
                <a:solidFill>
                  <a:srgbClr val="116754"/>
                </a:solidFill>
                <a:latin typeface="Arial"/>
                <a:ea typeface="Arial"/>
                <a:cs typeface="Arial"/>
              </a:defRPr>
            </a:lvl9pPr>
          </a:lstStyle>
          <a:p xmlns:a="http://schemas.openxmlformats.org/drawingml/2006/main">
            <a:pPr>
              <a:buNone/>
              <a:defRPr sz="2250" b="1">
                <a:solidFill>
                  <a:srgbClr val="116754"/>
                </a:solidFill>
                <a:latin typeface="Arial"/>
                <a:ea typeface="Arial"/>
                <a:cs typeface="Arial"/>
              </a:defRPr>
            </a:pPr>
            <a:r>
              <a:rPr sz="2250" b="1">
                <a:solidFill>
                  <a:srgbClr val="116754"/>
                </a:solidFill>
                <a:latin typeface="Arial"/>
                <a:ea typeface="Arial"/>
                <a:cs typeface="Arial"/>
              </a:rPr>
              <a:t>Judge tour</a:t>
            </a:r>
          </a:p>
        </p:txBody>
      </p:sp>
      <p:sp>
        <p:nvSpPr>
          <p:cNvPr id="4" name="access-demo-url">
            <a:extLst xmlns:a="http://schemas.openxmlformats.org/drawingml/2006/main">
              <a:ext uri="{FF2B5EF4-FFF2-40B4-BE49-F238E27FC236}">
                <a16:creationId xmlns:a16="http://schemas.microsoft.com/office/drawing/2014/main" id="{DB6CD704-9985-4600-872E-758B844DA130}"/>
              </a:ext>
            </a:extLst>
          </p:cNvPr>
          <p:cNvSpPr>
            <a:spLocks xmlns:a="http://schemas.openxmlformats.org/drawingml/2006/main" noGrp="1"/>
          </p:cNvSpPr>
          <p:nvPr/>
        </p:nvSpPr>
        <p:spPr>
          <a:xfrm xmlns:a="http://schemas.openxmlformats.org/drawingml/2006/main">
            <a:off x="4000500" y="1790700"/>
            <a:ext cx="7505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034"/>
                </a:solidFill>
                <a:latin typeface="Arial"/>
                <a:ea typeface="Arial"/>
                <a:cs typeface="Arial"/>
              </a:defRPr>
            </a:defPPr>
            <a:lvl1pPr>
              <a:buNone/>
              <a:defRPr sz="2100" b="0">
                <a:solidFill>
                  <a:srgbClr val="1B3034"/>
                </a:solidFill>
                <a:latin typeface="Arial"/>
                <a:ea typeface="Arial"/>
                <a:cs typeface="Arial"/>
              </a:defRPr>
            </a:lvl1pPr>
            <a:lvl2pPr>
              <a:buNone/>
              <a:defRPr sz="2100" b="0">
                <a:solidFill>
                  <a:srgbClr val="1B3034"/>
                </a:solidFill>
                <a:latin typeface="Arial"/>
                <a:ea typeface="Arial"/>
                <a:cs typeface="Arial"/>
              </a:defRPr>
            </a:lvl2pPr>
            <a:lvl3pPr>
              <a:buNone/>
              <a:defRPr sz="2100" b="0">
                <a:solidFill>
                  <a:srgbClr val="1B3034"/>
                </a:solidFill>
                <a:latin typeface="Arial"/>
                <a:ea typeface="Arial"/>
                <a:cs typeface="Arial"/>
              </a:defRPr>
            </a:lvl3pPr>
            <a:lvl4pPr>
              <a:buNone/>
              <a:defRPr sz="2100" b="0">
                <a:solidFill>
                  <a:srgbClr val="1B3034"/>
                </a:solidFill>
                <a:latin typeface="Arial"/>
                <a:ea typeface="Arial"/>
                <a:cs typeface="Arial"/>
              </a:defRPr>
            </a:lvl4pPr>
            <a:lvl5pPr>
              <a:buNone/>
              <a:defRPr sz="2100" b="0">
                <a:solidFill>
                  <a:srgbClr val="1B3034"/>
                </a:solidFill>
                <a:latin typeface="Arial"/>
                <a:ea typeface="Arial"/>
                <a:cs typeface="Arial"/>
              </a:defRPr>
            </a:lvl5pPr>
            <a:lvl6pPr>
              <a:buNone/>
              <a:defRPr sz="2100" b="0">
                <a:solidFill>
                  <a:srgbClr val="1B3034"/>
                </a:solidFill>
                <a:latin typeface="Arial"/>
                <a:ea typeface="Arial"/>
                <a:cs typeface="Arial"/>
              </a:defRPr>
            </a:lvl6pPr>
            <a:lvl7pPr>
              <a:buNone/>
              <a:defRPr sz="2100" b="0">
                <a:solidFill>
                  <a:srgbClr val="1B3034"/>
                </a:solidFill>
                <a:latin typeface="Arial"/>
                <a:ea typeface="Arial"/>
                <a:cs typeface="Arial"/>
              </a:defRPr>
            </a:lvl7pPr>
            <a:lvl8pPr>
              <a:buNone/>
              <a:defRPr sz="2100" b="0">
                <a:solidFill>
                  <a:srgbClr val="1B3034"/>
                </a:solidFill>
                <a:latin typeface="Arial"/>
                <a:ea typeface="Arial"/>
                <a:cs typeface="Arial"/>
              </a:defRPr>
            </a:lvl8pPr>
            <a:lvl9pPr>
              <a:buNone/>
              <a:defRPr sz="2100" b="0">
                <a:solidFill>
                  <a:srgbClr val="1B3034"/>
                </a:solidFill>
                <a:latin typeface="Arial"/>
                <a:ea typeface="Arial"/>
                <a:cs typeface="Arial"/>
              </a:defRPr>
            </a:lvl9pPr>
          </a:lstStyle>
          <a:p xmlns:a="http://schemas.openxmlformats.org/drawingml/2006/main">
            <a:pPr>
              <a:buNone/>
              <a:defRPr sz="2100" b="0">
                <a:solidFill>
                  <a:srgbClr val="1B3034"/>
                </a:solidFill>
                <a:latin typeface="Arial"/>
                <a:ea typeface="Arial"/>
                <a:cs typeface="Arial"/>
              </a:defRPr>
            </a:pPr>
            <a:r>
              <a:rPr sz="2100" b="0">
                <a:solidFill>
                  <a:srgbClr val="1B3034"/>
                </a:solidFill>
                <a:latin typeface="Arial"/>
                <a:ea typeface="Arial"/>
                <a:cs typeface="Arial"/>
              </a:rPr>
              <a:t>https://fluxora.sklab.cc/start</a:t>
            </a:r>
          </a:p>
        </p:txBody>
      </p:sp>
      <p:sp>
        <p:nvSpPr>
          <p:cNvPr id="5" name="access-telegram">
            <a:extLst xmlns:a="http://schemas.openxmlformats.org/drawingml/2006/main">
              <a:ext uri="{FF2B5EF4-FFF2-40B4-BE49-F238E27FC236}">
                <a16:creationId xmlns:a16="http://schemas.microsoft.com/office/drawing/2014/main" id="{47C69D1D-1B94-455E-8DAD-6A62CD5BF686}"/>
              </a:ext>
            </a:extLst>
          </p:cNvPr>
          <p:cNvSpPr>
            <a:spLocks xmlns:a="http://schemas.openxmlformats.org/drawingml/2006/main" noGrp="1"/>
          </p:cNvSpPr>
          <p:nvPr/>
        </p:nvSpPr>
        <p:spPr>
          <a:xfrm xmlns:a="http://schemas.openxmlformats.org/drawingml/2006/main">
            <a:off x="685800" y="26670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16754"/>
                </a:solidFill>
                <a:latin typeface="Arial"/>
                <a:ea typeface="Arial"/>
                <a:cs typeface="Arial"/>
              </a:defRPr>
            </a:defPPr>
            <a:lvl1pPr>
              <a:buNone/>
              <a:defRPr sz="2250" b="1">
                <a:solidFill>
                  <a:srgbClr val="116754"/>
                </a:solidFill>
                <a:latin typeface="Arial"/>
                <a:ea typeface="Arial"/>
                <a:cs typeface="Arial"/>
              </a:defRPr>
            </a:lvl1pPr>
            <a:lvl2pPr>
              <a:buNone/>
              <a:defRPr sz="2250" b="1">
                <a:solidFill>
                  <a:srgbClr val="116754"/>
                </a:solidFill>
                <a:latin typeface="Arial"/>
                <a:ea typeface="Arial"/>
                <a:cs typeface="Arial"/>
              </a:defRPr>
            </a:lvl2pPr>
            <a:lvl3pPr>
              <a:buNone/>
              <a:defRPr sz="2250" b="1">
                <a:solidFill>
                  <a:srgbClr val="116754"/>
                </a:solidFill>
                <a:latin typeface="Arial"/>
                <a:ea typeface="Arial"/>
                <a:cs typeface="Arial"/>
              </a:defRPr>
            </a:lvl3pPr>
            <a:lvl4pPr>
              <a:buNone/>
              <a:defRPr sz="2250" b="1">
                <a:solidFill>
                  <a:srgbClr val="116754"/>
                </a:solidFill>
                <a:latin typeface="Arial"/>
                <a:ea typeface="Arial"/>
                <a:cs typeface="Arial"/>
              </a:defRPr>
            </a:lvl4pPr>
            <a:lvl5pPr>
              <a:buNone/>
              <a:defRPr sz="2250" b="1">
                <a:solidFill>
                  <a:srgbClr val="116754"/>
                </a:solidFill>
                <a:latin typeface="Arial"/>
                <a:ea typeface="Arial"/>
                <a:cs typeface="Arial"/>
              </a:defRPr>
            </a:lvl5pPr>
            <a:lvl6pPr>
              <a:buNone/>
              <a:defRPr sz="2250" b="1">
                <a:solidFill>
                  <a:srgbClr val="116754"/>
                </a:solidFill>
                <a:latin typeface="Arial"/>
                <a:ea typeface="Arial"/>
                <a:cs typeface="Arial"/>
              </a:defRPr>
            </a:lvl6pPr>
            <a:lvl7pPr>
              <a:buNone/>
              <a:defRPr sz="2250" b="1">
                <a:solidFill>
                  <a:srgbClr val="116754"/>
                </a:solidFill>
                <a:latin typeface="Arial"/>
                <a:ea typeface="Arial"/>
                <a:cs typeface="Arial"/>
              </a:defRPr>
            </a:lvl7pPr>
            <a:lvl8pPr>
              <a:buNone/>
              <a:defRPr sz="2250" b="1">
                <a:solidFill>
                  <a:srgbClr val="116754"/>
                </a:solidFill>
                <a:latin typeface="Arial"/>
                <a:ea typeface="Arial"/>
                <a:cs typeface="Arial"/>
              </a:defRPr>
            </a:lvl8pPr>
            <a:lvl9pPr>
              <a:buNone/>
              <a:defRPr sz="2250" b="1">
                <a:solidFill>
                  <a:srgbClr val="116754"/>
                </a:solidFill>
                <a:latin typeface="Arial"/>
                <a:ea typeface="Arial"/>
                <a:cs typeface="Arial"/>
              </a:defRPr>
            </a:lvl9pPr>
          </a:lstStyle>
          <a:p xmlns:a="http://schemas.openxmlformats.org/drawingml/2006/main">
            <a:pPr>
              <a:buNone/>
              <a:defRPr sz="2250" b="1">
                <a:solidFill>
                  <a:srgbClr val="116754"/>
                </a:solidFill>
                <a:latin typeface="Arial"/>
                <a:ea typeface="Arial"/>
                <a:cs typeface="Arial"/>
              </a:defRPr>
            </a:pPr>
            <a:r>
              <a:rPr sz="2250" b="1">
                <a:solidFill>
                  <a:srgbClr val="116754"/>
                </a:solidFill>
                <a:latin typeface="Arial"/>
                <a:ea typeface="Arial"/>
                <a:cs typeface="Arial"/>
              </a:rPr>
              <a:t>Telegram practice</a:t>
            </a:r>
          </a:p>
        </p:txBody>
      </p:sp>
      <p:sp>
        <p:nvSpPr>
          <p:cNvPr id="6" name="access-telegram-url">
            <a:extLst xmlns:a="http://schemas.openxmlformats.org/drawingml/2006/main">
              <a:ext uri="{FF2B5EF4-FFF2-40B4-BE49-F238E27FC236}">
                <a16:creationId xmlns:a16="http://schemas.microsoft.com/office/drawing/2014/main" id="{0BB0AA6C-5E6F-40A0-B755-7EEC35A32698}"/>
              </a:ext>
            </a:extLst>
          </p:cNvPr>
          <p:cNvSpPr>
            <a:spLocks xmlns:a="http://schemas.openxmlformats.org/drawingml/2006/main" noGrp="1"/>
          </p:cNvSpPr>
          <p:nvPr/>
        </p:nvSpPr>
        <p:spPr>
          <a:xfrm xmlns:a="http://schemas.openxmlformats.org/drawingml/2006/main">
            <a:off x="4000500" y="2667000"/>
            <a:ext cx="7505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034"/>
                </a:solidFill>
                <a:latin typeface="Arial"/>
                <a:ea typeface="Arial"/>
                <a:cs typeface="Arial"/>
              </a:defRPr>
            </a:defPPr>
            <a:lvl1pPr>
              <a:buNone/>
              <a:defRPr sz="2025" b="0">
                <a:solidFill>
                  <a:srgbClr val="1B3034"/>
                </a:solidFill>
                <a:latin typeface="Arial"/>
                <a:ea typeface="Arial"/>
                <a:cs typeface="Arial"/>
              </a:defRPr>
            </a:lvl1pPr>
            <a:lvl2pPr>
              <a:buNone/>
              <a:defRPr sz="2025" b="0">
                <a:solidFill>
                  <a:srgbClr val="1B3034"/>
                </a:solidFill>
                <a:latin typeface="Arial"/>
                <a:ea typeface="Arial"/>
                <a:cs typeface="Arial"/>
              </a:defRPr>
            </a:lvl2pPr>
            <a:lvl3pPr>
              <a:buNone/>
              <a:defRPr sz="2025" b="0">
                <a:solidFill>
                  <a:srgbClr val="1B3034"/>
                </a:solidFill>
                <a:latin typeface="Arial"/>
                <a:ea typeface="Arial"/>
                <a:cs typeface="Arial"/>
              </a:defRPr>
            </a:lvl3pPr>
            <a:lvl4pPr>
              <a:buNone/>
              <a:defRPr sz="2025" b="0">
                <a:solidFill>
                  <a:srgbClr val="1B3034"/>
                </a:solidFill>
                <a:latin typeface="Arial"/>
                <a:ea typeface="Arial"/>
                <a:cs typeface="Arial"/>
              </a:defRPr>
            </a:lvl4pPr>
            <a:lvl5pPr>
              <a:buNone/>
              <a:defRPr sz="2025" b="0">
                <a:solidFill>
                  <a:srgbClr val="1B3034"/>
                </a:solidFill>
                <a:latin typeface="Arial"/>
                <a:ea typeface="Arial"/>
                <a:cs typeface="Arial"/>
              </a:defRPr>
            </a:lvl5pPr>
            <a:lvl6pPr>
              <a:buNone/>
              <a:defRPr sz="2025" b="0">
                <a:solidFill>
                  <a:srgbClr val="1B3034"/>
                </a:solidFill>
                <a:latin typeface="Arial"/>
                <a:ea typeface="Arial"/>
                <a:cs typeface="Arial"/>
              </a:defRPr>
            </a:lvl6pPr>
            <a:lvl7pPr>
              <a:buNone/>
              <a:defRPr sz="2025" b="0">
                <a:solidFill>
                  <a:srgbClr val="1B3034"/>
                </a:solidFill>
                <a:latin typeface="Arial"/>
                <a:ea typeface="Arial"/>
                <a:cs typeface="Arial"/>
              </a:defRPr>
            </a:lvl7pPr>
            <a:lvl8pPr>
              <a:buNone/>
              <a:defRPr sz="2025" b="0">
                <a:solidFill>
                  <a:srgbClr val="1B3034"/>
                </a:solidFill>
                <a:latin typeface="Arial"/>
                <a:ea typeface="Arial"/>
                <a:cs typeface="Arial"/>
              </a:defRPr>
            </a:lvl8pPr>
            <a:lvl9pPr>
              <a:buNone/>
              <a:defRPr sz="2025" b="0">
                <a:solidFill>
                  <a:srgbClr val="1B3034"/>
                </a:solidFill>
                <a:latin typeface="Arial"/>
                <a:ea typeface="Arial"/>
                <a:cs typeface="Arial"/>
              </a:defRPr>
            </a:lvl9pPr>
          </a:lstStyle>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https://fluxora.sklab.cc/telegram/demo</a:t>
            </a:r>
          </a:p>
        </p:txBody>
      </p:sp>
      <p:sp>
        <p:nvSpPr>
          <p:cNvPr id="7" name="access-source">
            <a:extLst xmlns:a="http://schemas.openxmlformats.org/drawingml/2006/main">
              <a:ext uri="{FF2B5EF4-FFF2-40B4-BE49-F238E27FC236}">
                <a16:creationId xmlns:a16="http://schemas.microsoft.com/office/drawing/2014/main" id="{2EEC373C-14D3-4CAF-8068-BADB23D83C5D}"/>
              </a:ext>
            </a:extLst>
          </p:cNvPr>
          <p:cNvSpPr>
            <a:spLocks xmlns:a="http://schemas.openxmlformats.org/drawingml/2006/main" noGrp="1"/>
          </p:cNvSpPr>
          <p:nvPr/>
        </p:nvSpPr>
        <p:spPr>
          <a:xfrm xmlns:a="http://schemas.openxmlformats.org/drawingml/2006/main">
            <a:off x="685800" y="36385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16754"/>
                </a:solidFill>
                <a:latin typeface="Arial"/>
                <a:ea typeface="Arial"/>
                <a:cs typeface="Arial"/>
              </a:defRPr>
            </a:defPPr>
            <a:lvl1pPr>
              <a:buNone/>
              <a:defRPr sz="2250" b="1">
                <a:solidFill>
                  <a:srgbClr val="116754"/>
                </a:solidFill>
                <a:latin typeface="Arial"/>
                <a:ea typeface="Arial"/>
                <a:cs typeface="Arial"/>
              </a:defRPr>
            </a:lvl1pPr>
            <a:lvl2pPr>
              <a:buNone/>
              <a:defRPr sz="2250" b="1">
                <a:solidFill>
                  <a:srgbClr val="116754"/>
                </a:solidFill>
                <a:latin typeface="Arial"/>
                <a:ea typeface="Arial"/>
                <a:cs typeface="Arial"/>
              </a:defRPr>
            </a:lvl2pPr>
            <a:lvl3pPr>
              <a:buNone/>
              <a:defRPr sz="2250" b="1">
                <a:solidFill>
                  <a:srgbClr val="116754"/>
                </a:solidFill>
                <a:latin typeface="Arial"/>
                <a:ea typeface="Arial"/>
                <a:cs typeface="Arial"/>
              </a:defRPr>
            </a:lvl3pPr>
            <a:lvl4pPr>
              <a:buNone/>
              <a:defRPr sz="2250" b="1">
                <a:solidFill>
                  <a:srgbClr val="116754"/>
                </a:solidFill>
                <a:latin typeface="Arial"/>
                <a:ea typeface="Arial"/>
                <a:cs typeface="Arial"/>
              </a:defRPr>
            </a:lvl4pPr>
            <a:lvl5pPr>
              <a:buNone/>
              <a:defRPr sz="2250" b="1">
                <a:solidFill>
                  <a:srgbClr val="116754"/>
                </a:solidFill>
                <a:latin typeface="Arial"/>
                <a:ea typeface="Arial"/>
                <a:cs typeface="Arial"/>
              </a:defRPr>
            </a:lvl5pPr>
            <a:lvl6pPr>
              <a:buNone/>
              <a:defRPr sz="2250" b="1">
                <a:solidFill>
                  <a:srgbClr val="116754"/>
                </a:solidFill>
                <a:latin typeface="Arial"/>
                <a:ea typeface="Arial"/>
                <a:cs typeface="Arial"/>
              </a:defRPr>
            </a:lvl6pPr>
            <a:lvl7pPr>
              <a:buNone/>
              <a:defRPr sz="2250" b="1">
                <a:solidFill>
                  <a:srgbClr val="116754"/>
                </a:solidFill>
                <a:latin typeface="Arial"/>
                <a:ea typeface="Arial"/>
                <a:cs typeface="Arial"/>
              </a:defRPr>
            </a:lvl7pPr>
            <a:lvl8pPr>
              <a:buNone/>
              <a:defRPr sz="2250" b="1">
                <a:solidFill>
                  <a:srgbClr val="116754"/>
                </a:solidFill>
                <a:latin typeface="Arial"/>
                <a:ea typeface="Arial"/>
                <a:cs typeface="Arial"/>
              </a:defRPr>
            </a:lvl8pPr>
            <a:lvl9pPr>
              <a:buNone/>
              <a:defRPr sz="2250" b="1">
                <a:solidFill>
                  <a:srgbClr val="116754"/>
                </a:solidFill>
                <a:latin typeface="Arial"/>
                <a:ea typeface="Arial"/>
                <a:cs typeface="Arial"/>
              </a:defRPr>
            </a:lvl9pPr>
          </a:lstStyle>
          <a:p xmlns:a="http://schemas.openxmlformats.org/drawingml/2006/main">
            <a:pPr>
              <a:buNone/>
              <a:defRPr sz="2250" b="1">
                <a:solidFill>
                  <a:srgbClr val="116754"/>
                </a:solidFill>
                <a:latin typeface="Arial"/>
                <a:ea typeface="Arial"/>
                <a:cs typeface="Arial"/>
              </a:defRPr>
            </a:pPr>
            <a:r>
              <a:rPr sz="2250" b="1">
                <a:solidFill>
                  <a:srgbClr val="116754"/>
                </a:solidFill>
                <a:latin typeface="Arial"/>
                <a:ea typeface="Arial"/>
                <a:cs typeface="Arial"/>
              </a:rPr>
              <a:t>Source and setup</a:t>
            </a:r>
          </a:p>
        </p:txBody>
      </p:sp>
      <p:sp>
        <p:nvSpPr>
          <p:cNvPr id="8" name="access-source-url">
            <a:extLst xmlns:a="http://schemas.openxmlformats.org/drawingml/2006/main">
              <a:ext uri="{FF2B5EF4-FFF2-40B4-BE49-F238E27FC236}">
                <a16:creationId xmlns:a16="http://schemas.microsoft.com/office/drawing/2014/main" id="{0DC07B87-BF27-4FA3-B3D5-EAC5F8CD460D}"/>
              </a:ext>
            </a:extLst>
          </p:cNvPr>
          <p:cNvSpPr>
            <a:spLocks xmlns:a="http://schemas.openxmlformats.org/drawingml/2006/main" noGrp="1"/>
          </p:cNvSpPr>
          <p:nvPr/>
        </p:nvSpPr>
        <p:spPr>
          <a:xfrm xmlns:a="http://schemas.openxmlformats.org/drawingml/2006/main">
            <a:off x="4000500" y="3638550"/>
            <a:ext cx="7505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034"/>
                </a:solidFill>
                <a:latin typeface="Arial"/>
                <a:ea typeface="Arial"/>
                <a:cs typeface="Arial"/>
              </a:defRPr>
            </a:defPPr>
            <a:lvl1pPr>
              <a:buNone/>
              <a:defRPr sz="2025" b="0">
                <a:solidFill>
                  <a:srgbClr val="1B3034"/>
                </a:solidFill>
                <a:latin typeface="Arial"/>
                <a:ea typeface="Arial"/>
                <a:cs typeface="Arial"/>
              </a:defRPr>
            </a:lvl1pPr>
            <a:lvl2pPr>
              <a:buNone/>
              <a:defRPr sz="2025" b="0">
                <a:solidFill>
                  <a:srgbClr val="1B3034"/>
                </a:solidFill>
                <a:latin typeface="Arial"/>
                <a:ea typeface="Arial"/>
                <a:cs typeface="Arial"/>
              </a:defRPr>
            </a:lvl2pPr>
            <a:lvl3pPr>
              <a:buNone/>
              <a:defRPr sz="2025" b="0">
                <a:solidFill>
                  <a:srgbClr val="1B3034"/>
                </a:solidFill>
                <a:latin typeface="Arial"/>
                <a:ea typeface="Arial"/>
                <a:cs typeface="Arial"/>
              </a:defRPr>
            </a:lvl3pPr>
            <a:lvl4pPr>
              <a:buNone/>
              <a:defRPr sz="2025" b="0">
                <a:solidFill>
                  <a:srgbClr val="1B3034"/>
                </a:solidFill>
                <a:latin typeface="Arial"/>
                <a:ea typeface="Arial"/>
                <a:cs typeface="Arial"/>
              </a:defRPr>
            </a:lvl4pPr>
            <a:lvl5pPr>
              <a:buNone/>
              <a:defRPr sz="2025" b="0">
                <a:solidFill>
                  <a:srgbClr val="1B3034"/>
                </a:solidFill>
                <a:latin typeface="Arial"/>
                <a:ea typeface="Arial"/>
                <a:cs typeface="Arial"/>
              </a:defRPr>
            </a:lvl5pPr>
            <a:lvl6pPr>
              <a:buNone/>
              <a:defRPr sz="2025" b="0">
                <a:solidFill>
                  <a:srgbClr val="1B3034"/>
                </a:solidFill>
                <a:latin typeface="Arial"/>
                <a:ea typeface="Arial"/>
                <a:cs typeface="Arial"/>
              </a:defRPr>
            </a:lvl6pPr>
            <a:lvl7pPr>
              <a:buNone/>
              <a:defRPr sz="2025" b="0">
                <a:solidFill>
                  <a:srgbClr val="1B3034"/>
                </a:solidFill>
                <a:latin typeface="Arial"/>
                <a:ea typeface="Arial"/>
                <a:cs typeface="Arial"/>
              </a:defRPr>
            </a:lvl7pPr>
            <a:lvl8pPr>
              <a:buNone/>
              <a:defRPr sz="2025" b="0">
                <a:solidFill>
                  <a:srgbClr val="1B3034"/>
                </a:solidFill>
                <a:latin typeface="Arial"/>
                <a:ea typeface="Arial"/>
                <a:cs typeface="Arial"/>
              </a:defRPr>
            </a:lvl8pPr>
            <a:lvl9pPr>
              <a:buNone/>
              <a:defRPr sz="2025" b="0">
                <a:solidFill>
                  <a:srgbClr val="1B3034"/>
                </a:solidFill>
                <a:latin typeface="Arial"/>
                <a:ea typeface="Arial"/>
                <a:cs typeface="Arial"/>
              </a:defRPr>
            </a:lvl9pPr>
          </a:lstStyle>
          <a:p xmlns:a="http://schemas.openxmlformats.org/drawingml/2006/main">
            <a:pPr>
              <a:buNone/>
              <a:defRPr sz="2025" b="0">
                <a:solidFill>
                  <a:srgbClr val="1B3034"/>
                </a:solidFill>
                <a:latin typeface="Arial"/>
                <a:ea typeface="Arial"/>
                <a:cs typeface="Arial"/>
              </a:defRPr>
            </a:pPr>
            <a:r>
              <a:rPr sz="2025" b="0">
                <a:solidFill>
                  <a:srgbClr val="1B3034"/>
                </a:solidFill>
                <a:latin typeface="Arial"/>
                <a:ea typeface="Arial"/>
                <a:cs typeface="Arial"/>
              </a:rPr>
              <a:t>https://github.com/ShahadatTest/fluxora</a:t>
            </a:r>
          </a:p>
        </p:txBody>
      </p:sp>
      <p:sp>
        <p:nvSpPr>
          <p:cNvPr id="9" name="access-local">
            <a:extLst xmlns:a="http://schemas.openxmlformats.org/drawingml/2006/main">
              <a:ext uri="{FF2B5EF4-FFF2-40B4-BE49-F238E27FC236}">
                <a16:creationId xmlns:a16="http://schemas.microsoft.com/office/drawing/2014/main" id="{1F643AEA-A021-4951-AE59-752FEE5E6BE8}"/>
              </a:ext>
            </a:extLst>
          </p:cNvPr>
          <p:cNvSpPr>
            <a:spLocks xmlns:a="http://schemas.openxmlformats.org/drawingml/2006/main" noGrp="1"/>
          </p:cNvSpPr>
          <p:nvPr/>
        </p:nvSpPr>
        <p:spPr>
          <a:xfrm xmlns:a="http://schemas.openxmlformats.org/drawingml/2006/main">
            <a:off x="685800" y="4676775"/>
            <a:ext cx="10820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034"/>
                </a:solidFill>
                <a:latin typeface="Arial"/>
                <a:ea typeface="Arial"/>
                <a:cs typeface="Arial"/>
              </a:defRPr>
            </a:defPPr>
            <a:lvl1pPr>
              <a:buNone/>
              <a:defRPr sz="2100" b="0">
                <a:solidFill>
                  <a:srgbClr val="1B3034"/>
                </a:solidFill>
                <a:latin typeface="Arial"/>
                <a:ea typeface="Arial"/>
                <a:cs typeface="Arial"/>
              </a:defRPr>
            </a:lvl1pPr>
            <a:lvl2pPr>
              <a:buNone/>
              <a:defRPr sz="2100" b="0">
                <a:solidFill>
                  <a:srgbClr val="1B3034"/>
                </a:solidFill>
                <a:latin typeface="Arial"/>
                <a:ea typeface="Arial"/>
                <a:cs typeface="Arial"/>
              </a:defRPr>
            </a:lvl2pPr>
            <a:lvl3pPr>
              <a:buNone/>
              <a:defRPr sz="2100" b="0">
                <a:solidFill>
                  <a:srgbClr val="1B3034"/>
                </a:solidFill>
                <a:latin typeface="Arial"/>
                <a:ea typeface="Arial"/>
                <a:cs typeface="Arial"/>
              </a:defRPr>
            </a:lvl3pPr>
            <a:lvl4pPr>
              <a:buNone/>
              <a:defRPr sz="2100" b="0">
                <a:solidFill>
                  <a:srgbClr val="1B3034"/>
                </a:solidFill>
                <a:latin typeface="Arial"/>
                <a:ea typeface="Arial"/>
                <a:cs typeface="Arial"/>
              </a:defRPr>
            </a:lvl4pPr>
            <a:lvl5pPr>
              <a:buNone/>
              <a:defRPr sz="2100" b="0">
                <a:solidFill>
                  <a:srgbClr val="1B3034"/>
                </a:solidFill>
                <a:latin typeface="Arial"/>
                <a:ea typeface="Arial"/>
                <a:cs typeface="Arial"/>
              </a:defRPr>
            </a:lvl5pPr>
            <a:lvl6pPr>
              <a:buNone/>
              <a:defRPr sz="2100" b="0">
                <a:solidFill>
                  <a:srgbClr val="1B3034"/>
                </a:solidFill>
                <a:latin typeface="Arial"/>
                <a:ea typeface="Arial"/>
                <a:cs typeface="Arial"/>
              </a:defRPr>
            </a:lvl6pPr>
            <a:lvl7pPr>
              <a:buNone/>
              <a:defRPr sz="2100" b="0">
                <a:solidFill>
                  <a:srgbClr val="1B3034"/>
                </a:solidFill>
                <a:latin typeface="Arial"/>
                <a:ea typeface="Arial"/>
                <a:cs typeface="Arial"/>
              </a:defRPr>
            </a:lvl7pPr>
            <a:lvl8pPr>
              <a:buNone/>
              <a:defRPr sz="2100" b="0">
                <a:solidFill>
                  <a:srgbClr val="1B3034"/>
                </a:solidFill>
                <a:latin typeface="Arial"/>
                <a:ea typeface="Arial"/>
                <a:cs typeface="Arial"/>
              </a:defRPr>
            </a:lvl8pPr>
            <a:lvl9pPr>
              <a:buNone/>
              <a:defRPr sz="2100" b="0">
                <a:solidFill>
                  <a:srgbClr val="1B3034"/>
                </a:solidFill>
                <a:latin typeface="Arial"/>
                <a:ea typeface="Arial"/>
                <a:cs typeface="Arial"/>
              </a:defRPr>
            </a:lvl9pPr>
          </a:lstStyle>
          <a:p xmlns:a="http://schemas.openxmlformats.org/drawingml/2006/main">
            <a:pPr>
              <a:buNone/>
              <a:defRPr sz="2100" b="0">
                <a:solidFill>
                  <a:srgbClr val="1B3034"/>
                </a:solidFill>
                <a:latin typeface="Arial"/>
                <a:ea typeface="Arial"/>
                <a:cs typeface="Arial"/>
              </a:defRPr>
            </a:pPr>
            <a:r>
              <a:rPr sz="2100" b="0">
                <a:solidFill>
                  <a:srgbClr val="1B3034"/>
                </a:solidFill>
                <a:latin typeface="Arial"/>
                <a:ea typeface="Arial"/>
                <a:cs typeface="Arial"/>
              </a:rPr>
              <a:t>Local readiness check</a:t>
            </a:r>
          </a:p>
          <a:p xmlns:a="http://schemas.openxmlformats.org/drawingml/2006/main">
            <a:pPr>
              <a:buNone/>
              <a:defRPr sz="2100" b="0">
                <a:solidFill>
                  <a:srgbClr val="1B3034"/>
                </a:solidFill>
                <a:latin typeface="Arial"/>
                <a:ea typeface="Arial"/>
                <a:cs typeface="Arial"/>
              </a:defRPr>
            </a:pPr>
            <a:r>
              <a:rPr sz="2100" b="0">
                <a:solidFill>
                  <a:srgbClr val="1B3034"/>
                </a:solidFill>
                <a:latin typeface="Arial"/>
                <a:ea typeface="Arial"/>
                <a:cs typeface="Arial"/>
              </a:rPr>
              <a:t>python -m tools.local_setup --check</a:t>
            </a:r>
          </a:p>
        </p:txBody>
      </p:sp>
      <p:sp>
        <p:nvSpPr>
          <p:cNvPr id="10" name="caption">
            <a:extLst xmlns:a="http://schemas.openxmlformats.org/drawingml/2006/main">
              <a:ext uri="{FF2B5EF4-FFF2-40B4-BE49-F238E27FC236}">
                <a16:creationId xmlns:a16="http://schemas.microsoft.com/office/drawing/2014/main" id="{0D3ADB65-C1B2-4FDD-A78D-D69092184868}"/>
              </a:ext>
            </a:extLst>
          </p:cNvPr>
          <p:cNvSpPr>
            <a:spLocks xmlns:a="http://schemas.openxmlformats.org/drawingml/2006/main" noGrp="1"/>
          </p:cNvSpPr>
          <p:nvPr/>
        </p:nvSpPr>
        <p:spPr>
          <a:xfrm xmlns:a="http://schemas.openxmlformats.org/drawingml/2006/main">
            <a:off x="68580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96A"/>
                </a:solidFill>
                <a:latin typeface="Arial"/>
                <a:ea typeface="Arial"/>
                <a:cs typeface="Arial"/>
              </a:defRPr>
            </a:defPPr>
            <a:lvl1pPr>
              <a:buNone/>
              <a:defRPr sz="1425" b="0">
                <a:solidFill>
                  <a:srgbClr val="52696A"/>
                </a:solidFill>
                <a:latin typeface="Arial"/>
                <a:ea typeface="Arial"/>
                <a:cs typeface="Arial"/>
              </a:defRPr>
            </a:lvl1pPr>
            <a:lvl2pPr>
              <a:buNone/>
              <a:defRPr sz="1425" b="0">
                <a:solidFill>
                  <a:srgbClr val="52696A"/>
                </a:solidFill>
                <a:latin typeface="Arial"/>
                <a:ea typeface="Arial"/>
                <a:cs typeface="Arial"/>
              </a:defRPr>
            </a:lvl2pPr>
            <a:lvl3pPr>
              <a:buNone/>
              <a:defRPr sz="1425" b="0">
                <a:solidFill>
                  <a:srgbClr val="52696A"/>
                </a:solidFill>
                <a:latin typeface="Arial"/>
                <a:ea typeface="Arial"/>
                <a:cs typeface="Arial"/>
              </a:defRPr>
            </a:lvl3pPr>
            <a:lvl4pPr>
              <a:buNone/>
              <a:defRPr sz="1425" b="0">
                <a:solidFill>
                  <a:srgbClr val="52696A"/>
                </a:solidFill>
                <a:latin typeface="Arial"/>
                <a:ea typeface="Arial"/>
                <a:cs typeface="Arial"/>
              </a:defRPr>
            </a:lvl4pPr>
            <a:lvl5pPr>
              <a:buNone/>
              <a:defRPr sz="1425" b="0">
                <a:solidFill>
                  <a:srgbClr val="52696A"/>
                </a:solidFill>
                <a:latin typeface="Arial"/>
                <a:ea typeface="Arial"/>
                <a:cs typeface="Arial"/>
              </a:defRPr>
            </a:lvl5pPr>
            <a:lvl6pPr>
              <a:buNone/>
              <a:defRPr sz="1425" b="0">
                <a:solidFill>
                  <a:srgbClr val="52696A"/>
                </a:solidFill>
                <a:latin typeface="Arial"/>
                <a:ea typeface="Arial"/>
                <a:cs typeface="Arial"/>
              </a:defRPr>
            </a:lvl6pPr>
            <a:lvl7pPr>
              <a:buNone/>
              <a:defRPr sz="1425" b="0">
                <a:solidFill>
                  <a:srgbClr val="52696A"/>
                </a:solidFill>
                <a:latin typeface="Arial"/>
                <a:ea typeface="Arial"/>
                <a:cs typeface="Arial"/>
              </a:defRPr>
            </a:lvl7pPr>
            <a:lvl8pPr>
              <a:buNone/>
              <a:defRPr sz="1425" b="0">
                <a:solidFill>
                  <a:srgbClr val="52696A"/>
                </a:solidFill>
                <a:latin typeface="Arial"/>
                <a:ea typeface="Arial"/>
                <a:cs typeface="Arial"/>
              </a:defRPr>
            </a:lvl8pPr>
            <a:lvl9pPr>
              <a:buNone/>
              <a:defRPr sz="1425" b="0">
                <a:solidFill>
                  <a:srgbClr val="52696A"/>
                </a:solidFill>
                <a:latin typeface="Arial"/>
                <a:ea typeface="Arial"/>
                <a:cs typeface="Arial"/>
              </a:defRPr>
            </a:lvl9pPr>
          </a:lstStyle>
          <a:p xmlns:a="http://schemas.openxmlformats.org/drawingml/2006/main">
            <a:pPr>
              <a:buNone/>
              <a:defRPr sz="1425" b="0">
                <a:solidFill>
                  <a:srgbClr val="52696A"/>
                </a:solidFill>
                <a:latin typeface="Arial"/>
                <a:ea typeface="Arial"/>
                <a:cs typeface="Arial"/>
              </a:defRPr>
            </a:pPr>
            <a:r>
              <a:rPr sz="1425" b="0">
                <a:solidFill>
                  <a:srgbClr val="52696A"/>
                </a:solidFill>
                <a:latin typeface="Arial"/>
                <a:ea typeface="Arial"/>
                <a:cs typeface="Arial"/>
              </a:rPr>
              <a:t>Direct reports and Telegram practice need no key. Public AI depends on provider availability and shared limits.</a:t>
            </a:r>
          </a:p>
        </p:txBody>
      </p:sp>
    </p:spTree>
    <p:extLst>
      <p:ext uri="{BB962C8B-B14F-4D97-AF65-F5344CB8AC3E}">
        <p14:creationId xmlns:p14="http://schemas.microsoft.com/office/powerpoint/2010/main" val="11080529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2026-10-20T09:27:33.0320000Z</dcterms:created>
  <dcterms:modified xsi:type="dcterms:W3CDTF">2026-10-20T09:27:33.0320000Z</dcterms:modified>
</coreProperties>
</file>